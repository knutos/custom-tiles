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nledning" id="{9f0d9170-f495-affd-6275-9c7137eac8cc}">
          <p14:sldIdLst>
            <p14:sldId id="256"/>
            <p14:sldId id="257"/>
          </p14:sldIdLst>
        </p14:section>
        <p14:section name="Funksjoner" id="{2558ab7a-2606-8852-512d-25a9654f1490}">
          <p14:sldIdLst>
            <p14:sldId id="258"/>
            <p14:sldId id="259"/>
            <p14:sldId id="260"/>
            <p14:sldId id="261"/>
            <p14:sldId id="262"/>
            <p14:sldId id="263"/>
            <p14:sldId id="264"/>
            <p14:sldId id="265"/>
            <p14:sldId id="266"/>
            <p14:sldId id="267"/>
            <p14:sldId id="268"/>
          </p14:sldIdLst>
        </p14:section>
        <p14:section name="Teknikk" id="{2be404a8-cfcf-feae-a3e1-54f9df28b320}">
          <p14:sldIdLst>
            <p14:sldId id="269"/>
            <p14:sldId id="270"/>
            <p14:sldId id="271"/>
          </p14:sldIdLst>
        </p14:section>
        <p14:section name="Avslutning" id="{09f9528f-5bf8-fad3-52da-f1685ae43be5}">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Dette er et brukerskript som gjør kartene på geocaching.com til en fleksibel kartarbeidsplass: egne bakgrunnskart og overlegg, stedssøk, koordinater, måling, projisering og 161 m-sirkler – samlet i én verktøylinje.</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Seks hovedområder. Nettstedets egne knapper for zoom, posisjon og kartvalg blir foldet inn i den samme verktøylinjen, så det blir ingen doble knapper.</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Verktøylinjen kan stå til høyre (standard), til venstre, øverst eller nederst, i én eller to rekker. Velg i Innstillinger, eller dra den etter håndtaket til en annen kant. Den holder seg klar av nettstedets søkepanel og flytter seg under knapper som «Create Route» om nødvendig. Kartlagpanelet og dialogene åpnes ved siden av verktøylinjen, og nettstedets egne zoomknapper er alltid skjult.</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Valgt kart er markert med blått, og fanene viser hvor bakgrunnskartet og overleggene som er i bruk, ligger. Rekkefølgen endres ved å dra i håndtaket til venstre på raden, eller med piltastene. Bakgrunnskartet tegnes alltid helt dekkende, så geocaching.com-kartet skinner aldri gjennom. Cacheikonene ligger alltid øverst.</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Redigeringsdialogen gjenkjenner adressen og henter lagoversikten fra WMS- og WMTS-tjenester. Bare tjenester i Web Mercator kan vises, siden geocaching.com-kartet bruker den projeksjonen.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Bruk piltastene og Enter for å velge. Kartet zoomer til et nivå som passer treffet: fylke, kommune, tettsted eller adresse.</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Koordinatene under musepekeren vises også nederst til høyre. Klikk på visningen for å bytte format; valget huskes.</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Festingen skjer når du høyreklikker innenfor omtrent 12 piksler fra cachen – på størrelse med ikonet. Høyreklikker du lenger unna, får du klikkpunktet som før.</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eller Projiser setter ut punktet med merkenål, linje og etikett med retning og avstand. Avbryt fjerner forhåndsvisningen.</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Rutevinduet åpnes med rute-knappen i verktøylinjen. Forhåndsvisningen viser nøyaktig hva GPX-filen inneholder: navn i GPS'en, beskrivelse, koordinater og etapper. Cacher får Garmins Geocache-symbol (Geocache Found når de er funnet), merkenåler den blå nålen.</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Cachelisten finnes på det gamle kartet (/map); det nye kartet har sin egen liste. Listen og rutevinduet står øverst til høyre eller venstre på kartet (Innstillinger), unna nettstedets sidepanel, og de to knappene bytter mellom dem.</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Sirklene vises fra zoomnivå 15. Cachetypene, de nøyaktige koordinatene og dine løste koordinater kommer fra geocaching.coms eget cachesøk. Fysiske steg leses fra listen over tilleggsveipunkter på cachesiden – bare de eieren har gjort synlige. Blått merke med spørsmålstegn og grønn hake: en løst cache du har funnet. Liten blå prikk: fysisk steg. Liten grønn prikk: endelig plassering. Dine egne cacher, som cachesøket utelater, leses fra cachesidene; der beholdes nettstedets ikon og boble, men teksten ved musepekeren blir «Endelig plassering».</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161 m er minsteavstanden mellom cacher i retningslinjene. På det gamle kartet finner skriptet posisjonene fra et skjult rutenett nettstedet laster; på de nye kartene brukes de nøyaktige posisjonene.</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Nettleseren tegner Leaflets kontroller øverst, deretter boblene, markørene og tegningene, og nederst kartflisene. Blant flisene sorterer skriptet etter z-indeks: nettstedets bakgrunn nederst, så ditt bakgrunnskart, overleggene og forhåndsvisningen, og øverst nettstedets øvrige fliser – på det gamle kartet er det cacheikonene. Nettstedets bakgrunn finnes fra nettstedets lagvelger, ellers som det laveste fliselaget. Dialogene ligger utenfor kartet, festet til siden, så sidepanelet ikke dekker dem.</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Skriptet starter før siden og fanger opp Leaflet i det øyeblikket siden definerer det. Egne feil når aldri nettstedets kode.</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416001" name=""/>
        <p:cNvGrpSpPr/>
        <p:nvPr/>
      </p:nvGrpSpPr>
      <p:grpSpPr>
        <a:xfrm>
          <a:off x="0" y="0"/>
          <a:ext cx="0" cy="0"/>
          <a:chOff x="0" y="0"/>
          <a:chExt cx="0" cy="0"/>
        </a:xfrm>
      </p:grpSpPr>
      <p:sp>
        <p:nvSpPr>
          <p:cNvPr id="416002" name="Slide Image Placeholder 1"/>
          <p:cNvSpPr>
            <a:spLocks noGrp="1" noRot="1" noChangeAspect="1"/>
          </p:cNvSpPr>
          <p:nvPr>
            <p:ph type="sldImg"/>
          </p:nvPr>
        </p:nvSpPr>
        <p:spPr/>
      </p:sp>
      <p:sp>
        <p:nvSpPr>
          <p:cNvPr id="416003" name="Notes Placeholder 2"/>
          <p:cNvSpPr>
            <a:spLocks noGrp="1"/>
          </p:cNvSpPr>
          <p:nvPr>
            <p:ph type="body" idx="1"/>
          </p:nvPr>
        </p:nvSpPr>
        <p:spPr/>
        <p:txBody>
          <a:bodyPr/>
          <a:lstStyle/>
          <a:p>
            <a:r>
              <a:rPr lang="en-US" dirty="0"/>
              <a:t>Skriptet trenger ingen spesielle tillatelser (@grant none). Innstillingene deles mellom kartsidene og cachesidene.</a:t>
            </a:r>
            <a:endParaRPr lang="en-US" dirty="0"/>
          </a:p>
        </p:txBody>
      </p:sp>
      <p:sp>
        <p:nvSpPr>
          <p:cNvPr id="41600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417001" name=""/>
        <p:cNvGrpSpPr/>
        <p:nvPr/>
      </p:nvGrpSpPr>
      <p:grpSpPr>
        <a:xfrm>
          <a:off x="0" y="0"/>
          <a:ext cx="0" cy="0"/>
          <a:chOff x="0" y="0"/>
          <a:chExt cx="0" cy="0"/>
        </a:xfrm>
      </p:grpSpPr>
      <p:sp>
        <p:nvSpPr>
          <p:cNvPr id="417002" name="Slide Image Placeholder 1"/>
          <p:cNvSpPr>
            <a:spLocks noGrp="1" noRot="1" noChangeAspect="1"/>
          </p:cNvSpPr>
          <p:nvPr>
            <p:ph type="sldImg"/>
          </p:nvPr>
        </p:nvSpPr>
        <p:spPr/>
      </p:sp>
      <p:sp>
        <p:nvSpPr>
          <p:cNvPr id="417003" name="Notes Placeholder 2"/>
          <p:cNvSpPr>
            <a:spLocks noGrp="1"/>
          </p:cNvSpPr>
          <p:nvPr>
            <p:ph type="body" idx="1"/>
          </p:nvPr>
        </p:nvSpPr>
        <p:spPr/>
        <p:txBody>
          <a:bodyPr/>
          <a:lstStyle/>
          <a:p>
            <a:r>
              <a:rPr lang="en-US" dirty="0"/>
              <a:t>Takk for oppmerksomheten. Spørsmål?</a:t>
            </a:r>
            <a:endParaRPr lang="en-US" dirty="0"/>
          </a:p>
        </p:txBody>
      </p:sp>
      <p:sp>
        <p:nvSpPr>
          <p:cNvPr id="41700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v1.53.0</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slideLayout" Target="../slideLayouts/slideLayout3.xml"/><Relationship Id="rId1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Egne kart og nyttige verktøy rett i geocaching.com-kartene</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Brukerskript · versjon 1.53.0 · norsk og engelsk</a:t>
            </a:r>
            <a:endParaRPr lang="en-US" sz="1400" dirty="0"/>
          </a:p>
        </p:txBody>
      </p:sp>
      <p:pic>
        <p:nvPicPr>
          <p:cNvPr id="11005" name="Kartlagpanelet" descr="Kartlagpanelet">    </p:cNvPr>
          <p:cNvPicPr>
            <a:picLocks noChangeAspect="1"/>
          </p:cNvPicPr>
          <p:nvPr/>
        </p:nvPicPr>
        <p:blipFill>
          <a:blip r:embed="rId1"/>
          <a:stretch>
            <a:fillRect/>
          </a:stretch>
        </p:blipFill>
        <p:spPr>
          <a:xfrm>
            <a:off x="8742823" y="548640"/>
            <a:ext cx="2534472"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Alt du trenger på kartet, i én verktøylinje</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Hvilket kart som helst</a:t>
            </a:r>
            <a:endParaRPr lang="en-US" sz="1900" dirty="0"/>
          </a:p>
          <a:p>
            <a:pPr indent="0" marL="0">
              <a:spcAft>
                <a:spcPts val="400"/>
              </a:spcAft>
              <a:buNone/>
            </a:pPr>
            <a:r>
              <a:rPr lang="en-US" sz="1400" dirty="0">
                <a:solidFill>
                  <a:schemeClr val="accent4"/>
                </a:solidFill>
              </a:rPr>
              <a:t>Kartverket, OpenStreetMap, flyfoto – eller dine egne XYZ-, WMTS-, WMS- og ArcGIS-tjenester</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Stedssøk</a:t>
            </a:r>
            <a:endParaRPr lang="en-US" sz="1900" dirty="0"/>
          </a:p>
          <a:p>
            <a:pPr indent="0" marL="0">
              <a:spcAft>
                <a:spcPts val="400"/>
              </a:spcAft>
              <a:buNone/>
            </a:pPr>
            <a:r>
              <a:rPr lang="en-US" sz="1400" dirty="0">
                <a:solidFill>
                  <a:schemeClr val="accent4"/>
                </a:solidFill>
              </a:rPr>
              <a:t>Stedsnavn og adresser fra Kartverket, steder i utlandet og koordinater – i én liste</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Koordinater og projisering</a:t>
            </a:r>
            <a:endParaRPr lang="en-US" sz="1900" dirty="0"/>
          </a:p>
          <a:p>
            <a:pPr indent="0" marL="0">
              <a:spcAft>
                <a:spcPts val="400"/>
              </a:spcAft>
              <a:buNone/>
            </a:pPr>
            <a:r>
              <a:rPr lang="en-US" sz="1400" dirty="0">
                <a:solidFill>
                  <a:schemeClr val="accent4"/>
                </a:solidFill>
              </a:rPr>
              <a:t>DMM, DD, DMS og UTM (32, 33, 35), projisering og måling av avstand og retning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m-sirkler</a:t>
            </a:r>
            <a:endParaRPr lang="en-US" sz="1900" dirty="0"/>
          </a:p>
          <a:p>
            <a:pPr indent="0" marL="0">
              <a:spcAft>
                <a:spcPts val="400"/>
              </a:spcAft>
              <a:buNone/>
            </a:pPr>
            <a:r>
              <a:rPr lang="en-US" sz="1400" dirty="0">
                <a:solidFill>
                  <a:schemeClr val="accent4"/>
                </a:solidFill>
              </a:rPr>
              <a:t>Rundt tradisjonelle og løste cacher og synlige fysiske steg – med klikkbare merker</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Hjem, posisjon og Street View</a:t>
            </a:r>
            <a:endParaRPr lang="en-US" sz="1900" dirty="0"/>
          </a:p>
          <a:p>
            <a:pPr indent="0" marL="0">
              <a:spcAft>
                <a:spcPts val="400"/>
              </a:spcAft>
              <a:buNone/>
            </a:pPr>
            <a:r>
              <a:rPr lang="en-US" sz="1400" dirty="0">
                <a:solidFill>
                  <a:schemeClr val="accent4"/>
                </a:solidFill>
              </a:rPr>
              <a:t>Gå til hjemadressen eller din posisjon, og åpne Google Street View fra høyreklikkmenyen</a:t>
            </a:r>
            <a:endParaRPr lang="en-US" sz="1900" dirty="0"/>
          </a:p>
        </p:txBody>
      </p:sp>
      <p:sp>
        <p:nvSpPr>
          <p:cNvPr id="12023" name="Kort Nyhet: ruter til GPS'en"/>
          <p:cNvSpPr/>
          <p:nvPr/>
        </p:nvSpPr>
        <p:spPr>
          <a:xfrm>
            <a:off x="8158277" y="3931920"/>
            <a:ext cx="3484778" cy="2240280"/>
          </a:xfrm>
          <a:prstGeom prst="roundRect">
            <a:avLst>
              <a:gd name="adj" fmla="val 4898"/>
            </a:avLst>
          </a:prstGeom>
          <a:solidFill>
            <a:schemeClr val="bg2"/>
          </a:solidFill>
          <a:ln/>
        </p:spPr>
      </p:sp>
      <p:sp>
        <p:nvSpPr>
          <p:cNvPr id="12024" name="Ikon route sirkel"/>
          <p:cNvSpPr/>
          <p:nvPr/>
        </p:nvSpPr>
        <p:spPr>
          <a:xfrm>
            <a:off x="8478317" y="4251960"/>
            <a:ext cx="566928" cy="566928"/>
          </a:xfrm>
          <a:prstGeom prst="ellipse">
            <a:avLst/>
          </a:prstGeom>
          <a:solidFill>
            <a:schemeClr val="accent1"/>
          </a:solidFill>
          <a:ln/>
        </p:spPr>
      </p:sp>
      <p:pic>
        <p:nvPicPr>
          <p:cNvPr id="12025" name="Ikon route" descr="route">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Nyhet: ruter til GPS'en</a:t>
            </a:r>
            <a:endParaRPr lang="en-US" sz="1900" dirty="0"/>
          </a:p>
          <a:p>
            <a:pPr indent="0" marL="0">
              <a:spcAft>
                <a:spcPts val="400"/>
              </a:spcAft>
              <a:buNone/>
            </a:pPr>
            <a:r>
              <a:rPr lang="en-US" sz="1400" dirty="0">
                <a:solidFill>
                  <a:schemeClr val="accent4"/>
                </a:solidFill>
              </a:rPr>
              <a:t>Velg cacher og merkenåler i en liste eller på kartet, forhåndsvis og last ned som GPX-rute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Én verktøylinje i stedet for mange knapper</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Verktøylinjen">    </p:cNvPr>
          <p:cNvPicPr>
            <a:picLocks noChangeAspect="1"/>
          </p:cNvPicPr>
          <p:nvPr/>
        </p:nvPicPr>
        <p:blipFill>
          <a:blip r:embed="rId1"/>
          <a:stretch>
            <a:fillRect/>
          </a:stretch>
        </p:blipFill>
        <p:spPr>
          <a:xfrm>
            <a:off x="1115568" y="1572768"/>
            <a:ext cx="329184" cy="4443984"/>
          </a:xfrm>
          <a:prstGeom prst="rect">
            <a:avLst/>
          </a:prstGeom>
        </p:spPr>
      </p:pic>
      <p:sp>
        <p:nvSpPr>
          <p:cNvPr id="13005" name="Ikon layers sirkel"/>
          <p:cNvSpPr/>
          <p:nvPr/>
        </p:nvSpPr>
        <p:spPr>
          <a:xfrm>
            <a:off x="2514600" y="140817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20830"/>
            <a:ext cx="286756" cy="286756"/>
          </a:xfrm>
          <a:prstGeom prst="rect">
            <a:avLst/>
          </a:prstGeom>
        </p:spPr>
      </p:pic>
      <p:sp>
        <p:nvSpPr>
          <p:cNvPr id="13007" name="Text 3"/>
          <p:cNvSpPr txBox="1"/>
          <p:nvPr/>
        </p:nvSpPr>
        <p:spPr>
          <a:xfrm>
            <a:off x="3227832" y="133502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Kartlag</a:t>
            </a:r>
            <a:endParaRPr lang="en-US" sz="1700" dirty="0"/>
          </a:p>
          <a:p>
            <a:pPr indent="0" marL="0">
              <a:spcAft>
                <a:spcPts val="200"/>
              </a:spcAft>
              <a:buNone/>
            </a:pPr>
            <a:r>
              <a:rPr lang="en-US" sz="1400" dirty="0">
                <a:solidFill>
                  <a:schemeClr val="accent4"/>
                </a:solidFill>
              </a:rPr>
              <a:t>Velg bakgrunnskart og overlegg</a:t>
            </a:r>
            <a:endParaRPr lang="en-US" sz="1700" dirty="0"/>
          </a:p>
        </p:txBody>
      </p:sp>
      <p:sp>
        <p:nvSpPr>
          <p:cNvPr id="13008" name="Ikon search sirkel"/>
          <p:cNvSpPr/>
          <p:nvPr/>
        </p:nvSpPr>
        <p:spPr>
          <a:xfrm>
            <a:off x="2514600" y="202996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142622"/>
            <a:ext cx="286756" cy="286756"/>
          </a:xfrm>
          <a:prstGeom prst="rect">
            <a:avLst/>
          </a:prstGeom>
        </p:spPr>
      </p:pic>
      <p:sp>
        <p:nvSpPr>
          <p:cNvPr id="13010" name="Text 5"/>
          <p:cNvSpPr txBox="1"/>
          <p:nvPr/>
        </p:nvSpPr>
        <p:spPr>
          <a:xfrm>
            <a:off x="3227832" y="195681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 et sted</a:t>
            </a:r>
            <a:endParaRPr lang="en-US" sz="1700" dirty="0"/>
          </a:p>
          <a:p>
            <a:pPr indent="0" marL="0">
              <a:spcAft>
                <a:spcPts val="200"/>
              </a:spcAft>
              <a:buNone/>
            </a:pPr>
            <a:r>
              <a:rPr lang="en-US" sz="1400" dirty="0">
                <a:solidFill>
                  <a:schemeClr val="accent4"/>
                </a:solidFill>
              </a:rPr>
              <a:t>Snarvei: trykk / på kartet</a:t>
            </a:r>
            <a:endParaRPr lang="en-US" sz="1700" dirty="0"/>
          </a:p>
        </p:txBody>
      </p:sp>
      <p:sp>
        <p:nvSpPr>
          <p:cNvPr id="13011" name="Ikon ruler sirkel"/>
          <p:cNvSpPr/>
          <p:nvPr/>
        </p:nvSpPr>
        <p:spPr>
          <a:xfrm>
            <a:off x="2514600" y="26517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764414"/>
            <a:ext cx="286756" cy="286756"/>
          </a:xfrm>
          <a:prstGeom prst="rect">
            <a:avLst/>
          </a:prstGeom>
        </p:spPr>
      </p:pic>
      <p:sp>
        <p:nvSpPr>
          <p:cNvPr id="13013" name="Text 7"/>
          <p:cNvSpPr txBox="1"/>
          <p:nvPr/>
        </p:nvSpPr>
        <p:spPr>
          <a:xfrm>
            <a:off x="3227832" y="257860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a:t>
            </a:r>
            <a:endParaRPr lang="en-US" sz="1700" dirty="0"/>
          </a:p>
          <a:p>
            <a:pPr indent="0" marL="0">
              <a:spcAft>
                <a:spcPts val="200"/>
              </a:spcAft>
              <a:buNone/>
            </a:pPr>
            <a:r>
              <a:rPr lang="en-US" sz="1400" dirty="0">
                <a:solidFill>
                  <a:schemeClr val="accent4"/>
                </a:solidFill>
              </a:rPr>
              <a:t>Avstand og retning mellom punkter</a:t>
            </a:r>
            <a:endParaRPr lang="en-US" sz="1700" dirty="0"/>
          </a:p>
        </p:txBody>
      </p:sp>
      <p:sp>
        <p:nvSpPr>
          <p:cNvPr id="13014" name="Ikon route sirkel"/>
          <p:cNvSpPr/>
          <p:nvPr/>
        </p:nvSpPr>
        <p:spPr>
          <a:xfrm>
            <a:off x="2514600" y="3273552"/>
            <a:ext cx="512064" cy="512064"/>
          </a:xfrm>
          <a:prstGeom prst="ellipse">
            <a:avLst/>
          </a:prstGeom>
          <a:solidFill>
            <a:schemeClr val="accent1"/>
          </a:solidFill>
          <a:ln/>
        </p:spPr>
      </p:sp>
      <p:pic>
        <p:nvPicPr>
          <p:cNvPr id="13015" name="Ikon route" descr="route">    </p:cNvPr>
          <p:cNvPicPr>
            <a:picLocks noChangeAspect="1"/>
          </p:cNvPicPr>
          <p:nvPr/>
        </p:nvPicPr>
        <p:blipFill>
          <a:blip r:embed="rId5"/>
          <a:stretch>
            <a:fillRect/>
          </a:stretch>
        </p:blipFill>
        <p:spPr>
          <a:xfrm>
            <a:off x="2627254" y="3386206"/>
            <a:ext cx="286756" cy="286756"/>
          </a:xfrm>
          <a:prstGeom prst="rect">
            <a:avLst/>
          </a:prstGeom>
        </p:spPr>
      </p:pic>
      <p:sp>
        <p:nvSpPr>
          <p:cNvPr id="13016" name="Text 9"/>
          <p:cNvSpPr txBox="1"/>
          <p:nvPr/>
        </p:nvSpPr>
        <p:spPr>
          <a:xfrm>
            <a:off x="3227832" y="3200400"/>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Rute</a:t>
            </a:r>
            <a:endParaRPr lang="en-US" sz="1700" dirty="0"/>
          </a:p>
          <a:p>
            <a:pPr indent="0" marL="0">
              <a:spcAft>
                <a:spcPts val="200"/>
              </a:spcAft>
              <a:buNone/>
            </a:pPr>
            <a:r>
              <a:rPr lang="en-US" sz="1400" dirty="0">
                <a:solidFill>
                  <a:schemeClr val="accent4"/>
                </a:solidFill>
              </a:rPr>
              <a:t>Sett sammen en rute og last den ned som GPX</a:t>
            </a:r>
            <a:endParaRPr lang="en-US" sz="1700" dirty="0"/>
          </a:p>
        </p:txBody>
      </p:sp>
      <p:sp>
        <p:nvSpPr>
          <p:cNvPr id="13017" name="Ikon list sirkel"/>
          <p:cNvSpPr/>
          <p:nvPr/>
        </p:nvSpPr>
        <p:spPr>
          <a:xfrm>
            <a:off x="2514600" y="3895344"/>
            <a:ext cx="512064" cy="512064"/>
          </a:xfrm>
          <a:prstGeom prst="ellipse">
            <a:avLst/>
          </a:prstGeom>
          <a:solidFill>
            <a:schemeClr val="accent1"/>
          </a:solidFill>
          <a:ln/>
        </p:spPr>
      </p:sp>
      <p:pic>
        <p:nvPicPr>
          <p:cNvPr id="13018" name="Ikon list" descr="list">    </p:cNvPr>
          <p:cNvPicPr>
            <a:picLocks noChangeAspect="1"/>
          </p:cNvPicPr>
          <p:nvPr/>
        </p:nvPicPr>
        <p:blipFill>
          <a:blip r:embed="rId6"/>
          <a:stretch>
            <a:fillRect/>
          </a:stretch>
        </p:blipFill>
        <p:spPr>
          <a:xfrm>
            <a:off x="2627254" y="4007998"/>
            <a:ext cx="286756" cy="286756"/>
          </a:xfrm>
          <a:prstGeom prst="rect">
            <a:avLst/>
          </a:prstGeom>
        </p:spPr>
      </p:pic>
      <p:sp>
        <p:nvSpPr>
          <p:cNvPr id="13019" name="Text 11"/>
          <p:cNvSpPr txBox="1"/>
          <p:nvPr/>
        </p:nvSpPr>
        <p:spPr>
          <a:xfrm>
            <a:off x="3227832" y="3822192"/>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Geocacher på kartet</a:t>
            </a:r>
            <a:endParaRPr lang="en-US" sz="1700" dirty="0"/>
          </a:p>
          <a:p>
            <a:pPr indent="0" marL="0">
              <a:spcAft>
                <a:spcPts val="200"/>
              </a:spcAft>
              <a:buNone/>
            </a:pPr>
            <a:r>
              <a:rPr lang="en-US" sz="1400" dirty="0">
                <a:solidFill>
                  <a:schemeClr val="accent4"/>
                </a:solidFill>
              </a:rPr>
              <a:t>En liste som følger kartet (gamle kartet)</a:t>
            </a:r>
            <a:endParaRPr lang="en-US" sz="1700" dirty="0"/>
          </a:p>
        </p:txBody>
      </p:sp>
      <p:sp>
        <p:nvSpPr>
          <p:cNvPr id="13020" name="Ikon circles sirkel"/>
          <p:cNvSpPr/>
          <p:nvPr/>
        </p:nvSpPr>
        <p:spPr>
          <a:xfrm>
            <a:off x="2514600" y="4517136"/>
            <a:ext cx="512064" cy="512064"/>
          </a:xfrm>
          <a:prstGeom prst="ellipse">
            <a:avLst/>
          </a:prstGeom>
          <a:solidFill>
            <a:schemeClr val="accent1"/>
          </a:solidFill>
          <a:ln/>
        </p:spPr>
      </p:sp>
      <p:pic>
        <p:nvPicPr>
          <p:cNvPr id="13021" name="Ikon circles" descr="circles">    </p:cNvPr>
          <p:cNvPicPr>
            <a:picLocks noChangeAspect="1"/>
          </p:cNvPicPr>
          <p:nvPr/>
        </p:nvPicPr>
        <p:blipFill>
          <a:blip r:embed="rId7"/>
          <a:stretch>
            <a:fillRect/>
          </a:stretch>
        </p:blipFill>
        <p:spPr>
          <a:xfrm>
            <a:off x="2627254" y="4629790"/>
            <a:ext cx="286756" cy="286756"/>
          </a:xfrm>
          <a:prstGeom prst="rect">
            <a:avLst/>
          </a:prstGeom>
        </p:spPr>
      </p:pic>
      <p:sp>
        <p:nvSpPr>
          <p:cNvPr id="13022" name="Text 13"/>
          <p:cNvSpPr txBox="1"/>
          <p:nvPr/>
        </p:nvSpPr>
        <p:spPr>
          <a:xfrm>
            <a:off x="3227832" y="444398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m-sirkler</a:t>
            </a:r>
            <a:endParaRPr lang="en-US" sz="1700" dirty="0"/>
          </a:p>
          <a:p>
            <a:pPr indent="0" marL="0">
              <a:spcAft>
                <a:spcPts val="200"/>
              </a:spcAft>
              <a:buNone/>
            </a:pPr>
            <a:r>
              <a:rPr lang="en-US" sz="1400" dirty="0">
                <a:solidFill>
                  <a:schemeClr val="accent4"/>
                </a:solidFill>
              </a:rPr>
              <a:t>Der noe er utplassert – fra zoom 15</a:t>
            </a:r>
            <a:endParaRPr lang="en-US" sz="1700" dirty="0"/>
          </a:p>
        </p:txBody>
      </p:sp>
      <p:sp>
        <p:nvSpPr>
          <p:cNvPr id="13023" name="Ikon solved sirkel"/>
          <p:cNvSpPr/>
          <p:nvPr/>
        </p:nvSpPr>
        <p:spPr>
          <a:xfrm>
            <a:off x="2514600" y="5138928"/>
            <a:ext cx="512064" cy="512064"/>
          </a:xfrm>
          <a:prstGeom prst="ellipse">
            <a:avLst/>
          </a:prstGeom>
          <a:solidFill>
            <a:schemeClr val="accent1"/>
          </a:solidFill>
          <a:ln/>
        </p:spPr>
      </p:sp>
      <p:pic>
        <p:nvPicPr>
          <p:cNvPr id="13024" name="Ikon solved" descr="solved">    </p:cNvPr>
          <p:cNvPicPr>
            <a:picLocks noChangeAspect="1"/>
          </p:cNvPicPr>
          <p:nvPr/>
        </p:nvPicPr>
        <p:blipFill>
          <a:blip r:embed="rId8"/>
          <a:stretch>
            <a:fillRect/>
          </a:stretch>
        </p:blipFill>
        <p:spPr>
          <a:xfrm>
            <a:off x="2627254" y="5251582"/>
            <a:ext cx="286756" cy="286756"/>
          </a:xfrm>
          <a:prstGeom prst="rect">
            <a:avLst/>
          </a:prstGeom>
        </p:spPr>
      </p:pic>
      <p:sp>
        <p:nvSpPr>
          <p:cNvPr id="13025" name="Text 15"/>
          <p:cNvSpPr txBox="1"/>
          <p:nvPr/>
        </p:nvSpPr>
        <p:spPr>
          <a:xfrm>
            <a:off x="3227832" y="506577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Merker</a:t>
            </a:r>
            <a:endParaRPr lang="en-US" sz="1700" dirty="0"/>
          </a:p>
          <a:p>
            <a:pPr indent="0" marL="0">
              <a:spcAft>
                <a:spcPts val="200"/>
              </a:spcAft>
              <a:buNone/>
            </a:pPr>
            <a:r>
              <a:rPr lang="en-US" sz="1400" dirty="0">
                <a:solidFill>
                  <a:schemeClr val="accent4"/>
                </a:solidFill>
              </a:rPr>
              <a:t>Løste cacher, også uten sirkler</a:t>
            </a:r>
            <a:endParaRPr lang="en-US" sz="1700" dirty="0"/>
          </a:p>
        </p:txBody>
      </p:sp>
      <p:sp>
        <p:nvSpPr>
          <p:cNvPr id="13026" name="Ikon heart sirkel"/>
          <p:cNvSpPr/>
          <p:nvPr/>
        </p:nvSpPr>
        <p:spPr>
          <a:xfrm>
            <a:off x="2514600" y="5760720"/>
            <a:ext cx="512064" cy="512064"/>
          </a:xfrm>
          <a:prstGeom prst="ellipse">
            <a:avLst/>
          </a:prstGeom>
          <a:solidFill>
            <a:schemeClr val="accent1"/>
          </a:solidFill>
          <a:ln/>
        </p:spPr>
      </p:sp>
      <p:pic>
        <p:nvPicPr>
          <p:cNvPr id="13027" name="Ikon heart" descr="heart">    </p:cNvPr>
          <p:cNvPicPr>
            <a:picLocks noChangeAspect="1"/>
          </p:cNvPicPr>
          <p:nvPr/>
        </p:nvPicPr>
        <p:blipFill>
          <a:blip r:embed="rId9"/>
          <a:stretch>
            <a:fillRect/>
          </a:stretch>
        </p:blipFill>
        <p:spPr>
          <a:xfrm>
            <a:off x="2627254" y="5873374"/>
            <a:ext cx="286756" cy="286756"/>
          </a:xfrm>
          <a:prstGeom prst="rect">
            <a:avLst/>
          </a:prstGeom>
        </p:spPr>
      </p:pic>
      <p:sp>
        <p:nvSpPr>
          <p:cNvPr id="13028" name="Text 17"/>
          <p:cNvSpPr txBox="1"/>
          <p:nvPr/>
        </p:nvSpPr>
        <p:spPr>
          <a:xfrm>
            <a:off x="3227832" y="568756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Favorittpoeng</a:t>
            </a:r>
            <a:endParaRPr lang="en-US" sz="1700" dirty="0"/>
          </a:p>
          <a:p>
            <a:pPr indent="0" marL="0">
              <a:spcAft>
                <a:spcPts val="200"/>
              </a:spcAft>
              <a:buNone/>
            </a:pPr>
            <a:r>
              <a:rPr lang="en-US" sz="1400" dirty="0">
                <a:solidFill>
                  <a:schemeClr val="accent4"/>
                </a:solidFill>
              </a:rPr>
              <a:t>♥ og antallet over cachene – av/på</a:t>
            </a:r>
            <a:endParaRPr lang="en-US" sz="1700" dirty="0"/>
          </a:p>
        </p:txBody>
      </p:sp>
      <p:sp>
        <p:nvSpPr>
          <p:cNvPr id="13029" name="Ikon dt sirkel"/>
          <p:cNvSpPr/>
          <p:nvPr/>
        </p:nvSpPr>
        <p:spPr>
          <a:xfrm>
            <a:off x="7086600" y="1408176"/>
            <a:ext cx="512064" cy="512064"/>
          </a:xfrm>
          <a:prstGeom prst="ellipse">
            <a:avLst/>
          </a:prstGeom>
          <a:solidFill>
            <a:schemeClr val="accent1"/>
          </a:solidFill>
          <a:ln/>
        </p:spPr>
      </p:sp>
      <p:pic>
        <p:nvPicPr>
          <p:cNvPr id="13030" name="Ikon dt" descr="dt">    </p:cNvPr>
          <p:cNvPicPr>
            <a:picLocks noChangeAspect="1"/>
          </p:cNvPicPr>
          <p:nvPr/>
        </p:nvPicPr>
        <p:blipFill>
          <a:blip r:embed="rId10"/>
          <a:stretch>
            <a:fillRect/>
          </a:stretch>
        </p:blipFill>
        <p:spPr>
          <a:xfrm>
            <a:off x="7199254" y="1520830"/>
            <a:ext cx="286756" cy="286756"/>
          </a:xfrm>
          <a:prstGeom prst="rect">
            <a:avLst/>
          </a:prstGeom>
        </p:spPr>
      </p:pic>
      <p:sp>
        <p:nvSpPr>
          <p:cNvPr id="13031" name="Text 19"/>
          <p:cNvSpPr txBox="1"/>
          <p:nvPr/>
        </p:nvSpPr>
        <p:spPr>
          <a:xfrm>
            <a:off x="7799832" y="133502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Vanskelighet/terreng under cachene – av/på</a:t>
            </a:r>
            <a:endParaRPr lang="en-US" sz="1700" dirty="0"/>
          </a:p>
        </p:txBody>
      </p:sp>
      <p:sp>
        <p:nvSpPr>
          <p:cNvPr id="13032" name="Ikon eyeoff sirkel"/>
          <p:cNvSpPr/>
          <p:nvPr/>
        </p:nvSpPr>
        <p:spPr>
          <a:xfrm>
            <a:off x="7086600" y="2029968"/>
            <a:ext cx="512064" cy="512064"/>
          </a:xfrm>
          <a:prstGeom prst="ellipse">
            <a:avLst/>
          </a:prstGeom>
          <a:solidFill>
            <a:schemeClr val="accent1"/>
          </a:solidFill>
          <a:ln/>
        </p:spPr>
      </p:sp>
      <p:pic>
        <p:nvPicPr>
          <p:cNvPr id="13033" name="Ikon eyeoff" descr="eyeoff">    </p:cNvPr>
          <p:cNvPicPr>
            <a:picLocks noChangeAspect="1"/>
          </p:cNvPicPr>
          <p:nvPr/>
        </p:nvPicPr>
        <p:blipFill>
          <a:blip r:embed="rId11"/>
          <a:stretch>
            <a:fillRect/>
          </a:stretch>
        </p:blipFill>
        <p:spPr>
          <a:xfrm>
            <a:off x="7199254" y="2142622"/>
            <a:ext cx="286756" cy="286756"/>
          </a:xfrm>
          <a:prstGeom prst="rect">
            <a:avLst/>
          </a:prstGeom>
        </p:spPr>
      </p:pic>
      <p:sp>
        <p:nvSpPr>
          <p:cNvPr id="13034" name="Text 21"/>
          <p:cNvSpPr txBox="1"/>
          <p:nvPr/>
        </p:nvSpPr>
        <p:spPr>
          <a:xfrm>
            <a:off x="7799832" y="195681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Skjul geocacher</a:t>
            </a:r>
            <a:endParaRPr lang="en-US" sz="1700" dirty="0"/>
          </a:p>
          <a:p>
            <a:pPr indent="0" marL="0">
              <a:spcAft>
                <a:spcPts val="200"/>
              </a:spcAft>
              <a:buNone/>
            </a:pPr>
            <a:r>
              <a:rPr lang="en-US" sz="1400" dirty="0">
                <a:solidFill>
                  <a:schemeClr val="accent4"/>
                </a:solidFill>
              </a:rPr>
              <a:t>Rent kart – klikk igjen for å vise dem</a:t>
            </a:r>
            <a:endParaRPr lang="en-US" sz="1700" dirty="0"/>
          </a:p>
        </p:txBody>
      </p:sp>
      <p:sp>
        <p:nvSpPr>
          <p:cNvPr id="13035" name="Ikon locate sirkel"/>
          <p:cNvSpPr/>
          <p:nvPr/>
        </p:nvSpPr>
        <p:spPr>
          <a:xfrm>
            <a:off x="7086600" y="2651760"/>
            <a:ext cx="512064" cy="512064"/>
          </a:xfrm>
          <a:prstGeom prst="ellipse">
            <a:avLst/>
          </a:prstGeom>
          <a:solidFill>
            <a:schemeClr val="accent1"/>
          </a:solidFill>
          <a:ln/>
        </p:spPr>
      </p:sp>
      <p:pic>
        <p:nvPicPr>
          <p:cNvPr id="13036" name="Ikon locate" descr="locate">    </p:cNvPr>
          <p:cNvPicPr>
            <a:picLocks noChangeAspect="1"/>
          </p:cNvPicPr>
          <p:nvPr/>
        </p:nvPicPr>
        <p:blipFill>
          <a:blip r:embed="rId12"/>
          <a:stretch>
            <a:fillRect/>
          </a:stretch>
        </p:blipFill>
        <p:spPr>
          <a:xfrm>
            <a:off x="7199254" y="2764414"/>
            <a:ext cx="286756" cy="286756"/>
          </a:xfrm>
          <a:prstGeom prst="rect">
            <a:avLst/>
          </a:prstGeom>
        </p:spPr>
      </p:pic>
      <p:sp>
        <p:nvSpPr>
          <p:cNvPr id="13037" name="Text 23"/>
          <p:cNvSpPr txBox="1"/>
          <p:nvPr/>
        </p:nvSpPr>
        <p:spPr>
          <a:xfrm>
            <a:off x="7799832" y="2578608"/>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Min posisjon</a:t>
            </a:r>
            <a:endParaRPr lang="en-US" sz="1700" dirty="0"/>
          </a:p>
          <a:p>
            <a:pPr indent="0" marL="0">
              <a:spcAft>
                <a:spcPts val="200"/>
              </a:spcAft>
              <a:buNone/>
            </a:pPr>
            <a:r>
              <a:rPr lang="en-US" sz="1400" dirty="0">
                <a:solidFill>
                  <a:schemeClr val="accent4"/>
                </a:solidFill>
              </a:rPr>
              <a:t>Med sirkel for nøyaktighet</a:t>
            </a:r>
            <a:endParaRPr lang="en-US" sz="1700" dirty="0"/>
          </a:p>
        </p:txBody>
      </p:sp>
      <p:sp>
        <p:nvSpPr>
          <p:cNvPr id="13038" name="Ikon home sirkel"/>
          <p:cNvSpPr/>
          <p:nvPr/>
        </p:nvSpPr>
        <p:spPr>
          <a:xfrm>
            <a:off x="7086600" y="3273552"/>
            <a:ext cx="512064" cy="512064"/>
          </a:xfrm>
          <a:prstGeom prst="ellipse">
            <a:avLst/>
          </a:prstGeom>
          <a:solidFill>
            <a:schemeClr val="accent1"/>
          </a:solidFill>
          <a:ln/>
        </p:spPr>
      </p:sp>
      <p:pic>
        <p:nvPicPr>
          <p:cNvPr id="13039" name="Ikon home" descr="home">    </p:cNvPr>
          <p:cNvPicPr>
            <a:picLocks noChangeAspect="1"/>
          </p:cNvPicPr>
          <p:nvPr/>
        </p:nvPicPr>
        <p:blipFill>
          <a:blip r:embed="rId13"/>
          <a:stretch>
            <a:fillRect/>
          </a:stretch>
        </p:blipFill>
        <p:spPr>
          <a:xfrm>
            <a:off x="7199254" y="3386206"/>
            <a:ext cx="286756" cy="286756"/>
          </a:xfrm>
          <a:prstGeom prst="rect">
            <a:avLst/>
          </a:prstGeom>
        </p:spPr>
      </p:pic>
      <p:sp>
        <p:nvSpPr>
          <p:cNvPr id="13040" name="Text 25"/>
          <p:cNvSpPr txBox="1"/>
          <p:nvPr/>
        </p:nvSpPr>
        <p:spPr>
          <a:xfrm>
            <a:off x="7799832" y="3200400"/>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t>
            </a:r>
            <a:endParaRPr lang="en-US" sz="1700" dirty="0"/>
          </a:p>
          <a:p>
            <a:pPr indent="0" marL="0">
              <a:spcAft>
                <a:spcPts val="200"/>
              </a:spcAft>
              <a:buNone/>
            </a:pPr>
            <a:r>
              <a:rPr lang="en-US" sz="1400" dirty="0">
                <a:solidFill>
                  <a:schemeClr val="accent4"/>
                </a:solidFill>
              </a:rPr>
              <a:t>Høyreklikk for å endre adressen</a:t>
            </a:r>
            <a:endParaRPr lang="en-US" sz="1700" dirty="0"/>
          </a:p>
        </p:txBody>
      </p:sp>
      <p:sp>
        <p:nvSpPr>
          <p:cNvPr id="13041" name="Ikon expand sirkel"/>
          <p:cNvSpPr/>
          <p:nvPr/>
        </p:nvSpPr>
        <p:spPr>
          <a:xfrm>
            <a:off x="7086600" y="3895344"/>
            <a:ext cx="512064" cy="512064"/>
          </a:xfrm>
          <a:prstGeom prst="ellipse">
            <a:avLst/>
          </a:prstGeom>
          <a:solidFill>
            <a:schemeClr val="accent1"/>
          </a:solidFill>
          <a:ln/>
        </p:spPr>
      </p:sp>
      <p:pic>
        <p:nvPicPr>
          <p:cNvPr id="13042" name="Ikon expand" descr="expand">    </p:cNvPr>
          <p:cNvPicPr>
            <a:picLocks noChangeAspect="1"/>
          </p:cNvPicPr>
          <p:nvPr/>
        </p:nvPicPr>
        <p:blipFill>
          <a:blip r:embed="rId14"/>
          <a:stretch>
            <a:fillRect/>
          </a:stretch>
        </p:blipFill>
        <p:spPr>
          <a:xfrm>
            <a:off x="7199254" y="4007998"/>
            <a:ext cx="286756" cy="286756"/>
          </a:xfrm>
          <a:prstGeom prst="rect">
            <a:avLst/>
          </a:prstGeom>
        </p:spPr>
      </p:pic>
      <p:sp>
        <p:nvSpPr>
          <p:cNvPr id="13043" name="Text 27"/>
          <p:cNvSpPr txBox="1"/>
          <p:nvPr/>
        </p:nvSpPr>
        <p:spPr>
          <a:xfrm>
            <a:off x="7799832" y="3822192"/>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Fullskjerm</a:t>
            </a:r>
            <a:endParaRPr lang="en-US" sz="1700" dirty="0"/>
          </a:p>
          <a:p>
            <a:pPr indent="0" marL="0">
              <a:spcAft>
                <a:spcPts val="200"/>
              </a:spcAft>
              <a:buNone/>
            </a:pPr>
            <a:r>
              <a:rPr lang="en-US" sz="1400" dirty="0">
                <a:solidFill>
                  <a:schemeClr val="accent4"/>
                </a:solidFill>
              </a:rPr>
              <a:t>Kartet fyller hele skjermen</a:t>
            </a:r>
            <a:endParaRPr lang="en-US" sz="1700" dirty="0"/>
          </a:p>
        </p:txBody>
      </p:sp>
      <p:sp>
        <p:nvSpPr>
          <p:cNvPr id="13044" name="Ikon eraser sirkel"/>
          <p:cNvSpPr/>
          <p:nvPr/>
        </p:nvSpPr>
        <p:spPr>
          <a:xfrm>
            <a:off x="7086600" y="4517136"/>
            <a:ext cx="512064" cy="512064"/>
          </a:xfrm>
          <a:prstGeom prst="ellipse">
            <a:avLst/>
          </a:prstGeom>
          <a:solidFill>
            <a:schemeClr val="accent1"/>
          </a:solidFill>
          <a:ln/>
        </p:spPr>
      </p:sp>
      <p:pic>
        <p:nvPicPr>
          <p:cNvPr id="13045" name="Ikon eraser" descr="eraser">    </p:cNvPr>
          <p:cNvPicPr>
            <a:picLocks noChangeAspect="1"/>
          </p:cNvPicPr>
          <p:nvPr/>
        </p:nvPicPr>
        <p:blipFill>
          <a:blip r:embed="rId15"/>
          <a:stretch>
            <a:fillRect/>
          </a:stretch>
        </p:blipFill>
        <p:spPr>
          <a:xfrm>
            <a:off x="7199254" y="4629790"/>
            <a:ext cx="286756" cy="286756"/>
          </a:xfrm>
          <a:prstGeom prst="rect">
            <a:avLst/>
          </a:prstGeom>
        </p:spPr>
      </p:pic>
      <p:sp>
        <p:nvSpPr>
          <p:cNvPr id="13046" name="Text 29"/>
          <p:cNvSpPr txBox="1"/>
          <p:nvPr/>
        </p:nvSpPr>
        <p:spPr>
          <a:xfrm>
            <a:off x="7799832" y="444398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 tegninger</a:t>
            </a:r>
            <a:endParaRPr lang="en-US" sz="1700" dirty="0"/>
          </a:p>
          <a:p>
            <a:pPr indent="0" marL="0">
              <a:spcAft>
                <a:spcPts val="200"/>
              </a:spcAft>
              <a:buNone/>
            </a:pPr>
            <a:r>
              <a:rPr lang="en-US" sz="1400" dirty="0">
                <a:solidFill>
                  <a:schemeClr val="accent4"/>
                </a:solidFill>
              </a:rPr>
              <a:t>Merker, målinger og sirkler</a:t>
            </a:r>
            <a:endParaRPr lang="en-US" sz="1700" dirty="0"/>
          </a:p>
        </p:txBody>
      </p:sp>
      <p:sp>
        <p:nvSpPr>
          <p:cNvPr id="13047" name="Ikon gear sirkel"/>
          <p:cNvSpPr/>
          <p:nvPr/>
        </p:nvSpPr>
        <p:spPr>
          <a:xfrm>
            <a:off x="7086600" y="5138928"/>
            <a:ext cx="512064" cy="512064"/>
          </a:xfrm>
          <a:prstGeom prst="ellipse">
            <a:avLst/>
          </a:prstGeom>
          <a:solidFill>
            <a:schemeClr val="accent1"/>
          </a:solidFill>
          <a:ln/>
        </p:spPr>
      </p:sp>
      <p:pic>
        <p:nvPicPr>
          <p:cNvPr id="13048" name="Ikon gear" descr="gear">    </p:cNvPr>
          <p:cNvPicPr>
            <a:picLocks noChangeAspect="1"/>
          </p:cNvPicPr>
          <p:nvPr/>
        </p:nvPicPr>
        <p:blipFill>
          <a:blip r:embed="rId16"/>
          <a:stretch>
            <a:fillRect/>
          </a:stretch>
        </p:blipFill>
        <p:spPr>
          <a:xfrm>
            <a:off x="7199254" y="5251582"/>
            <a:ext cx="286756" cy="286756"/>
          </a:xfrm>
          <a:prstGeom prst="rect">
            <a:avLst/>
          </a:prstGeom>
        </p:spPr>
      </p:pic>
      <p:sp>
        <p:nvSpPr>
          <p:cNvPr id="13049" name="Text 31"/>
          <p:cNvSpPr txBox="1"/>
          <p:nvPr/>
        </p:nvSpPr>
        <p:spPr>
          <a:xfrm>
            <a:off x="7799832" y="506577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Innstillinger</a:t>
            </a:r>
            <a:endParaRPr lang="en-US" sz="1700" dirty="0"/>
          </a:p>
          <a:p>
            <a:pPr indent="0" marL="0">
              <a:spcAft>
                <a:spcPts val="200"/>
              </a:spcAft>
              <a:buNone/>
            </a:pPr>
            <a:r>
              <a:rPr lang="en-US" sz="1400" dirty="0">
                <a:solidFill>
                  <a:schemeClr val="accent4"/>
                </a:solidFill>
              </a:rPr>
              <a:t>Plassering, språk og nettstedets knapper</a:t>
            </a:r>
            <a:endParaRPr lang="en-US" sz="1700" dirty="0"/>
          </a:p>
        </p:txBody>
      </p:sp>
      <p:sp>
        <p:nvSpPr>
          <p:cNvPr id="1305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Velg kart og overlegg</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Kartlagpanelet">    </p:cNvPr>
          <p:cNvPicPr>
            <a:picLocks noChangeAspect="1"/>
          </p:cNvPicPr>
          <p:nvPr/>
        </p:nvPicPr>
        <p:blipFill>
          <a:blip r:embed="rId1"/>
          <a:stretch>
            <a:fillRect/>
          </a:stretch>
        </p:blipFill>
        <p:spPr>
          <a:xfrm>
            <a:off x="8623621" y="1527048"/>
            <a:ext cx="2015509"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Tre faner</a:t>
            </a:r>
            <a:endParaRPr lang="en-US" sz="1700" dirty="0"/>
          </a:p>
          <a:p>
            <a:pPr indent="0" marL="0">
              <a:spcAft>
                <a:spcPts val="200"/>
              </a:spcAft>
              <a:buNone/>
            </a:pPr>
            <a:r>
              <a:rPr lang="en-US" sz="1400" dirty="0">
                <a:solidFill>
                  <a:schemeClr val="accent4"/>
                </a:solidFill>
              </a:rPr>
              <a:t>Geocaching.coms egne kart, bakgrunnskart og overlegg – hver for seg, så listen holder seg kort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Bakgrunn og overlegg</a:t>
            </a:r>
            <a:endParaRPr lang="en-US" sz="1700" dirty="0"/>
          </a:p>
          <a:p>
            <a:pPr indent="0" marL="0">
              <a:spcAft>
                <a:spcPts val="200"/>
              </a:spcAft>
              <a:buNone/>
            </a:pPr>
            <a:r>
              <a:rPr lang="en-US" sz="1400" dirty="0">
                <a:solidFill>
                  <a:schemeClr val="accent4"/>
                </a:solidFill>
              </a:rPr>
              <a:t>Kartverket, OpenTopoMap, OpenStreetMap og Esri – pluss dine egne. Så mange overlegg du vil</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mot hvitt</a:t>
            </a:r>
            <a:endParaRPr lang="en-US" sz="1700" dirty="0"/>
          </a:p>
          <a:p>
            <a:pPr indent="0" marL="0">
              <a:spcAft>
                <a:spcPts val="200"/>
              </a:spcAft>
              <a:buNone/>
            </a:pPr>
            <a:r>
              <a:rPr lang="en-US" sz="1400" dirty="0">
                <a:solidFill>
                  <a:schemeClr val="accent4"/>
                </a:solidFill>
              </a:rPr>
              <a:t>Bakgrunnen kan dempes med høyst 50 %, så cachene trer tydelig fram</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Din rekkefølge</a:t>
            </a:r>
            <a:endParaRPr lang="en-US" sz="1700" dirty="0"/>
          </a:p>
          <a:p>
            <a:pPr indent="0" marL="0">
              <a:spcAft>
                <a:spcPts val="200"/>
              </a:spcAft>
              <a:buNone/>
            </a:pPr>
            <a:r>
              <a:rPr lang="en-US" sz="1400" dirty="0">
                <a:solidFill>
                  <a:schemeClr val="accent4"/>
                </a:solidFill>
              </a:rPr>
              <a:t>Dra kartene opp og ned. Overlegget øverst i listen tegnes øverst</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Rydd i listen</a:t>
            </a:r>
            <a:endParaRPr lang="en-US" sz="1700" dirty="0"/>
          </a:p>
          <a:p>
            <a:pPr indent="0" marL="0">
              <a:spcAft>
                <a:spcPts val="200"/>
              </a:spcAft>
              <a:buNone/>
            </a:pPr>
            <a:r>
              <a:rPr lang="en-US" sz="1400" dirty="0">
                <a:solidFill>
                  <a:schemeClr val="accent4"/>
                </a:solidFill>
              </a:rPr>
              <a:t>Fjern kart du ikke bruker – også geocaching.coms egne – og hent dem tilbake når du vil</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Legg til dine egne kart</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Redigeringsdialogen">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Lim inn nesten hvilken som helst kartlenke og trykk Gjenkjenn:</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Flisadresser med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Lagoversikten hentes automatisk</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Velg ett eller flere lag</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Adresser som slutter på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Forhåndsvisning på kartet før du lagrer</a:t>
            </a:r>
            <a:endParaRPr lang="en-US" sz="1600" dirty="0"/>
          </a:p>
          <a:p>
            <a:pPr marL="228600" indent="-228600">
              <a:spcAft>
                <a:spcPts val="600"/>
              </a:spcAft>
              <a:buSzPct val="100000"/>
              <a:buChar char="•"/>
            </a:pPr>
            <a:r>
              <a:rPr lang="en-US" sz="1600" dirty="0">
                <a:solidFill>
                  <a:schemeClr val="tx1"/>
                </a:solidFill>
              </a:rPr>
              <a:t>Importer og eksporter lagene dine som fil</a:t>
            </a:r>
            <a:endParaRPr lang="en-US" sz="1600" dirty="0"/>
          </a:p>
          <a:p>
            <a:pPr marL="228600" indent="-228600">
              <a:spcAft>
                <a:spcPts val="600"/>
              </a:spcAft>
              <a:buSzPct val="100000"/>
              <a:buChar char="•"/>
            </a:pPr>
            <a:r>
              <a:rPr lang="en-US" sz="1600" dirty="0">
                <a:solidFill>
                  <a:schemeClr val="tx1"/>
                </a:solidFill>
              </a:rPr>
              <a:t>Én enkelt kartflis fra utviklerverktøyet holder</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Finn steder, adresser og koordinater</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Stedssøket">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Én samlet liste</a:t>
            </a:r>
            <a:endParaRPr lang="en-US" sz="1700" dirty="0"/>
          </a:p>
          <a:p>
            <a:pPr indent="0" marL="0">
              <a:spcAft>
                <a:spcPts val="200"/>
              </a:spcAft>
              <a:buNone/>
            </a:pPr>
            <a:r>
              <a:rPr lang="en-US" sz="1400" dirty="0">
                <a:solidFill>
                  <a:schemeClr val="accent4"/>
                </a:solidFill>
              </a:rPr>
              <a:t>Treffene vises mens du skriver, best treff øverst – uansett kilde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Sted, adresse og utland</a:t>
            </a:r>
            <a:endParaRPr lang="en-US" sz="1700" dirty="0"/>
          </a:p>
          <a:p>
            <a:pPr indent="0" marL="0">
              <a:spcAft>
                <a:spcPts val="200"/>
              </a:spcAft>
              <a:buNone/>
            </a:pPr>
            <a:r>
              <a:rPr lang="en-US" sz="1400" dirty="0">
                <a:solidFill>
                  <a:schemeClr val="accent4"/>
                </a:solidFill>
              </a:rPr>
              <a:t>Kartverkets stedsnavn og adresser, og steder i utlandet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Koordinater</a:t>
            </a:r>
            <a:endParaRPr lang="en-US" sz="1700" dirty="0"/>
          </a:p>
          <a:p>
            <a:pPr indent="0" marL="0">
              <a:spcAft>
                <a:spcPts val="200"/>
              </a:spcAft>
              <a:buNone/>
            </a:pPr>
            <a:r>
              <a:rPr lang="en-US" sz="1400" dirty="0">
                <a:solidFill>
                  <a:schemeClr val="accent4"/>
                </a:solidFill>
              </a:rPr>
              <a:t>Skriv DMM, DD, DMS eller UTM – skriptet kjenner dem igjen</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Hjemadresse</a:t>
            </a:r>
            <a:endParaRPr lang="en-US" sz="1700" dirty="0"/>
          </a:p>
          <a:p>
            <a:pPr indent="0" marL="0">
              <a:spcAft>
                <a:spcPts val="200"/>
              </a:spcAft>
              <a:buNone/>
            </a:pPr>
            <a:r>
              <a:rPr lang="en-US" sz="1400" dirty="0">
                <a:solidFill>
                  <a:schemeClr val="accent4"/>
                </a:solidFill>
              </a:rPr>
              <a:t>Den samme søkeboksen brukes til å lagre hjemadressen</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Koordinater i alle formater</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Høyreklikkboblen">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Høyreklikk på kartet: én koordinatlinje som åpnes i DMM. Klikk på linjen for å bytte format, og kopier med ett klikk. Knappen Google Street View åpner Street View ved punktet. Zoomnivået står nederst – skriv et tall for å zoome.</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Eksempel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og 35 med fast sone, slik norske kart bruker. Nøyaktig til omtrent en millimeter (Krüger-rekkene).</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Høyreklikk på en cache – rett til koordinatene</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Boblen festet til en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Festes til cachen</a:t>
            </a:r>
            <a:endParaRPr lang="en-US" sz="1700" dirty="0"/>
          </a:p>
          <a:p>
            <a:pPr indent="0" marL="0">
              <a:spcAft>
                <a:spcPts val="200"/>
              </a:spcAft>
              <a:buNone/>
            </a:pPr>
            <a:r>
              <a:rPr lang="en-US" sz="1400" dirty="0">
                <a:solidFill>
                  <a:schemeClr val="accent4"/>
                </a:solidFill>
              </a:rPr>
              <a:t>Høyreklikk på eller like ved en geocache, så bruker boblen cachens koordinater</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GC-kode, navn og ♥</a:t>
            </a:r>
            <a:endParaRPr lang="en-US" sz="1700" dirty="0"/>
          </a:p>
          <a:p>
            <a:pPr indent="0" marL="0">
              <a:spcAft>
                <a:spcPts val="200"/>
              </a:spcAft>
              <a:buNone/>
            </a:pPr>
            <a:r>
              <a:rPr lang="en-US" sz="1400" dirty="0">
                <a:solidFill>
                  <a:schemeClr val="accent4"/>
                </a:solidFill>
              </a:rPr>
              <a:t>Favorittpoeng vises; klikk på GC-koden for å åpne cachesiden</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Alle verktøy følger med</a:t>
            </a:r>
            <a:endParaRPr lang="en-US" sz="1700" dirty="0"/>
          </a:p>
          <a:p>
            <a:pPr indent="0" marL="0">
              <a:spcAft>
                <a:spcPts val="200"/>
              </a:spcAft>
              <a:buNone/>
            </a:pPr>
            <a:r>
              <a:rPr lang="en-US" sz="1400" dirty="0">
                <a:solidFill>
                  <a:schemeClr val="accent4"/>
                </a:solidFill>
              </a:rPr>
              <a:t>Merkenål, projisering, måling og 161 m-sirkel tar utgangspunkt i cachen</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Bruk klikkpunktet</a:t>
            </a:r>
            <a:endParaRPr lang="en-US" sz="1700" dirty="0"/>
          </a:p>
          <a:p>
            <a:pPr indent="0" marL="0">
              <a:spcAft>
                <a:spcPts val="200"/>
              </a:spcAft>
              <a:buNone/>
            </a:pPr>
            <a:r>
              <a:rPr lang="en-US" sz="1400" dirty="0">
                <a:solidFill>
                  <a:schemeClr val="accent4"/>
                </a:solidFill>
              </a:rPr>
              <a:t>Ett klikk bytter til det nøyaktige punktet du klikket på</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Nøyaktige koordinater fra geocaching.coms cachesøk – også på det gamle kartet. Bare før søket har svart, beregnes posisjonen fra ikonet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Projiser veipunkter og mål avstander</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Projiseringsdialogen">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Projiser fra et punkt</a:t>
            </a:r>
            <a:endParaRPr lang="en-US" sz="1700" dirty="0"/>
          </a:p>
          <a:p>
            <a:pPr indent="0" marL="0">
              <a:spcAft>
                <a:spcPts val="200"/>
              </a:spcAft>
              <a:buNone/>
            </a:pPr>
            <a:r>
              <a:rPr lang="en-US" sz="1400" dirty="0">
                <a:solidFill>
                  <a:schemeClr val="accent4"/>
                </a:solidFill>
              </a:rPr>
              <a:t>Startpunktet fylles ut automatisk. Skriv retning og avstand i m, km eller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 resultatet med en gang</a:t>
            </a:r>
            <a:endParaRPr lang="en-US" sz="1700" dirty="0"/>
          </a:p>
          <a:p>
            <a:pPr indent="0" marL="0">
              <a:spcAft>
                <a:spcPts val="200"/>
              </a:spcAft>
              <a:buNone/>
            </a:pPr>
            <a:r>
              <a:rPr lang="en-US" sz="1400" dirty="0">
                <a:solidFill>
                  <a:schemeClr val="accent4"/>
                </a:solidFill>
              </a:rPr>
              <a:t>Veipunktet vises mens du skriver, med en stiplet linje på kartet og kopiknapp</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 avstand og retning</a:t>
            </a:r>
            <a:endParaRPr lang="en-US" sz="1700" dirty="0"/>
          </a:p>
          <a:p>
            <a:pPr indent="0" marL="0">
              <a:spcAft>
                <a:spcPts val="200"/>
              </a:spcAft>
              <a:buNone/>
            </a:pPr>
            <a:r>
              <a:rPr lang="en-US" sz="1400" dirty="0">
                <a:solidFill>
                  <a:schemeClr val="accent4"/>
                </a:solidFill>
              </a:rPr>
              <a:t>Klikk punkter på kartet – total lengde og siste strekning vises</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Godt nok for geocaching</a:t>
            </a:r>
            <a:endParaRPr lang="en-US" sz="1700" dirty="0"/>
          </a:p>
          <a:p>
            <a:pPr indent="0" marL="0">
              <a:spcAft>
                <a:spcPts val="200"/>
              </a:spcAft>
              <a:buNone/>
            </a:pPr>
            <a:r>
              <a:rPr lang="en-US" sz="1400" dirty="0">
                <a:solidFill>
                  <a:schemeClr val="accent4"/>
                </a:solidFill>
              </a:rPr>
              <a:t>Feilen er godt under en meter på vanlige avstander</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Nyhet: sett sammen en rute og ta den med på GPS'en</a:t>
            </a:r>
            <a:endParaRPr lang="en-US" sz="3600" dirty="0"/>
          </a:p>
        </p:txBody>
      </p:sp>
      <p:sp>
        <p:nvSpPr>
          <p:cNvPr id="20003" name="Rutevinduet bakgrunn"/>
          <p:cNvSpPr/>
          <p:nvPr/>
        </p:nvSpPr>
        <p:spPr>
          <a:xfrm>
            <a:off x="7071055" y="1325880"/>
            <a:ext cx="4572000" cy="4983480"/>
          </a:xfrm>
          <a:prstGeom prst="roundRect">
            <a:avLst>
              <a:gd name="adj" fmla="val 2400"/>
            </a:avLst>
          </a:prstGeom>
          <a:solidFill>
            <a:schemeClr val="bg2"/>
          </a:solidFill>
          <a:ln/>
        </p:spPr>
      </p:sp>
      <p:pic>
        <p:nvPicPr>
          <p:cNvPr id="20004" name="Rutevinduet" descr="Rutevinduet">    </p:cNvPr>
          <p:cNvPicPr>
            <a:picLocks noChangeAspect="1"/>
          </p:cNvPicPr>
          <p:nvPr/>
        </p:nvPicPr>
        <p:blipFill>
          <a:blip r:embed="rId1"/>
          <a:stretch>
            <a:fillRect/>
          </a:stretch>
        </p:blipFill>
        <p:spPr>
          <a:xfrm>
            <a:off x="8084515" y="1527048"/>
            <a:ext cx="2545080" cy="4581144"/>
          </a:xfrm>
          <a:prstGeom prst="rect">
            <a:avLst/>
          </a:prstGeom>
        </p:spPr>
      </p:pic>
      <p:sp>
        <p:nvSpPr>
          <p:cNvPr id="20005" name="Ikon search sirkel"/>
          <p:cNvSpPr/>
          <p:nvPr/>
        </p:nvSpPr>
        <p:spPr>
          <a:xfrm>
            <a:off x="548640" y="1499616"/>
            <a:ext cx="512064" cy="512064"/>
          </a:xfrm>
          <a:prstGeom prst="ellipse">
            <a:avLst/>
          </a:prstGeom>
          <a:solidFill>
            <a:schemeClr val="accent1"/>
          </a:solidFill>
          <a:ln/>
        </p:spPr>
      </p:sp>
      <p:pic>
        <p:nvPicPr>
          <p:cNvPr id="20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20007" name="Text 3"/>
          <p:cNvSpPr txBox="1"/>
          <p:nvPr/>
        </p:nvSpPr>
        <p:spPr>
          <a:xfrm>
            <a:off x="1261872" y="142646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Søkbar liste</a:t>
            </a:r>
            <a:endParaRPr lang="en-US" sz="1700" dirty="0"/>
          </a:p>
          <a:p>
            <a:pPr indent="0" marL="0">
              <a:spcAft>
                <a:spcPts val="200"/>
              </a:spcAft>
              <a:buNone/>
            </a:pPr>
            <a:r>
              <a:rPr lang="en-US" sz="1400" dirty="0">
                <a:solidFill>
                  <a:schemeClr val="accent4"/>
                </a:solidFill>
              </a:rPr>
              <a:t>Geocacher og merkenåler i nærheten – og hvilken som helst GC-kode i verden</a:t>
            </a:r>
            <a:endParaRPr lang="en-US" sz="1700" dirty="0"/>
          </a:p>
        </p:txBody>
      </p:sp>
      <p:sp>
        <p:nvSpPr>
          <p:cNvPr id="20008" name="Ikon pin sirkel"/>
          <p:cNvSpPr/>
          <p:nvPr/>
        </p:nvSpPr>
        <p:spPr>
          <a:xfrm>
            <a:off x="548640" y="2688336"/>
            <a:ext cx="512064" cy="512064"/>
          </a:xfrm>
          <a:prstGeom prst="ellipse">
            <a:avLst/>
          </a:prstGeom>
          <a:solidFill>
            <a:schemeClr val="accent1"/>
          </a:solidFill>
          <a:ln/>
        </p:spPr>
      </p:sp>
      <p:pic>
        <p:nvPicPr>
          <p:cNvPr id="20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0010" name="Text 5"/>
          <p:cNvSpPr txBox="1"/>
          <p:nvPr/>
        </p:nvSpPr>
        <p:spPr>
          <a:xfrm>
            <a:off x="1261872" y="261518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Velg på kartet</a:t>
            </a:r>
            <a:endParaRPr lang="en-US" sz="1700" dirty="0"/>
          </a:p>
          <a:p>
            <a:pPr indent="0" marL="0">
              <a:spcAft>
                <a:spcPts val="200"/>
              </a:spcAft>
              <a:buNone/>
            </a:pPr>
            <a:r>
              <a:rPr lang="en-US" sz="1400" dirty="0">
                <a:solidFill>
                  <a:schemeClr val="accent4"/>
                </a:solidFill>
              </a:rPr>
              <a:t>Klikk på cacher og nåler mens rutevinduet er åpent, eller bruk høyreklikkboblen</a:t>
            </a:r>
            <a:endParaRPr lang="en-US" sz="1700" dirty="0"/>
          </a:p>
        </p:txBody>
      </p:sp>
      <p:sp>
        <p:nvSpPr>
          <p:cNvPr id="20011" name="Ikon route sirkel"/>
          <p:cNvSpPr/>
          <p:nvPr/>
        </p:nvSpPr>
        <p:spPr>
          <a:xfrm>
            <a:off x="548640" y="3877056"/>
            <a:ext cx="512064" cy="512064"/>
          </a:xfrm>
          <a:prstGeom prst="ellipse">
            <a:avLst/>
          </a:prstGeom>
          <a:solidFill>
            <a:schemeClr val="accent1"/>
          </a:solidFill>
          <a:ln/>
        </p:spPr>
      </p:sp>
      <p:pic>
        <p:nvPicPr>
          <p:cNvPr id="20012" name="Ikon route" descr="route">    </p:cNvPr>
          <p:cNvPicPr>
            <a:picLocks noChangeAspect="1"/>
          </p:cNvPicPr>
          <p:nvPr/>
        </p:nvPicPr>
        <p:blipFill>
          <a:blip r:embed="rId4"/>
          <a:stretch>
            <a:fillRect/>
          </a:stretch>
        </p:blipFill>
        <p:spPr>
          <a:xfrm>
            <a:off x="661294" y="3989710"/>
            <a:ext cx="286756" cy="286756"/>
          </a:xfrm>
          <a:prstGeom prst="rect">
            <a:avLst/>
          </a:prstGeom>
        </p:spPr>
      </p:pic>
      <p:sp>
        <p:nvSpPr>
          <p:cNvPr id="20013" name="Text 7"/>
          <p:cNvSpPr txBox="1"/>
          <p:nvPr/>
        </p:nvSpPr>
        <p:spPr>
          <a:xfrm>
            <a:off x="1261872" y="380390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Rekkefølge og rundtur</a:t>
            </a:r>
            <a:endParaRPr lang="en-US" sz="1700" dirty="0"/>
          </a:p>
          <a:p>
            <a:pPr indent="0" marL="0">
              <a:spcAft>
                <a:spcPts val="200"/>
              </a:spcAft>
              <a:buNone/>
            </a:pPr>
            <a:r>
              <a:rPr lang="en-US" sz="1400" dirty="0">
                <a:solidFill>
                  <a:schemeClr val="accent4"/>
                </a:solidFill>
              </a:rPr>
              <a:t>Flytt stopp, sorter etter nærmeste, se hver etappe – og avslutt ved start</a:t>
            </a:r>
            <a:endParaRPr lang="en-US" sz="1700" dirty="0"/>
          </a:p>
        </p:txBody>
      </p:sp>
      <p:sp>
        <p:nvSpPr>
          <p:cNvPr id="20014" name="Ikon download sirkel"/>
          <p:cNvSpPr/>
          <p:nvPr/>
        </p:nvSpPr>
        <p:spPr>
          <a:xfrm>
            <a:off x="548640" y="5065776"/>
            <a:ext cx="512064" cy="512064"/>
          </a:xfrm>
          <a:prstGeom prst="ellipse">
            <a:avLst/>
          </a:prstGeom>
          <a:solidFill>
            <a:schemeClr val="accent1"/>
          </a:solidFill>
          <a:ln/>
        </p:spPr>
      </p:sp>
      <p:pic>
        <p:nvPicPr>
          <p:cNvPr id="20015" name="Ikon download" descr="download">    </p:cNvPr>
          <p:cNvPicPr>
            <a:picLocks noChangeAspect="1"/>
          </p:cNvPicPr>
          <p:nvPr/>
        </p:nvPicPr>
        <p:blipFill>
          <a:blip r:embed="rId5"/>
          <a:stretch>
            <a:fillRect/>
          </a:stretch>
        </p:blipFill>
        <p:spPr>
          <a:xfrm>
            <a:off x="661294" y="5178430"/>
            <a:ext cx="286756" cy="286756"/>
          </a:xfrm>
          <a:prstGeom prst="rect">
            <a:avLst/>
          </a:prstGeom>
        </p:spPr>
      </p:pic>
      <p:sp>
        <p:nvSpPr>
          <p:cNvPr id="20016" name="Text 9"/>
          <p:cNvSpPr txBox="1"/>
          <p:nvPr/>
        </p:nvSpPr>
        <p:spPr>
          <a:xfrm>
            <a:off x="1261872" y="499262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Forhåndsvis og last ned</a:t>
            </a:r>
            <a:endParaRPr lang="en-US" sz="1700" dirty="0"/>
          </a:p>
          <a:p>
            <a:pPr indent="0" marL="0">
              <a:spcAft>
                <a:spcPts val="200"/>
              </a:spcAft>
              <a:buNone/>
            </a:pPr>
            <a:r>
              <a:rPr lang="en-US" sz="1400" dirty="0">
                <a:solidFill>
                  <a:schemeClr val="accent4"/>
                </a:solidFill>
              </a:rPr>
              <a:t>GPX med Garmin-symboler – eventuelt med fulle cachedata (papirløse cacher)</a:t>
            </a:r>
            <a:endParaRPr lang="en-US" sz="1700" dirty="0"/>
          </a:p>
        </p:txBody>
      </p:sp>
      <p:sp>
        <p:nvSpPr>
          <p:cNvPr id="20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Nyhet: geocachene på kartet i en liste</a:t>
            </a:r>
            <a:endParaRPr lang="en-US" sz="3600" dirty="0"/>
          </a:p>
        </p:txBody>
      </p:sp>
      <p:sp>
        <p:nvSpPr>
          <p:cNvPr id="21003" name="Cachelisten bakgrunn"/>
          <p:cNvSpPr/>
          <p:nvPr/>
        </p:nvSpPr>
        <p:spPr>
          <a:xfrm>
            <a:off x="7619695" y="1325880"/>
            <a:ext cx="4023360" cy="4983480"/>
          </a:xfrm>
          <a:prstGeom prst="roundRect">
            <a:avLst>
              <a:gd name="adj" fmla="val 2727"/>
            </a:avLst>
          </a:prstGeom>
          <a:solidFill>
            <a:schemeClr val="bg2"/>
          </a:solidFill>
          <a:ln/>
        </p:spPr>
      </p:sp>
      <p:pic>
        <p:nvPicPr>
          <p:cNvPr id="21004" name="Cachelisten" descr="Cachelisten">    </p:cNvPr>
          <p:cNvPicPr>
            <a:picLocks noChangeAspect="1"/>
          </p:cNvPicPr>
          <p:nvPr/>
        </p:nvPicPr>
        <p:blipFill>
          <a:blip r:embed="rId1"/>
          <a:stretch>
            <a:fillRect/>
          </a:stretch>
        </p:blipFill>
        <p:spPr>
          <a:xfrm>
            <a:off x="7934655" y="1527048"/>
            <a:ext cx="3393440" cy="4581144"/>
          </a:xfrm>
          <a:prstGeom prst="rect">
            <a:avLst/>
          </a:prstGeom>
        </p:spPr>
      </p:pic>
      <p:sp>
        <p:nvSpPr>
          <p:cNvPr id="21005" name="Ikon list sirkel"/>
          <p:cNvSpPr/>
          <p:nvPr/>
        </p:nvSpPr>
        <p:spPr>
          <a:xfrm>
            <a:off x="548640" y="1499616"/>
            <a:ext cx="512064" cy="512064"/>
          </a:xfrm>
          <a:prstGeom prst="ellipse">
            <a:avLst/>
          </a:prstGeom>
          <a:solidFill>
            <a:schemeClr val="accent1"/>
          </a:solidFill>
          <a:ln/>
        </p:spPr>
      </p:sp>
      <p:pic>
        <p:nvPicPr>
          <p:cNvPr id="21006" name="Ikon list" descr="list">    </p:cNvPr>
          <p:cNvPicPr>
            <a:picLocks noChangeAspect="1"/>
          </p:cNvPicPr>
          <p:nvPr/>
        </p:nvPicPr>
        <p:blipFill>
          <a:blip r:embed="rId2"/>
          <a:stretch>
            <a:fillRect/>
          </a:stretch>
        </p:blipFill>
        <p:spPr>
          <a:xfrm>
            <a:off x="661294" y="1612270"/>
            <a:ext cx="286756" cy="286756"/>
          </a:xfrm>
          <a:prstGeom prst="rect">
            <a:avLst/>
          </a:prstGeom>
        </p:spPr>
      </p:pic>
      <p:sp>
        <p:nvSpPr>
          <p:cNvPr id="21007" name="Text 3"/>
          <p:cNvSpPr txBox="1"/>
          <p:nvPr/>
        </p:nvSpPr>
        <p:spPr>
          <a:xfrm>
            <a:off x="1261872" y="142646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Følger kartet</a:t>
            </a:r>
            <a:endParaRPr lang="en-US" sz="1700" dirty="0"/>
          </a:p>
          <a:p>
            <a:pPr indent="0" marL="0">
              <a:spcAft>
                <a:spcPts val="200"/>
              </a:spcAft>
              <a:buNone/>
            </a:pPr>
            <a:r>
              <a:rPr lang="en-US" sz="1400" dirty="0">
                <a:solidFill>
                  <a:schemeClr val="accent4"/>
                </a:solidFill>
              </a:rPr>
              <a:t>Geocachene i kartutsnittet, nærmest midten først – med Løst, Funnet, Eiet, D/T og ♥</a:t>
            </a:r>
            <a:endParaRPr lang="en-US" sz="1700" dirty="0"/>
          </a:p>
        </p:txBody>
      </p:sp>
      <p:sp>
        <p:nvSpPr>
          <p:cNvPr id="21008" name="Ikon search sirkel"/>
          <p:cNvSpPr/>
          <p:nvPr/>
        </p:nvSpPr>
        <p:spPr>
          <a:xfrm>
            <a:off x="548640" y="2688336"/>
            <a:ext cx="512064" cy="512064"/>
          </a:xfrm>
          <a:prstGeom prst="ellipse">
            <a:avLst/>
          </a:prstGeom>
          <a:solidFill>
            <a:schemeClr val="accent1"/>
          </a:solidFill>
          <a:ln/>
        </p:spPr>
      </p:sp>
      <p:pic>
        <p:nvPicPr>
          <p:cNvPr id="21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21010" name="Text 5"/>
          <p:cNvSpPr txBox="1"/>
          <p:nvPr/>
        </p:nvSpPr>
        <p:spPr>
          <a:xfrm>
            <a:off x="1261872" y="261518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Pek og finn</a:t>
            </a:r>
            <a:endParaRPr lang="en-US" sz="1700" dirty="0"/>
          </a:p>
          <a:p>
            <a:pPr indent="0" marL="0">
              <a:spcAft>
                <a:spcPts val="200"/>
              </a:spcAft>
              <a:buNone/>
            </a:pPr>
            <a:r>
              <a:rPr lang="en-US" sz="1400" dirty="0">
                <a:solidFill>
                  <a:schemeClr val="accent4"/>
                </a:solidFill>
              </a:rPr>
              <a:t>Pek på en cache i kartet, så markeres den i listen. Filtrer på kode eller navn</a:t>
            </a:r>
            <a:endParaRPr lang="en-US" sz="1700" dirty="0"/>
          </a:p>
        </p:txBody>
      </p:sp>
      <p:sp>
        <p:nvSpPr>
          <p:cNvPr id="21011" name="Ikon locate sirkel"/>
          <p:cNvSpPr/>
          <p:nvPr/>
        </p:nvSpPr>
        <p:spPr>
          <a:xfrm>
            <a:off x="548640" y="3877056"/>
            <a:ext cx="512064" cy="512064"/>
          </a:xfrm>
          <a:prstGeom prst="ellipse">
            <a:avLst/>
          </a:prstGeom>
          <a:solidFill>
            <a:schemeClr val="accent1"/>
          </a:solidFill>
          <a:ln/>
        </p:spPr>
      </p:sp>
      <p:pic>
        <p:nvPicPr>
          <p:cNvPr id="21012" name="Ikon locate" descr="locate">    </p:cNvPr>
          <p:cNvPicPr>
            <a:picLocks noChangeAspect="1"/>
          </p:cNvPicPr>
          <p:nvPr/>
        </p:nvPicPr>
        <p:blipFill>
          <a:blip r:embed="rId4"/>
          <a:stretch>
            <a:fillRect/>
          </a:stretch>
        </p:blipFill>
        <p:spPr>
          <a:xfrm>
            <a:off x="661294" y="3989710"/>
            <a:ext cx="286756" cy="286756"/>
          </a:xfrm>
          <a:prstGeom prst="rect">
            <a:avLst/>
          </a:prstGeom>
        </p:spPr>
      </p:pic>
      <p:sp>
        <p:nvSpPr>
          <p:cNvPr id="21013" name="Text 7"/>
          <p:cNvSpPr txBox="1"/>
          <p:nvPr/>
        </p:nvSpPr>
        <p:spPr>
          <a:xfrm>
            <a:off x="1261872" y="380390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Zoom med glød</a:t>
            </a:r>
            <a:endParaRPr lang="en-US" sz="1700" dirty="0"/>
          </a:p>
          <a:p>
            <a:pPr indent="0" marL="0">
              <a:spcAft>
                <a:spcPts val="200"/>
              </a:spcAft>
              <a:buNone/>
            </a:pPr>
            <a:r>
              <a:rPr lang="en-US" sz="1400" dirty="0">
                <a:solidFill>
                  <a:schemeClr val="accent4"/>
                </a:solidFill>
              </a:rPr>
              <a:t>Klikk for å zoome helt inn – cachen gløder i kartet. Klikk igjen for å gå tilbake</a:t>
            </a:r>
            <a:endParaRPr lang="en-US" sz="1700" dirty="0"/>
          </a:p>
        </p:txBody>
      </p:sp>
      <p:sp>
        <p:nvSpPr>
          <p:cNvPr id="21014" name="Ikon external sirkel"/>
          <p:cNvSpPr/>
          <p:nvPr/>
        </p:nvSpPr>
        <p:spPr>
          <a:xfrm>
            <a:off x="548640" y="5065776"/>
            <a:ext cx="512064" cy="512064"/>
          </a:xfrm>
          <a:prstGeom prst="ellipse">
            <a:avLst/>
          </a:prstGeom>
          <a:solidFill>
            <a:schemeClr val="accent1"/>
          </a:solidFill>
          <a:ln/>
        </p:spPr>
      </p:sp>
      <p:pic>
        <p:nvPicPr>
          <p:cNvPr id="21015" name="Ikon external" descr="external">    </p:cNvPr>
          <p:cNvPicPr>
            <a:picLocks noChangeAspect="1"/>
          </p:cNvPicPr>
          <p:nvPr/>
        </p:nvPicPr>
        <p:blipFill>
          <a:blip r:embed="rId5"/>
          <a:stretch>
            <a:fillRect/>
          </a:stretch>
        </p:blipFill>
        <p:spPr>
          <a:xfrm>
            <a:off x="661294" y="5178430"/>
            <a:ext cx="286756" cy="286756"/>
          </a:xfrm>
          <a:prstGeom prst="rect">
            <a:avLst/>
          </a:prstGeom>
        </p:spPr>
      </p:pic>
      <p:sp>
        <p:nvSpPr>
          <p:cNvPr id="21016" name="Text 9"/>
          <p:cNvSpPr txBox="1"/>
          <p:nvPr/>
        </p:nvSpPr>
        <p:spPr>
          <a:xfrm>
            <a:off x="1261872" y="499262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Cachesiden</a:t>
            </a:r>
            <a:endParaRPr lang="en-US" sz="1700" dirty="0"/>
          </a:p>
          <a:p>
            <a:pPr indent="0" marL="0">
              <a:spcAft>
                <a:spcPts val="200"/>
              </a:spcAft>
              <a:buNone/>
            </a:pPr>
            <a:r>
              <a:rPr lang="en-US" sz="1400" dirty="0">
                <a:solidFill>
                  <a:schemeClr val="accent4"/>
                </a:solidFill>
              </a:rPr>
              <a:t>Knappen på linjen åpner cachesiden i en ny fane</a:t>
            </a:r>
            <a:endParaRPr lang="en-US" sz="1700" dirty="0"/>
          </a:p>
        </p:txBody>
      </p:sp>
      <p:sp>
        <p:nvSpPr>
          <p:cNvPr id="21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der noe er utplassert</a:t>
            </a:r>
            <a:endParaRPr lang="en-US" sz="3600" dirty="0"/>
          </a:p>
        </p:txBody>
      </p:sp>
      <p:sp>
        <p:nvSpPr>
          <p:cNvPr id="22003" name="Ikon circles sirkel"/>
          <p:cNvSpPr/>
          <p:nvPr/>
        </p:nvSpPr>
        <p:spPr>
          <a:xfrm>
            <a:off x="548640" y="1499616"/>
            <a:ext cx="512064" cy="512064"/>
          </a:xfrm>
          <a:prstGeom prst="ellipse">
            <a:avLst/>
          </a:prstGeom>
          <a:solidFill>
            <a:schemeClr val="accent1"/>
          </a:solidFill>
          <a:ln/>
        </p:spPr>
      </p:sp>
      <p:pic>
        <p:nvPicPr>
          <p:cNvPr id="22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2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Tradisjonelle cacher</a:t>
            </a:r>
            <a:endParaRPr lang="en-US" sz="1700" dirty="0"/>
          </a:p>
          <a:p>
            <a:pPr indent="0" marL="0">
              <a:spcAft>
                <a:spcPts val="200"/>
              </a:spcAft>
              <a:buNone/>
            </a:pPr>
            <a:r>
              <a:rPr lang="en-US" sz="1400" dirty="0">
                <a:solidFill>
                  <a:schemeClr val="accent4"/>
                </a:solidFill>
              </a:rPr>
              <a:t>På de nøyaktige publiserte koordinatene</a:t>
            </a:r>
            <a:endParaRPr lang="en-US" sz="1700" dirty="0"/>
          </a:p>
        </p:txBody>
      </p:sp>
      <p:sp>
        <p:nvSpPr>
          <p:cNvPr id="22006" name="Ikon check sirkel"/>
          <p:cNvSpPr/>
          <p:nvPr/>
        </p:nvSpPr>
        <p:spPr>
          <a:xfrm>
            <a:off x="548640" y="2642616"/>
            <a:ext cx="512064" cy="512064"/>
          </a:xfrm>
          <a:prstGeom prst="ellipse">
            <a:avLst/>
          </a:prstGeom>
          <a:solidFill>
            <a:schemeClr val="accent1"/>
          </a:solidFill>
          <a:ln/>
        </p:spPr>
      </p:sp>
      <p:pic>
        <p:nvPicPr>
          <p:cNvPr id="22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2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Løste cacher</a:t>
            </a:r>
            <a:endParaRPr lang="en-US" sz="1700" dirty="0"/>
          </a:p>
          <a:p>
            <a:pPr indent="0" marL="0">
              <a:spcAft>
                <a:spcPts val="200"/>
              </a:spcAft>
              <a:buNone/>
            </a:pPr>
            <a:r>
              <a:rPr lang="en-US" sz="1400" dirty="0">
                <a:solidFill>
                  <a:schemeClr val="accent4"/>
                </a:solidFill>
              </a:rPr>
              <a:t>På dine korrigerte koordinater – også når ikonet er flyttet tilbake etter funn</a:t>
            </a:r>
            <a:endParaRPr lang="en-US" sz="1700" dirty="0"/>
          </a:p>
        </p:txBody>
      </p:sp>
      <p:sp>
        <p:nvSpPr>
          <p:cNvPr id="22009" name="Ikon pin sirkel"/>
          <p:cNvSpPr/>
          <p:nvPr/>
        </p:nvSpPr>
        <p:spPr>
          <a:xfrm>
            <a:off x="548640" y="3785616"/>
            <a:ext cx="512064" cy="512064"/>
          </a:xfrm>
          <a:prstGeom prst="ellipse">
            <a:avLst/>
          </a:prstGeom>
          <a:solidFill>
            <a:schemeClr val="accent1"/>
          </a:solidFill>
          <a:ln/>
        </p:spPr>
      </p:sp>
      <p:pic>
        <p:nvPicPr>
          <p:cNvPr id="22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2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Fysiske steg og final</a:t>
            </a:r>
            <a:endParaRPr lang="en-US" sz="1700" dirty="0"/>
          </a:p>
          <a:p>
            <a:pPr indent="0" marL="0">
              <a:spcAft>
                <a:spcPts val="200"/>
              </a:spcAft>
              <a:buNone/>
            </a:pPr>
            <a:r>
              <a:rPr lang="en-US" sz="1400" dirty="0">
                <a:solidFill>
                  <a:schemeClr val="accent4"/>
                </a:solidFill>
              </a:rPr>
              <a:t>Synlige steg i multier, mysterier, Wherigoer og letterboxer, lest fra cachesiden</a:t>
            </a:r>
            <a:endParaRPr lang="en-US" sz="1700" dirty="0"/>
          </a:p>
        </p:txBody>
      </p:sp>
      <p:sp>
        <p:nvSpPr>
          <p:cNvPr id="22012" name="Ikon ring sirkel"/>
          <p:cNvSpPr/>
          <p:nvPr/>
        </p:nvSpPr>
        <p:spPr>
          <a:xfrm>
            <a:off x="548640" y="4928616"/>
            <a:ext cx="512064" cy="512064"/>
          </a:xfrm>
          <a:prstGeom prst="ellipse">
            <a:avLst/>
          </a:prstGeom>
          <a:solidFill>
            <a:schemeClr val="accent1"/>
          </a:solidFill>
          <a:ln/>
        </p:spPr>
      </p:sp>
      <p:pic>
        <p:nvPicPr>
          <p:cNvPr id="22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2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Enkeltsirkel</a:t>
            </a:r>
            <a:endParaRPr lang="en-US" sz="1700" dirty="0"/>
          </a:p>
          <a:p>
            <a:pPr indent="0" marL="0">
              <a:spcAft>
                <a:spcPts val="200"/>
              </a:spcAft>
              <a:buNone/>
            </a:pPr>
            <a:r>
              <a:rPr lang="en-US" sz="1400" dirty="0">
                <a:solidFill>
                  <a:schemeClr val="accent4"/>
                </a:solidFill>
              </a:rPr>
              <a:t>Høyreklikk hvor som helst og velg 161 m-sirkel</a:t>
            </a:r>
            <a:endParaRPr lang="en-US" sz="1700" dirty="0"/>
          </a:p>
        </p:txBody>
      </p:sp>
      <p:sp>
        <p:nvSpPr>
          <p:cNvPr id="22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2016" name="Merke ved en løst cache" descr="Merke ved en løst cache">    </p:cNvPr>
          <p:cNvPicPr>
            <a:picLocks noChangeAspect="1"/>
          </p:cNvPicPr>
          <p:nvPr/>
        </p:nvPicPr>
        <p:blipFill>
          <a:blip r:embed="rId5"/>
          <a:stretch>
            <a:fillRect/>
          </a:stretch>
        </p:blipFill>
        <p:spPr>
          <a:xfrm>
            <a:off x="8058607" y="1664208"/>
            <a:ext cx="3328416" cy="2432304"/>
          </a:xfrm>
          <a:prstGeom prst="rect">
            <a:avLst/>
          </a:prstGeom>
        </p:spPr>
      </p:pic>
      <p:sp>
        <p:nvSpPr>
          <p:cNvPr id="22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Der ikke noe cacheikon viser stedet, står et klikkbart merke midt i sirkelen. Musepekeren over en løst cache viser «Endelig plassering»; høyreklikk gir nøyaktige koordinater.</a:t>
            </a:r>
            <a:endParaRPr lang="en-US" sz="1500" dirty="0"/>
          </a:p>
        </p:txBody>
      </p:sp>
      <p:sp>
        <p:nvSpPr>
          <p:cNvPr id="22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cachesider og hjem</a:t>
            </a:r>
            <a:endParaRPr lang="en-US" sz="3600" dirty="0"/>
          </a:p>
        </p:txBody>
      </p:sp>
      <p:sp>
        <p:nvSpPr>
          <p:cNvPr id="23003" name="Kort 161 m-sirkler"/>
          <p:cNvSpPr/>
          <p:nvPr/>
        </p:nvSpPr>
        <p:spPr>
          <a:xfrm>
            <a:off x="548640" y="1508760"/>
            <a:ext cx="3484778" cy="4206240"/>
          </a:xfrm>
          <a:prstGeom prst="roundRect">
            <a:avLst>
              <a:gd name="adj" fmla="val 3149"/>
            </a:avLst>
          </a:prstGeom>
          <a:solidFill>
            <a:schemeClr val="bg2"/>
          </a:solidFill>
          <a:ln/>
        </p:spPr>
      </p:sp>
      <p:sp>
        <p:nvSpPr>
          <p:cNvPr id="23004" name="Ikon circles sirkel"/>
          <p:cNvSpPr/>
          <p:nvPr/>
        </p:nvSpPr>
        <p:spPr>
          <a:xfrm>
            <a:off x="914400" y="1920240"/>
            <a:ext cx="822960" cy="822960"/>
          </a:xfrm>
          <a:prstGeom prst="ellipse">
            <a:avLst/>
          </a:prstGeom>
          <a:solidFill>
            <a:schemeClr val="accent1"/>
          </a:solidFill>
          <a:ln/>
        </p:spPr>
      </p:sp>
      <p:pic>
        <p:nvPicPr>
          <p:cNvPr id="23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3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m-sirkler</a:t>
            </a:r>
            <a:endParaRPr lang="en-US" sz="2200" dirty="0"/>
          </a:p>
        </p:txBody>
      </p:sp>
      <p:sp>
        <p:nvSpPr>
          <p:cNvPr id="23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Der noe er utplassert – se forrige lysbilde</a:t>
            </a:r>
            <a:endParaRPr lang="en-US" sz="1700" dirty="0"/>
          </a:p>
          <a:p>
            <a:pPr marL="228600" indent="-228600">
              <a:spcAft>
                <a:spcPts val="800"/>
              </a:spcAft>
              <a:buSzPct val="100000"/>
              <a:buChar char="•"/>
            </a:pPr>
            <a:r>
              <a:rPr lang="en-US" sz="1700" dirty="0">
                <a:solidFill>
                  <a:schemeClr val="tx1"/>
                </a:solidFill>
              </a:rPr>
              <a:t>Vises fra zoomnivå 15</a:t>
            </a:r>
            <a:endParaRPr lang="en-US" sz="1700" dirty="0"/>
          </a:p>
          <a:p>
            <a:pPr marL="228600" indent="-228600">
              <a:spcAft>
                <a:spcPts val="800"/>
              </a:spcAft>
              <a:buSzPct val="100000"/>
              <a:buChar char="•"/>
            </a:pPr>
            <a:r>
              <a:rPr lang="en-US" sz="1700" dirty="0">
                <a:solidFill>
                  <a:schemeClr val="tx1"/>
                </a:solidFill>
              </a:rPr>
              <a:t>Følger kartet og hindrer aldri klikk</a:t>
            </a:r>
            <a:endParaRPr lang="en-US" sz="1700" dirty="0"/>
          </a:p>
          <a:p>
            <a:pPr marL="228600" indent="-228600">
              <a:spcAft>
                <a:spcPts val="800"/>
              </a:spcAft>
              <a:buSzPct val="100000"/>
              <a:buChar char="•"/>
            </a:pPr>
            <a:r>
              <a:rPr lang="en-US" sz="1700" dirty="0">
                <a:solidFill>
                  <a:schemeClr val="tx1"/>
                </a:solidFill>
              </a:rPr>
              <a:t>Enkeltsirkel: høyreklikk</a:t>
            </a:r>
            <a:endParaRPr lang="en-US" sz="1700" dirty="0"/>
          </a:p>
        </p:txBody>
      </p:sp>
      <p:sp>
        <p:nvSpPr>
          <p:cNvPr id="23008" name="Kort Cachesider"/>
          <p:cNvSpPr/>
          <p:nvPr/>
        </p:nvSpPr>
        <p:spPr>
          <a:xfrm>
            <a:off x="4353458" y="1508760"/>
            <a:ext cx="3484778" cy="4206240"/>
          </a:xfrm>
          <a:prstGeom prst="roundRect">
            <a:avLst>
              <a:gd name="adj" fmla="val 3149"/>
            </a:avLst>
          </a:prstGeom>
          <a:solidFill>
            <a:schemeClr val="bg2"/>
          </a:solidFill>
          <a:ln/>
        </p:spPr>
      </p:sp>
      <p:sp>
        <p:nvSpPr>
          <p:cNvPr id="23009" name="Ikon layers sirkel"/>
          <p:cNvSpPr/>
          <p:nvPr/>
        </p:nvSpPr>
        <p:spPr>
          <a:xfrm>
            <a:off x="4719218" y="1920240"/>
            <a:ext cx="822960" cy="822960"/>
          </a:xfrm>
          <a:prstGeom prst="ellipse">
            <a:avLst/>
          </a:prstGeom>
          <a:solidFill>
            <a:schemeClr val="accent1"/>
          </a:solidFill>
          <a:ln/>
        </p:spPr>
      </p:sp>
      <p:pic>
        <p:nvPicPr>
          <p:cNvPr id="23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3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Cachesider</a:t>
            </a:r>
            <a:endParaRPr lang="en-US" sz="2200" dirty="0"/>
          </a:p>
        </p:txBody>
      </p:sp>
      <p:sp>
        <p:nvSpPr>
          <p:cNvPr id="23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Det lille kartet viser ditt valgte kart</a:t>
            </a:r>
            <a:endParaRPr lang="en-US" sz="1700" dirty="0"/>
          </a:p>
          <a:p>
            <a:pPr marL="228600" indent="-228600">
              <a:spcAft>
                <a:spcPts val="800"/>
              </a:spcAft>
              <a:buSzPct val="100000"/>
              <a:buChar char="•"/>
            </a:pPr>
            <a:r>
              <a:rPr lang="en-US" sz="1700" dirty="0">
                <a:solidFill>
                  <a:schemeClr val="tx1"/>
                </a:solidFill>
              </a:rPr>
              <a:t>Samme demping og overlegg</a:t>
            </a:r>
            <a:endParaRPr lang="en-US" sz="1700" dirty="0"/>
          </a:p>
          <a:p>
            <a:pPr marL="228600" indent="-228600">
              <a:spcAft>
                <a:spcPts val="800"/>
              </a:spcAft>
              <a:buSzPct val="100000"/>
              <a:buChar char="•"/>
            </a:pPr>
            <a:r>
              <a:rPr lang="en-US" sz="1700" dirty="0">
                <a:solidFill>
                  <a:schemeClr val="tx1"/>
                </a:solidFill>
              </a:rPr>
              <a:t>Beholder nettstedets utsnitt</a:t>
            </a:r>
            <a:endParaRPr lang="en-US" sz="1700" dirty="0"/>
          </a:p>
          <a:p>
            <a:pPr marL="228600" indent="-228600">
              <a:spcAft>
                <a:spcPts val="800"/>
              </a:spcAft>
              <a:buSzPct val="100000"/>
              <a:buChar char="•"/>
            </a:pPr>
            <a:r>
              <a:rPr lang="en-US" sz="1700" dirty="0">
                <a:solidFill>
                  <a:schemeClr val="tx1"/>
                </a:solidFill>
              </a:rPr>
              <a:t>Endrer aldri valget ditt</a:t>
            </a:r>
            <a:endParaRPr lang="en-US" sz="1700" dirty="0"/>
          </a:p>
        </p:txBody>
      </p:sp>
      <p:sp>
        <p:nvSpPr>
          <p:cNvPr id="23013" name="Kort Hjem"/>
          <p:cNvSpPr/>
          <p:nvPr/>
        </p:nvSpPr>
        <p:spPr>
          <a:xfrm>
            <a:off x="8158277" y="1508760"/>
            <a:ext cx="3484778" cy="4206240"/>
          </a:xfrm>
          <a:prstGeom prst="roundRect">
            <a:avLst>
              <a:gd name="adj" fmla="val 3149"/>
            </a:avLst>
          </a:prstGeom>
          <a:solidFill>
            <a:schemeClr val="bg2"/>
          </a:solidFill>
          <a:ln/>
        </p:spPr>
      </p:sp>
      <p:sp>
        <p:nvSpPr>
          <p:cNvPr id="23014" name="Ikon home sirkel"/>
          <p:cNvSpPr/>
          <p:nvPr/>
        </p:nvSpPr>
        <p:spPr>
          <a:xfrm>
            <a:off x="8524037" y="1920240"/>
            <a:ext cx="822960" cy="822960"/>
          </a:xfrm>
          <a:prstGeom prst="ellipse">
            <a:avLst/>
          </a:prstGeom>
          <a:solidFill>
            <a:schemeClr val="accent1"/>
          </a:solidFill>
          <a:ln/>
        </p:spPr>
      </p:sp>
      <p:pic>
        <p:nvPicPr>
          <p:cNvPr id="23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3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Hjem</a:t>
            </a:r>
            <a:endParaRPr lang="en-US" sz="2200" dirty="0"/>
          </a:p>
        </p:txBody>
      </p:sp>
      <p:sp>
        <p:nvSpPr>
          <p:cNvPr id="23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Ett klikk tar deg hjem</a:t>
            </a:r>
            <a:endParaRPr lang="en-US" sz="1700" dirty="0"/>
          </a:p>
          <a:p>
            <a:pPr marL="228600" indent="-228600">
              <a:spcAft>
                <a:spcPts val="800"/>
              </a:spcAft>
              <a:buSzPct val="100000"/>
              <a:buChar char="•"/>
            </a:pPr>
            <a:r>
              <a:rPr lang="en-US" sz="1700" dirty="0">
                <a:solidFill>
                  <a:schemeClr val="tx1"/>
                </a:solidFill>
              </a:rPr>
              <a:t>Første gang søker du opp adressen</a:t>
            </a:r>
            <a:endParaRPr lang="en-US" sz="1700" dirty="0"/>
          </a:p>
          <a:p>
            <a:pPr marL="228600" indent="-228600">
              <a:spcAft>
                <a:spcPts val="800"/>
              </a:spcAft>
              <a:buSzPct val="100000"/>
              <a:buChar char="•"/>
            </a:pPr>
            <a:r>
              <a:rPr lang="en-US" sz="1700" dirty="0">
                <a:solidFill>
                  <a:schemeClr val="tx1"/>
                </a:solidFill>
              </a:rPr>
              <a:t>Lagres bare i nettleseren din</a:t>
            </a:r>
            <a:endParaRPr lang="en-US" sz="1700" dirty="0"/>
          </a:p>
        </p:txBody>
      </p:sp>
      <p:sp>
        <p:nvSpPr>
          <p:cNvPr id="23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Slik ligger kartlagene</a:t>
            </a:r>
            <a:endParaRPr lang="en-US" sz="3600" dirty="0"/>
          </a:p>
        </p:txBody>
      </p:sp>
      <p:sp>
        <p:nvSpPr>
          <p:cNvPr id="24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OVER KARTFLISENE</a:t>
            </a:r>
            <a:endParaRPr lang="en-US" sz="1100" dirty="0"/>
          </a:p>
        </p:txBody>
      </p:sp>
      <p:sp>
        <p:nvSpPr>
          <p:cNvPr id="24004" name="Lag Kontroller"/>
          <p:cNvSpPr/>
          <p:nvPr/>
        </p:nvSpPr>
        <p:spPr>
          <a:xfrm>
            <a:off x="548640" y="1517904"/>
            <a:ext cx="11094415" cy="384048"/>
          </a:xfrm>
          <a:prstGeom prst="roundRect">
            <a:avLst>
              <a:gd name="adj" fmla="val 16667"/>
            </a:avLst>
          </a:prstGeom>
          <a:solidFill>
            <a:schemeClr val="bg2"/>
          </a:solidFill>
          <a:ln/>
        </p:spPr>
      </p:sp>
      <p:sp>
        <p:nvSpPr>
          <p:cNvPr id="24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Kontroller</a:t>
            </a:r>
            <a:endParaRPr lang="en-US" sz="1400" dirty="0"/>
          </a:p>
        </p:txBody>
      </p:sp>
      <p:sp>
        <p:nvSpPr>
          <p:cNvPr id="24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kontroller · 1000</a:t>
            </a:r>
            <a:endParaRPr lang="en-US" sz="1200" dirty="0"/>
          </a:p>
        </p:txBody>
      </p:sp>
      <p:sp>
        <p:nvSpPr>
          <p:cNvPr id="24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verktøylinjen, kartlagpanelet, koordinatvisningen og kreditteringen</a:t>
            </a:r>
            <a:endParaRPr lang="en-US" sz="1300" dirty="0"/>
          </a:p>
        </p:txBody>
      </p:sp>
      <p:sp>
        <p:nvSpPr>
          <p:cNvPr id="24008" name="Lag Bobler"/>
          <p:cNvSpPr/>
          <p:nvPr/>
        </p:nvSpPr>
        <p:spPr>
          <a:xfrm>
            <a:off x="548640" y="1947672"/>
            <a:ext cx="11094415" cy="384048"/>
          </a:xfrm>
          <a:prstGeom prst="roundRect">
            <a:avLst>
              <a:gd name="adj" fmla="val 16667"/>
            </a:avLst>
          </a:prstGeom>
          <a:solidFill>
            <a:schemeClr val="bg2"/>
          </a:solidFill>
          <a:ln/>
        </p:spPr>
      </p:sp>
      <p:sp>
        <p:nvSpPr>
          <p:cNvPr id="24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Bobler</a:t>
            </a:r>
            <a:endParaRPr lang="en-US" sz="1400" dirty="0"/>
          </a:p>
        </p:txBody>
      </p:sp>
      <p:sp>
        <p:nvSpPr>
          <p:cNvPr id="24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4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høyreklikkboblen og andre kartbobler</a:t>
            </a:r>
            <a:endParaRPr lang="en-US" sz="1300" dirty="0"/>
          </a:p>
        </p:txBody>
      </p:sp>
      <p:sp>
        <p:nvSpPr>
          <p:cNvPr id="24012" name="Lag Markører"/>
          <p:cNvSpPr/>
          <p:nvPr/>
        </p:nvSpPr>
        <p:spPr>
          <a:xfrm>
            <a:off x="548640" y="2377440"/>
            <a:ext cx="11094415" cy="384048"/>
          </a:xfrm>
          <a:prstGeom prst="roundRect">
            <a:avLst>
              <a:gd name="adj" fmla="val 16667"/>
            </a:avLst>
          </a:prstGeom>
          <a:solidFill>
            <a:schemeClr val="bg2"/>
          </a:solidFill>
          <a:ln/>
        </p:spPr>
      </p:sp>
      <p:sp>
        <p:nvSpPr>
          <p:cNvPr id="24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Markører</a:t>
            </a:r>
            <a:endParaRPr lang="en-US" sz="1400" dirty="0"/>
          </a:p>
        </p:txBody>
      </p:sp>
      <p:sp>
        <p:nvSpPr>
          <p:cNvPr id="24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4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cacheikonene på /play/map, merkenåler, etiketter og posisjonen din</a:t>
            </a:r>
            <a:endParaRPr lang="en-US" sz="1300" dirty="0"/>
          </a:p>
        </p:txBody>
      </p:sp>
      <p:sp>
        <p:nvSpPr>
          <p:cNvPr id="24016" name="Lag Tegninger"/>
          <p:cNvSpPr/>
          <p:nvPr/>
        </p:nvSpPr>
        <p:spPr>
          <a:xfrm>
            <a:off x="548640" y="2807208"/>
            <a:ext cx="11094415" cy="384048"/>
          </a:xfrm>
          <a:prstGeom prst="roundRect">
            <a:avLst>
              <a:gd name="adj" fmla="val 16667"/>
            </a:avLst>
          </a:prstGeom>
          <a:solidFill>
            <a:schemeClr val="bg2"/>
          </a:solidFill>
          <a:ln/>
        </p:spPr>
      </p:sp>
      <p:sp>
        <p:nvSpPr>
          <p:cNvPr id="24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Tegninger</a:t>
            </a:r>
            <a:endParaRPr lang="en-US" sz="1400" dirty="0"/>
          </a:p>
        </p:txBody>
      </p:sp>
      <p:sp>
        <p:nvSpPr>
          <p:cNvPr id="24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4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m-sirkler, målelinjer, projiseringslinjer og nøyaktighetssirkelen</a:t>
            </a:r>
            <a:endParaRPr lang="en-US" sz="1300" dirty="0"/>
          </a:p>
        </p:txBody>
      </p:sp>
      <p:sp>
        <p:nvSpPr>
          <p:cNvPr id="24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KARTFLISENE (TILEPANE · 200) – SORTERT ETTER Z-INDEKS</a:t>
            </a:r>
            <a:endParaRPr lang="en-US" sz="1100" dirty="0"/>
          </a:p>
        </p:txBody>
      </p:sp>
      <p:sp>
        <p:nvSpPr>
          <p:cNvPr id="24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4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Nettstedets øvrige fliser</a:t>
            </a:r>
            <a:endParaRPr lang="en-US" sz="1400" dirty="0"/>
          </a:p>
        </p:txBody>
      </p:sp>
      <p:sp>
        <p:nvSpPr>
          <p:cNvPr id="24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4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cacheikonene på /map – løftes alltid over dine lag</a:t>
            </a:r>
            <a:endParaRPr lang="en-US" sz="1300" dirty="0"/>
          </a:p>
        </p:txBody>
      </p:sp>
      <p:sp>
        <p:nvSpPr>
          <p:cNvPr id="24025" name="Lag Forhåndsvisning"/>
          <p:cNvSpPr/>
          <p:nvPr/>
        </p:nvSpPr>
        <p:spPr>
          <a:xfrm>
            <a:off x="548640" y="4069080"/>
            <a:ext cx="11094415" cy="384048"/>
          </a:xfrm>
          <a:prstGeom prst="roundRect">
            <a:avLst>
              <a:gd name="adj" fmla="val 16667"/>
            </a:avLst>
          </a:prstGeom>
          <a:solidFill>
            <a:schemeClr val="accent3"/>
          </a:solidFill>
          <a:ln/>
        </p:spPr>
      </p:sp>
      <p:sp>
        <p:nvSpPr>
          <p:cNvPr id="24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Forhåndsvisning</a:t>
            </a:r>
            <a:endParaRPr lang="en-US" sz="1400" dirty="0"/>
          </a:p>
        </p:txBody>
      </p:sp>
      <p:sp>
        <p:nvSpPr>
          <p:cNvPr id="24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4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laget du prøver i redigeringsdialogen</a:t>
            </a:r>
            <a:endParaRPr lang="en-US" sz="1300" dirty="0"/>
          </a:p>
        </p:txBody>
      </p:sp>
      <p:sp>
        <p:nvSpPr>
          <p:cNvPr id="24029" name="Lag Dine overlegg"/>
          <p:cNvSpPr/>
          <p:nvPr/>
        </p:nvSpPr>
        <p:spPr>
          <a:xfrm>
            <a:off x="548640" y="4498848"/>
            <a:ext cx="11094415" cy="384048"/>
          </a:xfrm>
          <a:prstGeom prst="roundRect">
            <a:avLst>
              <a:gd name="adj" fmla="val 16667"/>
            </a:avLst>
          </a:prstGeom>
          <a:solidFill>
            <a:schemeClr val="accent1"/>
          </a:solidFill>
          <a:ln/>
        </p:spPr>
      </p:sp>
      <p:sp>
        <p:nvSpPr>
          <p:cNvPr id="24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Dine overlegg</a:t>
            </a:r>
            <a:endParaRPr lang="en-US" sz="1400" dirty="0"/>
          </a:p>
        </p:txBody>
      </p:sp>
      <p:sp>
        <p:nvSpPr>
          <p:cNvPr id="24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4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turruter, eiendomsgrenser, terrengskygge – egen glidebryter for synlighet</a:t>
            </a:r>
            <a:endParaRPr lang="en-US" sz="1300" dirty="0"/>
          </a:p>
        </p:txBody>
      </p:sp>
      <p:sp>
        <p:nvSpPr>
          <p:cNvPr id="24033" name="Lag Ditt bakgrunnskart"/>
          <p:cNvSpPr/>
          <p:nvPr/>
        </p:nvSpPr>
        <p:spPr>
          <a:xfrm>
            <a:off x="548640" y="4928616"/>
            <a:ext cx="11094415" cy="384048"/>
          </a:xfrm>
          <a:prstGeom prst="roundRect">
            <a:avLst>
              <a:gd name="adj" fmla="val 16667"/>
            </a:avLst>
          </a:prstGeom>
          <a:solidFill>
            <a:schemeClr val="tx2"/>
          </a:solidFill>
          <a:ln/>
        </p:spPr>
      </p:sp>
      <p:sp>
        <p:nvSpPr>
          <p:cNvPr id="24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Ditt bakgrunnskart</a:t>
            </a:r>
            <a:endParaRPr lang="en-US" sz="1400" dirty="0"/>
          </a:p>
        </p:txBody>
      </p:sp>
      <p:sp>
        <p:nvSpPr>
          <p:cNvPr id="24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4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helt dekkende – dempes mot hvitt med fargefilter, høyst 50 %</a:t>
            </a:r>
            <a:endParaRPr lang="en-US" sz="1300" dirty="0"/>
          </a:p>
        </p:txBody>
      </p:sp>
      <p:sp>
        <p:nvSpPr>
          <p:cNvPr id="24037" name="Lag geocaching.com-kartet"/>
          <p:cNvSpPr/>
          <p:nvPr/>
        </p:nvSpPr>
        <p:spPr>
          <a:xfrm>
            <a:off x="548640" y="5358384"/>
            <a:ext cx="11094415" cy="384048"/>
          </a:xfrm>
          <a:prstGeom prst="roundRect">
            <a:avLst>
              <a:gd name="adj" fmla="val 16667"/>
            </a:avLst>
          </a:prstGeom>
          <a:solidFill>
            <a:schemeClr val="accent5"/>
          </a:solidFill>
          <a:ln/>
        </p:spPr>
      </p:sp>
      <p:sp>
        <p:nvSpPr>
          <p:cNvPr id="24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geocaching.com-kartet</a:t>
            </a:r>
            <a:endParaRPr lang="en-US" sz="1400" dirty="0"/>
          </a:p>
        </p:txBody>
      </p:sp>
      <p:sp>
        <p:nvSpPr>
          <p:cNvPr id="24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4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nettstedets bakgrunn – dekkes av ditt kart, dempes når det selv er valgt</a:t>
            </a:r>
            <a:endParaRPr lang="en-US" sz="1300" dirty="0"/>
          </a:p>
        </p:txBody>
      </p:sp>
      <p:sp>
        <p:nvSpPr>
          <p:cNvPr id="24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z-indeksen til nettstedets bakgrunn. På /play/map er nettstedets bakgrunn et vektorkart (WebGL). På /map lastes i tillegg et usynlig cacherutenett (UTFGrid) som brukes til 161 m-sirklene og til å feste høyreklikkboblen til cacher.</a:t>
            </a:r>
            <a:endParaRPr lang="en-US" sz="1150" dirty="0"/>
          </a:p>
        </p:txBody>
      </p:sp>
      <p:sp>
        <p:nvSpPr>
          <p:cNvPr id="24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panseret</a:t>
            </a:r>
            <a:endParaRPr lang="en-US" sz="3600" dirty="0"/>
          </a:p>
        </p:txBody>
      </p:sp>
      <p:sp>
        <p:nvSpPr>
          <p:cNvPr id="25003" name="Ikon layers sirkel"/>
          <p:cNvSpPr/>
          <p:nvPr/>
        </p:nvSpPr>
        <p:spPr>
          <a:xfrm>
            <a:off x="548640" y="1591056"/>
            <a:ext cx="512064" cy="512064"/>
          </a:xfrm>
          <a:prstGeom prst="ellipse">
            <a:avLst/>
          </a:prstGeom>
          <a:solidFill>
            <a:schemeClr val="accent1"/>
          </a:solidFill>
          <a:ln/>
        </p:spPr>
      </p:sp>
      <p:pic>
        <p:nvPicPr>
          <p:cNvPr id="25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5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Fjerner aldri nettstedets lag</a:t>
            </a:r>
            <a:endParaRPr lang="en-US" sz="1700" dirty="0"/>
          </a:p>
          <a:p>
            <a:pPr indent="0" marL="0">
              <a:spcAft>
                <a:spcPts val="200"/>
              </a:spcAft>
              <a:buNone/>
            </a:pPr>
            <a:r>
              <a:rPr lang="en-US" sz="1400" dirty="0">
                <a:solidFill>
                  <a:schemeClr val="accent4"/>
                </a:solidFill>
              </a:rPr>
              <a:t>Skriptet legger sine egne lag inn mellom, sortert etter z-indeks</a:t>
            </a:r>
            <a:endParaRPr lang="en-US" sz="1700" dirty="0"/>
          </a:p>
        </p:txBody>
      </p:sp>
      <p:sp>
        <p:nvSpPr>
          <p:cNvPr id="25006" name="Ikon eraser sirkel"/>
          <p:cNvSpPr/>
          <p:nvPr/>
        </p:nvSpPr>
        <p:spPr>
          <a:xfrm>
            <a:off x="548640" y="2916936"/>
            <a:ext cx="512064" cy="512064"/>
          </a:xfrm>
          <a:prstGeom prst="ellipse">
            <a:avLst/>
          </a:prstGeom>
          <a:solidFill>
            <a:schemeClr val="accent1"/>
          </a:solidFill>
          <a:ln/>
        </p:spPr>
      </p:sp>
      <p:pic>
        <p:nvPicPr>
          <p:cNvPr id="25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5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Ingen skjøter mellom flisene</a:t>
            </a:r>
            <a:endParaRPr lang="en-US" sz="1700" dirty="0"/>
          </a:p>
          <a:p>
            <a:pPr indent="0" marL="0">
              <a:spcAft>
                <a:spcPts val="200"/>
              </a:spcAft>
              <a:buNone/>
            </a:pPr>
            <a:r>
              <a:rPr lang="en-US" sz="1400" dirty="0">
                <a:solidFill>
                  <a:schemeClr val="accent4"/>
                </a:solidFill>
              </a:rPr>
              <a:t>Flisene tegnes 1 piksel større, også ved 110 og 125 % skjermskalering</a:t>
            </a:r>
            <a:endParaRPr lang="en-US" sz="1700" dirty="0"/>
          </a:p>
        </p:txBody>
      </p:sp>
      <p:sp>
        <p:nvSpPr>
          <p:cNvPr id="25009" name="Ikon ring sirkel"/>
          <p:cNvSpPr/>
          <p:nvPr/>
        </p:nvSpPr>
        <p:spPr>
          <a:xfrm>
            <a:off x="548640" y="4242816"/>
            <a:ext cx="512064" cy="512064"/>
          </a:xfrm>
          <a:prstGeom prst="ellipse">
            <a:avLst/>
          </a:prstGeom>
          <a:solidFill>
            <a:schemeClr val="accent1"/>
          </a:solidFill>
          <a:ln/>
        </p:spPr>
      </p:sp>
      <p:pic>
        <p:nvPicPr>
          <p:cNvPr id="25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5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uten gjennomskinn</a:t>
            </a:r>
            <a:endParaRPr lang="en-US" sz="1700" dirty="0"/>
          </a:p>
          <a:p>
            <a:pPr indent="0" marL="0">
              <a:spcAft>
                <a:spcPts val="200"/>
              </a:spcAft>
              <a:buNone/>
            </a:pPr>
            <a:r>
              <a:rPr lang="en-US" sz="1400" dirty="0">
                <a:solidFill>
                  <a:schemeClr val="accent4"/>
                </a:solidFill>
              </a:rPr>
              <a:t>Et fargefilter bleker kartet mot hvitt – nettstedets kart skinner aldri gjennom</a:t>
            </a:r>
            <a:endParaRPr lang="en-US" sz="1700" dirty="0"/>
          </a:p>
        </p:txBody>
      </p:sp>
      <p:sp>
        <p:nvSpPr>
          <p:cNvPr id="25012" name="Ikon locate sirkel"/>
          <p:cNvSpPr/>
          <p:nvPr/>
        </p:nvSpPr>
        <p:spPr>
          <a:xfrm>
            <a:off x="6355080" y="1591056"/>
            <a:ext cx="512064" cy="512064"/>
          </a:xfrm>
          <a:prstGeom prst="ellipse">
            <a:avLst/>
          </a:prstGeom>
          <a:solidFill>
            <a:schemeClr val="accent1"/>
          </a:solidFill>
          <a:ln/>
        </p:spPr>
      </p:sp>
      <p:pic>
        <p:nvPicPr>
          <p:cNvPr id="25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5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Finner kartet selv</a:t>
            </a:r>
            <a:endParaRPr lang="en-US" sz="1700" dirty="0"/>
          </a:p>
          <a:p>
            <a:pPr indent="0" marL="0">
              <a:spcAft>
                <a:spcPts val="200"/>
              </a:spcAft>
              <a:buNone/>
            </a:pPr>
            <a:r>
              <a:rPr lang="en-US" sz="1400" dirty="0">
                <a:solidFill>
                  <a:schemeClr val="accent4"/>
                </a:solidFill>
              </a:rPr>
              <a:t>Fanger opp Leaflet når siden laster, også på /play/map og cachesidene</a:t>
            </a:r>
            <a:endParaRPr lang="en-US" sz="1700" dirty="0"/>
          </a:p>
        </p:txBody>
      </p:sp>
      <p:sp>
        <p:nvSpPr>
          <p:cNvPr id="25015" name="Ikon check sirkel"/>
          <p:cNvSpPr/>
          <p:nvPr/>
        </p:nvSpPr>
        <p:spPr>
          <a:xfrm>
            <a:off x="6355080" y="2916936"/>
            <a:ext cx="512064" cy="512064"/>
          </a:xfrm>
          <a:prstGeom prst="ellipse">
            <a:avLst/>
          </a:prstGeom>
          <a:solidFill>
            <a:schemeClr val="accent1"/>
          </a:solidFill>
          <a:ln/>
        </p:spPr>
      </p:sp>
      <p:pic>
        <p:nvPicPr>
          <p:cNvPr id="25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5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Rører ikke skjemaet</a:t>
            </a:r>
            <a:endParaRPr lang="en-US" sz="1700" dirty="0"/>
          </a:p>
          <a:p>
            <a:pPr indent="0" marL="0">
              <a:spcAft>
                <a:spcPts val="200"/>
              </a:spcAft>
              <a:buNone/>
            </a:pPr>
            <a:r>
              <a:rPr lang="en-US" sz="1400" dirty="0">
                <a:solidFill>
                  <a:schemeClr val="accent4"/>
                </a:solidFill>
              </a:rPr>
              <a:t>Ingen knapp kan sende inn sidens ASP.NET-skjema, så siden lastes aldri på nytt</a:t>
            </a:r>
            <a:endParaRPr lang="en-US" sz="1700" dirty="0"/>
          </a:p>
        </p:txBody>
      </p:sp>
      <p:sp>
        <p:nvSpPr>
          <p:cNvPr id="25018" name="Ikon search sirkel"/>
          <p:cNvSpPr/>
          <p:nvPr/>
        </p:nvSpPr>
        <p:spPr>
          <a:xfrm>
            <a:off x="6355080" y="4242816"/>
            <a:ext cx="512064" cy="512064"/>
          </a:xfrm>
          <a:prstGeom prst="ellipse">
            <a:avLst/>
          </a:prstGeom>
          <a:solidFill>
            <a:schemeClr val="accent1"/>
          </a:solidFill>
          <a:ln/>
        </p:spPr>
      </p:sp>
      <p:pic>
        <p:nvPicPr>
          <p:cNvPr id="25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5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Feilsøking innebygd</a:t>
            </a:r>
            <a:endParaRPr lang="en-US" sz="1700" dirty="0"/>
          </a:p>
          <a:p>
            <a:pPr indent="0" marL="0">
              <a:spcAft>
                <a:spcPts val="200"/>
              </a:spcAft>
              <a:buNone/>
            </a:pPr>
            <a:r>
              <a:rPr lang="en-US" sz="1400" dirty="0">
                <a:solidFill>
                  <a:schemeClr val="accent4"/>
                </a:solidFill>
              </a:rPr>
              <a:t>gcctReport(), gcctCacheDebug(), gcctStageTest() og gcctSnapTest() i konsollen gir korte rapporter uten personopplysninger</a:t>
            </a:r>
            <a:endParaRPr lang="en-US" sz="1700" dirty="0"/>
          </a:p>
        </p:txBody>
      </p:sp>
      <p:sp>
        <p:nvSpPr>
          <p:cNvPr id="25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26001" name=""/>
        <p:cNvGrpSpPr/>
        <p:nvPr/>
      </p:nvGrpSpPr>
      <p:grpSpPr>
        <a:xfrm>
          <a:off x="0" y="0"/>
          <a:ext cx="0" cy="0"/>
          <a:chOff x="0" y="0"/>
          <a:chExt cx="0" cy="0"/>
        </a:xfrm>
      </p:grpSpPr>
      <p:sp>
        <p:nvSpPr>
          <p:cNvPr id="2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Kom i gang på tre minutter</a:t>
            </a:r>
            <a:endParaRPr lang="en-US" sz="3600" dirty="0"/>
          </a:p>
        </p:txBody>
      </p:sp>
      <p:sp>
        <p:nvSpPr>
          <p:cNvPr id="26003" name="Steg 1"/>
          <p:cNvSpPr/>
          <p:nvPr/>
        </p:nvSpPr>
        <p:spPr>
          <a:xfrm>
            <a:off x="548640" y="1463040"/>
            <a:ext cx="731520" cy="731520"/>
          </a:xfrm>
          <a:prstGeom prst="ellipse">
            <a:avLst/>
          </a:prstGeom>
          <a:solidFill>
            <a:schemeClr val="accent1"/>
          </a:solidFill>
          <a:ln/>
        </p:spPr>
      </p:sp>
      <p:sp>
        <p:nvSpPr>
          <p:cNvPr id="26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6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Installer en skriptbehandler</a:t>
            </a:r>
            <a:endParaRPr lang="en-US" sz="1900" dirty="0"/>
          </a:p>
          <a:p>
            <a:pPr indent="0" marL="0">
              <a:spcAft>
                <a:spcPts val="400"/>
              </a:spcAft>
              <a:buNone/>
            </a:pPr>
            <a:r>
              <a:rPr lang="en-US" sz="1400" dirty="0">
                <a:solidFill>
                  <a:schemeClr val="accent4"/>
                </a:solidFill>
              </a:rPr>
              <a:t>Tampermonkey eller Violentmonkey i Chrome, Edge, Firefox eller Safari</a:t>
            </a:r>
            <a:endParaRPr lang="en-US" sz="1900" dirty="0"/>
          </a:p>
        </p:txBody>
      </p:sp>
      <p:sp>
        <p:nvSpPr>
          <p:cNvPr id="26006" name="Steg 2"/>
          <p:cNvSpPr/>
          <p:nvPr/>
        </p:nvSpPr>
        <p:spPr>
          <a:xfrm>
            <a:off x="4353458" y="1463040"/>
            <a:ext cx="731520" cy="731520"/>
          </a:xfrm>
          <a:prstGeom prst="ellipse">
            <a:avLst/>
          </a:prstGeom>
          <a:solidFill>
            <a:schemeClr val="accent1"/>
          </a:solidFill>
          <a:ln/>
        </p:spPr>
      </p:sp>
      <p:sp>
        <p:nvSpPr>
          <p:cNvPr id="26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6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Legg til skriptet</a:t>
            </a:r>
            <a:endParaRPr lang="en-US" sz="1900" dirty="0"/>
          </a:p>
          <a:p>
            <a:pPr indent="0" marL="0">
              <a:spcAft>
                <a:spcPts val="400"/>
              </a:spcAft>
              <a:buNone/>
            </a:pPr>
            <a:r>
              <a:rPr lang="en-US" sz="1400" dirty="0">
                <a:solidFill>
                  <a:schemeClr val="accent4"/>
                </a:solidFill>
              </a:rPr>
              <a:t>Åpne geocaching-custom-tiles.user.js og lagre det i behandleren</a:t>
            </a:r>
            <a:endParaRPr lang="en-US" sz="1900" dirty="0"/>
          </a:p>
        </p:txBody>
      </p:sp>
      <p:sp>
        <p:nvSpPr>
          <p:cNvPr id="26009" name="Steg 3"/>
          <p:cNvSpPr/>
          <p:nvPr/>
        </p:nvSpPr>
        <p:spPr>
          <a:xfrm>
            <a:off x="8158277" y="1463040"/>
            <a:ext cx="731520" cy="731520"/>
          </a:xfrm>
          <a:prstGeom prst="ellipse">
            <a:avLst/>
          </a:prstGeom>
          <a:solidFill>
            <a:schemeClr val="accent1"/>
          </a:solidFill>
          <a:ln/>
        </p:spPr>
      </p:sp>
      <p:sp>
        <p:nvSpPr>
          <p:cNvPr id="26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6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Åpne et kart</a:t>
            </a:r>
            <a:endParaRPr lang="en-US" sz="1900" dirty="0"/>
          </a:p>
          <a:p>
            <a:pPr indent="0" marL="0">
              <a:spcAft>
                <a:spcPts val="400"/>
              </a:spcAft>
              <a:buNone/>
            </a:pPr>
            <a:r>
              <a:rPr lang="en-US" sz="1400" dirty="0">
                <a:solidFill>
                  <a:schemeClr val="accent4"/>
                </a:solidFill>
              </a:rPr>
              <a:t>geocaching.com/map eller /play/map – verktøylinjen dukker opp til høyre</a:t>
            </a:r>
            <a:endParaRPr lang="en-US" sz="1900" dirty="0"/>
          </a:p>
        </p:txBody>
      </p:sp>
      <p:sp>
        <p:nvSpPr>
          <p:cNvPr id="26012" name="Personvern"/>
          <p:cNvSpPr/>
          <p:nvPr/>
        </p:nvSpPr>
        <p:spPr>
          <a:xfrm>
            <a:off x="548640" y="3977640"/>
            <a:ext cx="11094415" cy="1783080"/>
          </a:xfrm>
          <a:prstGeom prst="roundRect">
            <a:avLst>
              <a:gd name="adj" fmla="val 6154"/>
            </a:avLst>
          </a:prstGeom>
          <a:solidFill>
            <a:schemeClr val="bg2"/>
          </a:solidFill>
          <a:ln/>
        </p:spPr>
      </p:sp>
      <p:sp>
        <p:nvSpPr>
          <p:cNvPr id="26013" name="Ikon check sirkel"/>
          <p:cNvSpPr/>
          <p:nvPr/>
        </p:nvSpPr>
        <p:spPr>
          <a:xfrm>
            <a:off x="868680" y="4251960"/>
            <a:ext cx="640080" cy="640080"/>
          </a:xfrm>
          <a:prstGeom prst="ellipse">
            <a:avLst/>
          </a:prstGeom>
          <a:solidFill>
            <a:schemeClr val="accent1"/>
          </a:solidFill>
          <a:ln/>
        </p:spPr>
      </p:sp>
      <p:pic>
        <p:nvPicPr>
          <p:cNvPr id="26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6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Personvern</a:t>
            </a:r>
            <a:endParaRPr lang="en-US" sz="1900" dirty="0"/>
          </a:p>
          <a:p>
            <a:pPr indent="0" marL="0">
              <a:spcAft>
                <a:spcPts val="400"/>
              </a:spcAft>
              <a:buNone/>
            </a:pPr>
            <a:r>
              <a:rPr lang="en-US" sz="1500" dirty="0">
                <a:solidFill>
                  <a:schemeClr val="tx1"/>
                </a:solidFill>
              </a:rPr>
              <a:t>Skriptet samler ikke inn eller sender personopplysninger og har ingen egen server. Det kontakter bare kartserverne du slår på, Kartverket og Photon når du søker, og geocaching.coms eget cachesøk og cachesider når 161 m-sirklene er på. Posisjonen din hentes bare når du ber om den. Alle innstillinger lagres i nettleseren.</a:t>
            </a:r>
            <a:endParaRPr lang="en-US" sz="1900" dirty="0"/>
          </a:p>
        </p:txBody>
      </p:sp>
      <p:sp>
        <p:nvSpPr>
          <p:cNvPr id="26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27001" name=""/>
        <p:cNvGrpSpPr/>
        <p:nvPr/>
      </p:nvGrpSpPr>
      <p:grpSpPr>
        <a:xfrm>
          <a:off x="0" y="0"/>
          <a:ext cx="0" cy="0"/>
          <a:chOff x="0" y="0"/>
          <a:chExt cx="0" cy="0"/>
        </a:xfrm>
      </p:grpSpPr>
      <p:sp>
        <p:nvSpPr>
          <p:cNvPr id="27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Bedre kart for</a:t>
            </a:r>
            <a:endParaRPr lang="en-US" sz="4400" dirty="0"/>
          </a:p>
          <a:p>
            <a:pPr algn="l" indent="0" marL="0">
              <a:buNone/>
            </a:pPr>
            <a:r>
              <a:rPr lang="en-US" sz="4400" b="1" dirty="0">
                <a:solidFill>
                  <a:schemeClr val="bg1"/>
                </a:solidFill>
              </a:rPr>
              <a:t>bedre turer</a:t>
            </a:r>
            <a:endParaRPr lang="en-US" sz="4400" dirty="0"/>
          </a:p>
        </p:txBody>
      </p:sp>
      <p:sp>
        <p:nvSpPr>
          <p:cNvPr id="27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Brukerveiledning på norsk og engelsk følger med. Bruk gcctReport() i nettleserkonsollen hvis noe ikke virker.</a:t>
            </a:r>
            <a:endParaRPr lang="en-US" sz="1800" dirty="0"/>
          </a:p>
        </p:txBody>
      </p:sp>
      <p:pic>
        <p:nvPicPr>
          <p:cNvPr id="27004" name="Høyreklikkboblen" descr="Høyreklikkboblen">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7005" name="Bekreftelsesdialog" descr="Bekreftelses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2026-10-28T12:52:13Z</dcterms:created>
  <dcterms:modified xsi:type="dcterms:W3CDTF">2026-10-28T12:52:13Z</dcterms:modified>
</cp:coreProperties>
</file>