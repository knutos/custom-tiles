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nledning" id="{716c2bfb-6674-b90b-9ca2-594d79c18eee}">
          <p14:sldIdLst>
            <p14:sldId id="256"/>
            <p14:sldId id="257"/>
          </p14:sldIdLst>
        </p14:section>
        <p14:section name="Funksjoner" id="{e00297f4-95ab-8d89-b8ff-11cbea55be1f}">
          <p14:sldIdLst>
            <p14:sldId id="258"/>
            <p14:sldId id="259"/>
            <p14:sldId id="260"/>
            <p14:sldId id="261"/>
            <p14:sldId id="262"/>
            <p14:sldId id="263"/>
            <p14:sldId id="264"/>
            <p14:sldId id="265"/>
            <p14:sldId id="266"/>
          </p14:sldIdLst>
        </p14:section>
        <p14:section name="Teknikk" id="{be1b69d7-ae20-d96d-5384-2c7434d8e6f8}">
          <p14:sldIdLst>
            <p14:sldId id="267"/>
            <p14:sldId id="268"/>
            <p14:sldId id="269"/>
          </p14:sldIdLst>
        </p14:section>
        <p14:section name="Avslutning" id="{0500e12b-b775-41d0-c32d-a6ebe51797b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01001" name=""/>
        <p:cNvGrpSpPr/>
        <p:nvPr/>
      </p:nvGrpSpPr>
      <p:grpSpPr>
        <a:xfrm>
          <a:off x="0" y="0"/>
          <a:ext cx="0" cy="0"/>
          <a:chOff x="0" y="0"/>
          <a:chExt cx="0" cy="0"/>
        </a:xfrm>
      </p:grpSpPr>
      <p:sp>
        <p:nvSpPr>
          <p:cNvPr id="50100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50100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50100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0100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100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0100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01001" name=""/>
        <p:cNvGrpSpPr/>
        <p:nvPr/>
      </p:nvGrpSpPr>
      <p:grpSpPr>
        <a:xfrm>
          <a:off x="0" y="0"/>
          <a:ext cx="0" cy="0"/>
          <a:chOff x="0" y="0"/>
          <a:chExt cx="0" cy="0"/>
        </a:xfrm>
      </p:grpSpPr>
      <p:sp>
        <p:nvSpPr>
          <p:cNvPr id="401002" name="Slide Image Placeholder 1"/>
          <p:cNvSpPr>
            <a:spLocks noGrp="1" noRot="1" noChangeAspect="1"/>
          </p:cNvSpPr>
          <p:nvPr>
            <p:ph type="sldImg"/>
          </p:nvPr>
        </p:nvSpPr>
        <p:spPr/>
      </p:sp>
      <p:sp>
        <p:nvSpPr>
          <p:cNvPr id="401003" name="Notes Placeholder 2"/>
          <p:cNvSpPr>
            <a:spLocks noGrp="1"/>
          </p:cNvSpPr>
          <p:nvPr>
            <p:ph type="body" idx="1"/>
          </p:nvPr>
        </p:nvSpPr>
        <p:spPr/>
        <p:txBody>
          <a:bodyPr/>
          <a:lstStyle/>
          <a:p>
            <a:r>
              <a:rPr lang="en-US" dirty="0"/>
              <a:t>Dette er et brukerskript som gjør kartene på geocaching.com til en fleksibel kartarbeidsplass: egne bakgrunnskart og overlegg, stedssøk, koordinater, måling, projisering og 161 m-sirkler – samlet i én verktøylinje.</a:t>
            </a:r>
            <a:endParaRPr lang="en-US" dirty="0"/>
          </a:p>
        </p:txBody>
      </p:sp>
      <p:sp>
        <p:nvSpPr>
          <p:cNvPr id="40100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2001" name=""/>
        <p:cNvGrpSpPr/>
        <p:nvPr/>
      </p:nvGrpSpPr>
      <p:grpSpPr>
        <a:xfrm>
          <a:off x="0" y="0"/>
          <a:ext cx="0" cy="0"/>
          <a:chOff x="0" y="0"/>
          <a:chExt cx="0" cy="0"/>
        </a:xfrm>
      </p:grpSpPr>
      <p:sp>
        <p:nvSpPr>
          <p:cNvPr id="402002" name="Slide Image Placeholder 1"/>
          <p:cNvSpPr>
            <a:spLocks noGrp="1" noRot="1" noChangeAspect="1"/>
          </p:cNvSpPr>
          <p:nvPr>
            <p:ph type="sldImg"/>
          </p:nvPr>
        </p:nvSpPr>
        <p:spPr/>
      </p:sp>
      <p:sp>
        <p:nvSpPr>
          <p:cNvPr id="402003" name="Notes Placeholder 2"/>
          <p:cNvSpPr>
            <a:spLocks noGrp="1"/>
          </p:cNvSpPr>
          <p:nvPr>
            <p:ph type="body" idx="1"/>
          </p:nvPr>
        </p:nvSpPr>
        <p:spPr/>
        <p:txBody>
          <a:bodyPr/>
          <a:lstStyle/>
          <a:p>
            <a:r>
              <a:rPr lang="en-US" dirty="0"/>
              <a:t>Seks hovedområder. Nettstedets egne knapper for zoom, posisjon og kartvalg blir foldet inn i den samme verktøylinjen, så det blir ingen doble knapper.</a:t>
            </a:r>
            <a:endParaRPr lang="en-US" dirty="0"/>
          </a:p>
        </p:txBody>
      </p:sp>
      <p:sp>
        <p:nvSpPr>
          <p:cNvPr id="40200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03001" name=""/>
        <p:cNvGrpSpPr/>
        <p:nvPr/>
      </p:nvGrpSpPr>
      <p:grpSpPr>
        <a:xfrm>
          <a:off x="0" y="0"/>
          <a:ext cx="0" cy="0"/>
          <a:chOff x="0" y="0"/>
          <a:chExt cx="0" cy="0"/>
        </a:xfrm>
      </p:grpSpPr>
      <p:sp>
        <p:nvSpPr>
          <p:cNvPr id="403002" name="Slide Image Placeholder 1"/>
          <p:cNvSpPr>
            <a:spLocks noGrp="1" noRot="1" noChangeAspect="1"/>
          </p:cNvSpPr>
          <p:nvPr>
            <p:ph type="sldImg"/>
          </p:nvPr>
        </p:nvSpPr>
        <p:spPr/>
      </p:sp>
      <p:sp>
        <p:nvSpPr>
          <p:cNvPr id="403003" name="Notes Placeholder 2"/>
          <p:cNvSpPr>
            <a:spLocks noGrp="1"/>
          </p:cNvSpPr>
          <p:nvPr>
            <p:ph type="body" idx="1"/>
          </p:nvPr>
        </p:nvSpPr>
        <p:spPr/>
        <p:txBody>
          <a:bodyPr/>
          <a:lstStyle/>
          <a:p>
            <a:r>
              <a:rPr lang="en-US" dirty="0"/>
              <a:t>Verktøylinjen kan stå til høyre (standard), til venstre, øverst eller nederst, i én eller to rekker. Velg i Innstillinger, eller dra den etter håndtaket til en annen kant. Den holder seg klar av nettstedets søkepanel og flytter seg under knapper som «Create Route» om nødvendig. Kartlagpanelet og dialogene åpnes ved siden av verktøylinjen, og nettstedets egne zoomknapper er alltid skjult.</a:t>
            </a:r>
            <a:endParaRPr lang="en-US" dirty="0"/>
          </a:p>
        </p:txBody>
      </p:sp>
      <p:sp>
        <p:nvSpPr>
          <p:cNvPr id="40300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04001" name=""/>
        <p:cNvGrpSpPr/>
        <p:nvPr/>
      </p:nvGrpSpPr>
      <p:grpSpPr>
        <a:xfrm>
          <a:off x="0" y="0"/>
          <a:ext cx="0" cy="0"/>
          <a:chOff x="0" y="0"/>
          <a:chExt cx="0" cy="0"/>
        </a:xfrm>
      </p:grpSpPr>
      <p:sp>
        <p:nvSpPr>
          <p:cNvPr id="404002" name="Slide Image Placeholder 1"/>
          <p:cNvSpPr>
            <a:spLocks noGrp="1" noRot="1" noChangeAspect="1"/>
          </p:cNvSpPr>
          <p:nvPr>
            <p:ph type="sldImg"/>
          </p:nvPr>
        </p:nvSpPr>
        <p:spPr/>
      </p:sp>
      <p:sp>
        <p:nvSpPr>
          <p:cNvPr id="404003" name="Notes Placeholder 2"/>
          <p:cNvSpPr>
            <a:spLocks noGrp="1"/>
          </p:cNvSpPr>
          <p:nvPr>
            <p:ph type="body" idx="1"/>
          </p:nvPr>
        </p:nvSpPr>
        <p:spPr/>
        <p:txBody>
          <a:bodyPr/>
          <a:lstStyle/>
          <a:p>
            <a:r>
              <a:rPr lang="en-US" dirty="0"/>
              <a:t>Valgt kart er markert med blått, og fanene viser hvor bakgrunnskartet og overleggene som er i bruk, ligger. Rekkefølgen endres ved å dra i håndtaket til venstre på raden, eller med piltastene. Bakgrunnskartet tegnes alltid helt dekkende, så geocaching.com-kartet skinner aldri gjennom. Cacheikonene ligger alltid øverst.</a:t>
            </a:r>
            <a:endParaRPr lang="en-US" dirty="0"/>
          </a:p>
        </p:txBody>
      </p:sp>
      <p:sp>
        <p:nvSpPr>
          <p:cNvPr id="40400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05001" name=""/>
        <p:cNvGrpSpPr/>
        <p:nvPr/>
      </p:nvGrpSpPr>
      <p:grpSpPr>
        <a:xfrm>
          <a:off x="0" y="0"/>
          <a:ext cx="0" cy="0"/>
          <a:chOff x="0" y="0"/>
          <a:chExt cx="0" cy="0"/>
        </a:xfrm>
      </p:grpSpPr>
      <p:sp>
        <p:nvSpPr>
          <p:cNvPr id="405002" name="Slide Image Placeholder 1"/>
          <p:cNvSpPr>
            <a:spLocks noGrp="1" noRot="1" noChangeAspect="1"/>
          </p:cNvSpPr>
          <p:nvPr>
            <p:ph type="sldImg"/>
          </p:nvPr>
        </p:nvSpPr>
        <p:spPr/>
      </p:sp>
      <p:sp>
        <p:nvSpPr>
          <p:cNvPr id="405003" name="Notes Placeholder 2"/>
          <p:cNvSpPr>
            <a:spLocks noGrp="1"/>
          </p:cNvSpPr>
          <p:nvPr>
            <p:ph type="body" idx="1"/>
          </p:nvPr>
        </p:nvSpPr>
        <p:spPr/>
        <p:txBody>
          <a:bodyPr/>
          <a:lstStyle/>
          <a:p>
            <a:r>
              <a:rPr lang="en-US" dirty="0"/>
              <a:t>Redigeringsdialogen gjenkjenner adressen og henter lagoversikten fra WMS- og WMTS-tjenester. Bare tjenester i Web Mercator kan vises, siden geocaching.com-kartet bruker den projeksjonen.</a:t>
            </a:r>
            <a:endParaRPr lang="en-US" dirty="0"/>
          </a:p>
        </p:txBody>
      </p:sp>
      <p:sp>
        <p:nvSpPr>
          <p:cNvPr id="40500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406001" name=""/>
        <p:cNvGrpSpPr/>
        <p:nvPr/>
      </p:nvGrpSpPr>
      <p:grpSpPr>
        <a:xfrm>
          <a:off x="0" y="0"/>
          <a:ext cx="0" cy="0"/>
          <a:chOff x="0" y="0"/>
          <a:chExt cx="0" cy="0"/>
        </a:xfrm>
      </p:grpSpPr>
      <p:sp>
        <p:nvSpPr>
          <p:cNvPr id="406002" name="Slide Image Placeholder 1"/>
          <p:cNvSpPr>
            <a:spLocks noGrp="1" noRot="1" noChangeAspect="1"/>
          </p:cNvSpPr>
          <p:nvPr>
            <p:ph type="sldImg"/>
          </p:nvPr>
        </p:nvSpPr>
        <p:spPr/>
      </p:sp>
      <p:sp>
        <p:nvSpPr>
          <p:cNvPr id="406003" name="Notes Placeholder 2"/>
          <p:cNvSpPr>
            <a:spLocks noGrp="1"/>
          </p:cNvSpPr>
          <p:nvPr>
            <p:ph type="body" idx="1"/>
          </p:nvPr>
        </p:nvSpPr>
        <p:spPr/>
        <p:txBody>
          <a:bodyPr/>
          <a:lstStyle/>
          <a:p>
            <a:r>
              <a:rPr lang="en-US" dirty="0"/>
              <a:t>Bruk piltastene og Enter for å velge. Kartet zoomer til et nivå som passer treffet: fylke, kommune, tettsted eller adresse.</a:t>
            </a:r>
            <a:endParaRPr lang="en-US" dirty="0"/>
          </a:p>
        </p:txBody>
      </p:sp>
      <p:sp>
        <p:nvSpPr>
          <p:cNvPr id="40600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407001" name=""/>
        <p:cNvGrpSpPr/>
        <p:nvPr/>
      </p:nvGrpSpPr>
      <p:grpSpPr>
        <a:xfrm>
          <a:off x="0" y="0"/>
          <a:ext cx="0" cy="0"/>
          <a:chOff x="0" y="0"/>
          <a:chExt cx="0" cy="0"/>
        </a:xfrm>
      </p:grpSpPr>
      <p:sp>
        <p:nvSpPr>
          <p:cNvPr id="407002" name="Slide Image Placeholder 1"/>
          <p:cNvSpPr>
            <a:spLocks noGrp="1" noRot="1" noChangeAspect="1"/>
          </p:cNvSpPr>
          <p:nvPr>
            <p:ph type="sldImg"/>
          </p:nvPr>
        </p:nvSpPr>
        <p:spPr/>
      </p:sp>
      <p:sp>
        <p:nvSpPr>
          <p:cNvPr id="407003" name="Notes Placeholder 2"/>
          <p:cNvSpPr>
            <a:spLocks noGrp="1"/>
          </p:cNvSpPr>
          <p:nvPr>
            <p:ph type="body" idx="1"/>
          </p:nvPr>
        </p:nvSpPr>
        <p:spPr/>
        <p:txBody>
          <a:bodyPr/>
          <a:lstStyle/>
          <a:p>
            <a:r>
              <a:rPr lang="en-US" dirty="0"/>
              <a:t>Koordinatene under musepekeren vises også nederst til høyre. Klikk på visningen for å bytte format; valget huskes.</a:t>
            </a:r>
            <a:endParaRPr lang="en-US" dirty="0"/>
          </a:p>
        </p:txBody>
      </p:sp>
      <p:sp>
        <p:nvSpPr>
          <p:cNvPr id="40700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408001" name=""/>
        <p:cNvGrpSpPr/>
        <p:nvPr/>
      </p:nvGrpSpPr>
      <p:grpSpPr>
        <a:xfrm>
          <a:off x="0" y="0"/>
          <a:ext cx="0" cy="0"/>
          <a:chOff x="0" y="0"/>
          <a:chExt cx="0" cy="0"/>
        </a:xfrm>
      </p:grpSpPr>
      <p:sp>
        <p:nvSpPr>
          <p:cNvPr id="408002" name="Slide Image Placeholder 1"/>
          <p:cNvSpPr>
            <a:spLocks noGrp="1" noRot="1" noChangeAspect="1"/>
          </p:cNvSpPr>
          <p:nvPr>
            <p:ph type="sldImg"/>
          </p:nvPr>
        </p:nvSpPr>
        <p:spPr/>
      </p:sp>
      <p:sp>
        <p:nvSpPr>
          <p:cNvPr id="408003" name="Notes Placeholder 2"/>
          <p:cNvSpPr>
            <a:spLocks noGrp="1"/>
          </p:cNvSpPr>
          <p:nvPr>
            <p:ph type="body" idx="1"/>
          </p:nvPr>
        </p:nvSpPr>
        <p:spPr/>
        <p:txBody>
          <a:bodyPr/>
          <a:lstStyle/>
          <a:p>
            <a:r>
              <a:rPr lang="en-US" dirty="0"/>
              <a:t>Festingen skjer når du høyreklikker innenfor omtrent 12 piksler fra cachen – på størrelse med ikonet. Høyreklikker du lenger unna, får du klikkpunktet som før.</a:t>
            </a:r>
            <a:endParaRPr lang="en-US" dirty="0"/>
          </a:p>
        </p:txBody>
      </p:sp>
      <p:sp>
        <p:nvSpPr>
          <p:cNvPr id="40800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09001" name=""/>
        <p:cNvGrpSpPr/>
        <p:nvPr/>
      </p:nvGrpSpPr>
      <p:grpSpPr>
        <a:xfrm>
          <a:off x="0" y="0"/>
          <a:ext cx="0" cy="0"/>
          <a:chOff x="0" y="0"/>
          <a:chExt cx="0" cy="0"/>
        </a:xfrm>
      </p:grpSpPr>
      <p:sp>
        <p:nvSpPr>
          <p:cNvPr id="409002" name="Slide Image Placeholder 1"/>
          <p:cNvSpPr>
            <a:spLocks noGrp="1" noRot="1" noChangeAspect="1"/>
          </p:cNvSpPr>
          <p:nvPr>
            <p:ph type="sldImg"/>
          </p:nvPr>
        </p:nvSpPr>
        <p:spPr/>
      </p:sp>
      <p:sp>
        <p:nvSpPr>
          <p:cNvPr id="409003" name="Notes Placeholder 2"/>
          <p:cNvSpPr>
            <a:spLocks noGrp="1"/>
          </p:cNvSpPr>
          <p:nvPr>
            <p:ph type="body" idx="1"/>
          </p:nvPr>
        </p:nvSpPr>
        <p:spPr/>
        <p:txBody>
          <a:bodyPr/>
          <a:lstStyle/>
          <a:p>
            <a:r>
              <a:rPr lang="en-US" dirty="0"/>
              <a:t>Enter eller Projiser setter ut punktet med merkenål, linje og etikett med retning og avstand. Avbryt fjerner forhåndsvisningen.</a:t>
            </a:r>
            <a:endParaRPr lang="en-US" dirty="0"/>
          </a:p>
        </p:txBody>
      </p:sp>
      <p:sp>
        <p:nvSpPr>
          <p:cNvPr id="40900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10001" name=""/>
        <p:cNvGrpSpPr/>
        <p:nvPr/>
      </p:nvGrpSpPr>
      <p:grpSpPr>
        <a:xfrm>
          <a:off x="0" y="0"/>
          <a:ext cx="0" cy="0"/>
          <a:chOff x="0" y="0"/>
          <a:chExt cx="0" cy="0"/>
        </a:xfrm>
      </p:grpSpPr>
      <p:sp>
        <p:nvSpPr>
          <p:cNvPr id="410002" name="Slide Image Placeholder 1"/>
          <p:cNvSpPr>
            <a:spLocks noGrp="1" noRot="1" noChangeAspect="1"/>
          </p:cNvSpPr>
          <p:nvPr>
            <p:ph type="sldImg"/>
          </p:nvPr>
        </p:nvSpPr>
        <p:spPr/>
      </p:sp>
      <p:sp>
        <p:nvSpPr>
          <p:cNvPr id="410003" name="Notes Placeholder 2"/>
          <p:cNvSpPr>
            <a:spLocks noGrp="1"/>
          </p:cNvSpPr>
          <p:nvPr>
            <p:ph type="body" idx="1"/>
          </p:nvPr>
        </p:nvSpPr>
        <p:spPr/>
        <p:txBody>
          <a:bodyPr/>
          <a:lstStyle/>
          <a:p>
            <a:r>
              <a:rPr lang="en-US" dirty="0"/>
              <a:t>Sirklene vises fra zoomnivå 15. Cachetypene, de nøyaktige koordinatene og dine løste koordinater kommer fra geocaching.coms eget cachesøk. Fysiske steg leses fra listen over tilleggsveipunkter på cachesiden – bare de eieren har gjort synlige. Blått merke med spørsmålstegn og grønn hake: en løst cache du har funnet. Liten blå prikk: fysisk steg. Liten grønn prikk: endelig plassering. Dine egne cacher, som cachesøket utelater, leses fra cachesidene; der beholdes nettstedets ikon og boble, men teksten ved musepekeren blir «Endelig plassering».</a:t>
            </a:r>
            <a:endParaRPr lang="en-US" dirty="0"/>
          </a:p>
        </p:txBody>
      </p:sp>
      <p:sp>
        <p:nvSpPr>
          <p:cNvPr id="41000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11001" name=""/>
        <p:cNvGrpSpPr/>
        <p:nvPr/>
      </p:nvGrpSpPr>
      <p:grpSpPr>
        <a:xfrm>
          <a:off x="0" y="0"/>
          <a:ext cx="0" cy="0"/>
          <a:chOff x="0" y="0"/>
          <a:chExt cx="0" cy="0"/>
        </a:xfrm>
      </p:grpSpPr>
      <p:sp>
        <p:nvSpPr>
          <p:cNvPr id="411002" name="Slide Image Placeholder 1"/>
          <p:cNvSpPr>
            <a:spLocks noGrp="1" noRot="1" noChangeAspect="1"/>
          </p:cNvSpPr>
          <p:nvPr>
            <p:ph type="sldImg"/>
          </p:nvPr>
        </p:nvSpPr>
        <p:spPr/>
      </p:sp>
      <p:sp>
        <p:nvSpPr>
          <p:cNvPr id="411003" name="Notes Placeholder 2"/>
          <p:cNvSpPr>
            <a:spLocks noGrp="1"/>
          </p:cNvSpPr>
          <p:nvPr>
            <p:ph type="body" idx="1"/>
          </p:nvPr>
        </p:nvSpPr>
        <p:spPr/>
        <p:txBody>
          <a:bodyPr/>
          <a:lstStyle/>
          <a:p>
            <a:r>
              <a:rPr lang="en-US" dirty="0"/>
              <a:t>161 m er minsteavstanden mellom cacher i retningslinjene. På det gamle kartet finner skriptet posisjonene fra et skjult rutenett nettstedet laster; på de nye kartene brukes de nøyaktige posisjonene.</a:t>
            </a:r>
            <a:endParaRPr lang="en-US" dirty="0"/>
          </a:p>
        </p:txBody>
      </p:sp>
      <p:sp>
        <p:nvSpPr>
          <p:cNvPr id="41100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412001" name=""/>
        <p:cNvGrpSpPr/>
        <p:nvPr/>
      </p:nvGrpSpPr>
      <p:grpSpPr>
        <a:xfrm>
          <a:off x="0" y="0"/>
          <a:ext cx="0" cy="0"/>
          <a:chOff x="0" y="0"/>
          <a:chExt cx="0" cy="0"/>
        </a:xfrm>
      </p:grpSpPr>
      <p:sp>
        <p:nvSpPr>
          <p:cNvPr id="412002" name="Slide Image Placeholder 1"/>
          <p:cNvSpPr>
            <a:spLocks noGrp="1" noRot="1" noChangeAspect="1"/>
          </p:cNvSpPr>
          <p:nvPr>
            <p:ph type="sldImg"/>
          </p:nvPr>
        </p:nvSpPr>
        <p:spPr/>
      </p:sp>
      <p:sp>
        <p:nvSpPr>
          <p:cNvPr id="412003" name="Notes Placeholder 2"/>
          <p:cNvSpPr>
            <a:spLocks noGrp="1"/>
          </p:cNvSpPr>
          <p:nvPr>
            <p:ph type="body" idx="1"/>
          </p:nvPr>
        </p:nvSpPr>
        <p:spPr/>
        <p:txBody>
          <a:bodyPr/>
          <a:lstStyle/>
          <a:p>
            <a:r>
              <a:rPr lang="en-US" dirty="0"/>
              <a:t>Nettleseren tegner Leaflets kontroller øverst, deretter boblene, markørene og tegningene, og nederst kartflisene. Blant flisene sorterer skriptet etter z-indeks: nettstedets bakgrunn nederst, så ditt bakgrunnskart, overleggene og forhåndsvisningen, og øverst nettstedets øvrige fliser – på det gamle kartet er det cacheikonene. Nettstedets bakgrunn finnes fra nettstedets lagvelger, ellers som det laveste fliselaget. Dialogene ligger utenfor kartet, festet til siden, så sidepanelet ikke dekker dem.</a:t>
            </a:r>
            <a:endParaRPr lang="en-US" dirty="0"/>
          </a:p>
        </p:txBody>
      </p:sp>
      <p:sp>
        <p:nvSpPr>
          <p:cNvPr id="41200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413001" name=""/>
        <p:cNvGrpSpPr/>
        <p:nvPr/>
      </p:nvGrpSpPr>
      <p:grpSpPr>
        <a:xfrm>
          <a:off x="0" y="0"/>
          <a:ext cx="0" cy="0"/>
          <a:chOff x="0" y="0"/>
          <a:chExt cx="0" cy="0"/>
        </a:xfrm>
      </p:grpSpPr>
      <p:sp>
        <p:nvSpPr>
          <p:cNvPr id="413002" name="Slide Image Placeholder 1"/>
          <p:cNvSpPr>
            <a:spLocks noGrp="1" noRot="1" noChangeAspect="1"/>
          </p:cNvSpPr>
          <p:nvPr>
            <p:ph type="sldImg"/>
          </p:nvPr>
        </p:nvSpPr>
        <p:spPr/>
      </p:sp>
      <p:sp>
        <p:nvSpPr>
          <p:cNvPr id="413003" name="Notes Placeholder 2"/>
          <p:cNvSpPr>
            <a:spLocks noGrp="1"/>
          </p:cNvSpPr>
          <p:nvPr>
            <p:ph type="body" idx="1"/>
          </p:nvPr>
        </p:nvSpPr>
        <p:spPr/>
        <p:txBody>
          <a:bodyPr/>
          <a:lstStyle/>
          <a:p>
            <a:r>
              <a:rPr lang="en-US" dirty="0"/>
              <a:t>Skriptet starter før siden og fanger opp Leaflet i det øyeblikket siden definerer det. Egne feil når aldri nettstedets kode.</a:t>
            </a:r>
            <a:endParaRPr lang="en-US" dirty="0"/>
          </a:p>
        </p:txBody>
      </p:sp>
      <p:sp>
        <p:nvSpPr>
          <p:cNvPr id="41300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414001" name=""/>
        <p:cNvGrpSpPr/>
        <p:nvPr/>
      </p:nvGrpSpPr>
      <p:grpSpPr>
        <a:xfrm>
          <a:off x="0" y="0"/>
          <a:ext cx="0" cy="0"/>
          <a:chOff x="0" y="0"/>
          <a:chExt cx="0" cy="0"/>
        </a:xfrm>
      </p:grpSpPr>
      <p:sp>
        <p:nvSpPr>
          <p:cNvPr id="414002" name="Slide Image Placeholder 1"/>
          <p:cNvSpPr>
            <a:spLocks noGrp="1" noRot="1" noChangeAspect="1"/>
          </p:cNvSpPr>
          <p:nvPr>
            <p:ph type="sldImg"/>
          </p:nvPr>
        </p:nvSpPr>
        <p:spPr/>
      </p:sp>
      <p:sp>
        <p:nvSpPr>
          <p:cNvPr id="414003" name="Notes Placeholder 2"/>
          <p:cNvSpPr>
            <a:spLocks noGrp="1"/>
          </p:cNvSpPr>
          <p:nvPr>
            <p:ph type="body" idx="1"/>
          </p:nvPr>
        </p:nvSpPr>
        <p:spPr/>
        <p:txBody>
          <a:bodyPr/>
          <a:lstStyle/>
          <a:p>
            <a:r>
              <a:rPr lang="en-US" dirty="0"/>
              <a:t>Skriptet trenger ingen spesielle tillatelser (@grant none). Innstillingene deles mellom kartsidene og cachesidene.</a:t>
            </a:r>
            <a:endParaRPr lang="en-US" dirty="0"/>
          </a:p>
        </p:txBody>
      </p:sp>
      <p:sp>
        <p:nvSpPr>
          <p:cNvPr id="41400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415001" name=""/>
        <p:cNvGrpSpPr/>
        <p:nvPr/>
      </p:nvGrpSpPr>
      <p:grpSpPr>
        <a:xfrm>
          <a:off x="0" y="0"/>
          <a:ext cx="0" cy="0"/>
          <a:chOff x="0" y="0"/>
          <a:chExt cx="0" cy="0"/>
        </a:xfrm>
      </p:grpSpPr>
      <p:sp>
        <p:nvSpPr>
          <p:cNvPr id="415002" name="Slide Image Placeholder 1"/>
          <p:cNvSpPr>
            <a:spLocks noGrp="1" noRot="1" noChangeAspect="1"/>
          </p:cNvSpPr>
          <p:nvPr>
            <p:ph type="sldImg"/>
          </p:nvPr>
        </p:nvSpPr>
        <p:spPr/>
      </p:sp>
      <p:sp>
        <p:nvSpPr>
          <p:cNvPr id="415003" name="Notes Placeholder 2"/>
          <p:cNvSpPr>
            <a:spLocks noGrp="1"/>
          </p:cNvSpPr>
          <p:nvPr>
            <p:ph type="body" idx="1"/>
          </p:nvPr>
        </p:nvSpPr>
        <p:spPr/>
        <p:txBody>
          <a:bodyPr/>
          <a:lstStyle/>
          <a:p>
            <a:r>
              <a:rPr lang="en-US" dirty="0"/>
              <a:t>Takk for oppmerksomheten. Spørsmål?</a:t>
            </a:r>
            <a:endParaRPr lang="en-US" dirty="0"/>
          </a:p>
        </p:txBody>
      </p:sp>
      <p:sp>
        <p:nvSpPr>
          <p:cNvPr id="41500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20100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tel mørk">
    <p:bg>
      <p:bgPr>
        <a:solidFill>
          <a:srgbClr val="163A2B"/>
        </a:solidFill>
      </p:bgPr>
    </p:bg>
    <p:spTree>
      <p:nvGrpSpPr>
        <p:cNvPr id="202001" name=""/>
        <p:cNvGrpSpPr/>
        <p:nvPr/>
      </p:nvGrpSpPr>
      <p:grpSpPr>
        <a:xfrm>
          <a:off x="0" y="0"/>
          <a:ext cx="0" cy="0"/>
          <a:chOff x="0" y="0"/>
          <a:chExt cx="0" cy="0"/>
        </a:xfrm>
      </p:grpSpPr>
      <p:sp>
        <p:nvSpPr>
          <p:cNvPr id="202002" name="Text 0"/>
          <p:cNvSpPr/>
          <p:nvPr>
            <p:ph idx="100" type="title" hasCustomPrompt="1"/>
          </p:nvPr>
        </p:nvSpPr>
        <p:spPr>
          <a:xfrm>
            <a:off x="548640" y="1828800"/>
            <a:ext cx="60350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202003" name="Text 0"/>
          <p:cNvSpPr/>
          <p:nvPr>
            <p:ph idx="101" type="body" hasCustomPrompt="1"/>
          </p:nvPr>
        </p:nvSpPr>
        <p:spPr>
          <a:xfrm>
            <a:off x="548640" y="3703320"/>
            <a:ext cx="5852160" cy="11887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nhold">
    <p:bg>
      <p:bgPr>
        <a:solidFill>
          <a:srgbClr val="FFFFFF"/>
        </a:solidFill>
      </p:bgPr>
    </p:bg>
    <p:spTree>
      <p:nvGrpSpPr>
        <p:cNvPr id="203001" name=""/>
        <p:cNvGrpSpPr/>
        <p:nvPr/>
      </p:nvGrpSpPr>
      <p:grpSpPr>
        <a:xfrm>
          <a:off x="0" y="0"/>
          <a:ext cx="0" cy="0"/>
          <a:chOff x="0" y="0"/>
          <a:chExt cx="0" cy="0"/>
        </a:xfrm>
      </p:grpSpPr>
      <p:sp>
        <p:nvSpPr>
          <p:cNvPr id="20300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0300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Geocaching Map – Custom Tile Layers · v1.43.4</a:t>
            </a:r>
            <a:endParaRPr lang="en-US" sz="1000" dirty="0"/>
          </a:p>
        </p:txBody>
      </p:sp>
      <p:sp>
        <p:nvSpPr>
          <p:cNvPr id="20300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301001" name=""/>
        <p:cNvGrpSpPr/>
        <p:nvPr/>
      </p:nvGrpSpPr>
      <p:grpSpPr>
        <a:xfrm>
          <a:off x="0" y="0"/>
          <a:ext cx="0" cy="0"/>
          <a:chOff x="0" y="0"/>
          <a:chExt cx="0" cy="0"/>
        </a:xfrm>
      </p:grpSpPr>
      <p:sp>
        <p:nvSpPr>
          <p:cNvPr id="301002"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3.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1001" name=""/>
        <p:cNvGrpSpPr/>
        <p:nvPr/>
      </p:nvGrpSpPr>
      <p:grpSpPr>
        <a:xfrm>
          <a:off x="0" y="0"/>
          <a:ext cx="0" cy="0"/>
          <a:chOff x="0" y="0"/>
          <a:chExt cx="0" cy="0"/>
        </a:xfrm>
      </p:grpSpPr>
      <p:sp>
        <p:nvSpPr>
          <p:cNvPr id="11002" name="Text 0"/>
          <p:cNvSpPr/>
          <p:nvPr>
            <p:ph idx="100" type="title" hasCustomPrompt="1"/>
          </p:nvPr>
        </p:nvSpPr>
        <p:spPr>
          <a:xfrm>
            <a:off x="548640" y="182880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Geocaching Map –</a:t>
            </a:r>
            <a:endParaRPr lang="en-US" sz="4400" dirty="0"/>
          </a:p>
          <a:p>
            <a:pPr algn="l" indent="0" marL="0">
              <a:buNone/>
            </a:pPr>
            <a:r>
              <a:rPr lang="en-US" sz="4400" b="1" dirty="0">
                <a:solidFill>
                  <a:schemeClr val="bg1"/>
                </a:solidFill>
              </a:rPr>
              <a:t>Custom Tile Layers</a:t>
            </a:r>
            <a:endParaRPr lang="en-US" sz="4400" dirty="0"/>
          </a:p>
        </p:txBody>
      </p:sp>
      <p:sp>
        <p:nvSpPr>
          <p:cNvPr id="11003" name="Text 0"/>
          <p:cNvSpPr/>
          <p:nvPr>
            <p:ph idx="101" type="body" hasCustomPrompt="1"/>
          </p:nvPr>
        </p:nvSpPr>
        <p:spPr>
          <a:xfrm>
            <a:off x="548640" y="3703320"/>
            <a:ext cx="5852160" cy="1188720"/>
          </a:xfrm>
          <a:prstGeom prst="rect">
            <a:avLst/>
          </a:prstGeom>
          <a:noFill/>
          <a:ln/>
        </p:spPr>
        <p:txBody>
          <a:bodyPr wrap="square" lIns="0" tIns="0" rIns="0" bIns="0" rtlCol="0" anchor="t"/>
          <a:lstStyle/>
          <a:p>
            <a:pPr algn="l" indent="0" marL="0">
              <a:buNone/>
            </a:pPr>
            <a:r>
              <a:rPr lang="en-US" sz="1800" dirty="0">
                <a:solidFill>
                  <a:schemeClr val="accent5"/>
                </a:solidFill>
              </a:rPr>
              <a:t>Egne kart og nyttige verktøy rett i geocaching.com-kartene</a:t>
            </a:r>
            <a:endParaRPr lang="en-US" sz="1800" dirty="0"/>
          </a:p>
        </p:txBody>
      </p:sp>
      <p:sp>
        <p:nvSpPr>
          <p:cNvPr id="11004" name="Text 2"/>
          <p:cNvSpPr txBox="1"/>
          <p:nvPr/>
        </p:nvSpPr>
        <p:spPr>
          <a:xfrm>
            <a:off x="548640" y="5120640"/>
            <a:ext cx="5852160" cy="365760"/>
          </a:xfrm>
          <a:prstGeom prst="rect">
            <a:avLst/>
          </a:prstGeom>
          <a:noFill/>
          <a:ln/>
        </p:spPr>
        <p:txBody>
          <a:bodyPr wrap="square" lIns="0" tIns="0" rIns="0" bIns="0" rtlCol="0" anchor="ctr"/>
          <a:lstStyle/>
          <a:p>
            <a:pPr indent="0" marL="0">
              <a:buNone/>
            </a:pPr>
            <a:r>
              <a:rPr lang="en-US" sz="1400" dirty="0">
                <a:solidFill>
                  <a:schemeClr val="accent5"/>
                </a:solidFill>
              </a:rPr>
              <a:t>Brukerskript · versjon 1.43.4 · norsk og engelsk</a:t>
            </a:r>
            <a:endParaRPr lang="en-US" sz="1400" dirty="0"/>
          </a:p>
        </p:txBody>
      </p:sp>
      <p:pic>
        <p:nvPicPr>
          <p:cNvPr id="11005" name="Kartlagpanelet" descr="Kartlagpanelet">    </p:cNvPr>
          <p:cNvPicPr>
            <a:picLocks noChangeAspect="1"/>
          </p:cNvPicPr>
          <p:nvPr/>
        </p:nvPicPr>
        <p:blipFill>
          <a:blip r:embed="rId1"/>
          <a:stretch>
            <a:fillRect/>
          </a:stretch>
        </p:blipFill>
        <p:spPr>
          <a:xfrm>
            <a:off x="8643092" y="548640"/>
            <a:ext cx="2634203" cy="5760720"/>
          </a:xfrm>
          <a:prstGeom prst="rect">
            <a:avLst/>
          </a:prstGeom>
          <a:effectLst>
            <a:outerShdw sx="100000" sy="100000" kx="0" ky="0" algn="bl" rotWithShape="0" blurRad="127000" dist="381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2001" name=""/>
        <p:cNvGrpSpPr/>
        <p:nvPr/>
      </p:nvGrpSpPr>
      <p:grpSpPr>
        <a:xfrm>
          <a:off x="0" y="0"/>
          <a:ext cx="0" cy="0"/>
          <a:chOff x="0" y="0"/>
          <a:chExt cx="0" cy="0"/>
        </a:xfrm>
      </p:grpSpPr>
      <p:sp>
        <p:nvSpPr>
          <p:cNvPr id="12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Alt du trenger på kartet, i én verktøylinje</a:t>
            </a:r>
            <a:endParaRPr lang="en-US" sz="3600" dirty="0"/>
          </a:p>
        </p:txBody>
      </p:sp>
      <p:sp>
        <p:nvSpPr>
          <p:cNvPr id="12003" name="Kort Hvilket kart som helst"/>
          <p:cNvSpPr/>
          <p:nvPr/>
        </p:nvSpPr>
        <p:spPr>
          <a:xfrm>
            <a:off x="548640" y="1417320"/>
            <a:ext cx="3484778" cy="2240280"/>
          </a:xfrm>
          <a:prstGeom prst="roundRect">
            <a:avLst>
              <a:gd name="adj" fmla="val 4898"/>
            </a:avLst>
          </a:prstGeom>
          <a:solidFill>
            <a:schemeClr val="bg2"/>
          </a:solidFill>
          <a:ln/>
        </p:spPr>
      </p:sp>
      <p:sp>
        <p:nvSpPr>
          <p:cNvPr id="12004" name="Ikon layers sirkel"/>
          <p:cNvSpPr/>
          <p:nvPr/>
        </p:nvSpPr>
        <p:spPr>
          <a:xfrm>
            <a:off x="868680" y="1737360"/>
            <a:ext cx="566928" cy="566928"/>
          </a:xfrm>
          <a:prstGeom prst="ellipse">
            <a:avLst/>
          </a:prstGeom>
          <a:solidFill>
            <a:schemeClr val="accent1"/>
          </a:solidFill>
          <a:ln/>
        </p:spPr>
      </p:sp>
      <p:pic>
        <p:nvPicPr>
          <p:cNvPr id="12005" name="Ikon layers" descr="layers">    </p:cNvPr>
          <p:cNvPicPr>
            <a:picLocks noChangeAspect="1"/>
          </p:cNvPicPr>
          <p:nvPr/>
        </p:nvPicPr>
        <p:blipFill>
          <a:blip r:embed="rId1"/>
          <a:stretch>
            <a:fillRect/>
          </a:stretch>
        </p:blipFill>
        <p:spPr>
          <a:xfrm>
            <a:off x="993404" y="1862084"/>
            <a:ext cx="317480" cy="317480"/>
          </a:xfrm>
          <a:prstGeom prst="rect">
            <a:avLst/>
          </a:prstGeom>
        </p:spPr>
      </p:pic>
      <p:sp>
        <p:nvSpPr>
          <p:cNvPr id="12006" name="Text 3"/>
          <p:cNvSpPr txBox="1"/>
          <p:nvPr/>
        </p:nvSpPr>
        <p:spPr>
          <a:xfrm>
            <a:off x="868680" y="24414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Hvilket kart som helst</a:t>
            </a:r>
            <a:endParaRPr lang="en-US" sz="1900" dirty="0"/>
          </a:p>
          <a:p>
            <a:pPr indent="0" marL="0">
              <a:spcAft>
                <a:spcPts val="400"/>
              </a:spcAft>
              <a:buNone/>
            </a:pPr>
            <a:r>
              <a:rPr lang="en-US" sz="1400" dirty="0">
                <a:solidFill>
                  <a:schemeClr val="accent4"/>
                </a:solidFill>
              </a:rPr>
              <a:t>Kartverket, OpenStreetMap, flyfoto – eller dine egne XYZ-, WMTS-, WMS- og ArcGIS-tjenester</a:t>
            </a:r>
            <a:endParaRPr lang="en-US" sz="1900" dirty="0"/>
          </a:p>
        </p:txBody>
      </p:sp>
      <p:sp>
        <p:nvSpPr>
          <p:cNvPr id="12007" name="Kort Stedssøk"/>
          <p:cNvSpPr/>
          <p:nvPr/>
        </p:nvSpPr>
        <p:spPr>
          <a:xfrm>
            <a:off x="4353458" y="1417320"/>
            <a:ext cx="3484778" cy="2240280"/>
          </a:xfrm>
          <a:prstGeom prst="roundRect">
            <a:avLst>
              <a:gd name="adj" fmla="val 4898"/>
            </a:avLst>
          </a:prstGeom>
          <a:solidFill>
            <a:schemeClr val="bg2"/>
          </a:solidFill>
          <a:ln/>
        </p:spPr>
      </p:sp>
      <p:sp>
        <p:nvSpPr>
          <p:cNvPr id="12008" name="Ikon search sirkel"/>
          <p:cNvSpPr/>
          <p:nvPr/>
        </p:nvSpPr>
        <p:spPr>
          <a:xfrm>
            <a:off x="4673498" y="1737360"/>
            <a:ext cx="566928" cy="566928"/>
          </a:xfrm>
          <a:prstGeom prst="ellipse">
            <a:avLst/>
          </a:prstGeom>
          <a:solidFill>
            <a:schemeClr val="accent1"/>
          </a:solidFill>
          <a:ln/>
        </p:spPr>
      </p:sp>
      <p:pic>
        <p:nvPicPr>
          <p:cNvPr id="12009" name="Ikon search" descr="search">    </p:cNvPr>
          <p:cNvPicPr>
            <a:picLocks noChangeAspect="1"/>
          </p:cNvPicPr>
          <p:nvPr/>
        </p:nvPicPr>
        <p:blipFill>
          <a:blip r:embed="rId2"/>
          <a:stretch>
            <a:fillRect/>
          </a:stretch>
        </p:blipFill>
        <p:spPr>
          <a:xfrm>
            <a:off x="4798223" y="1862084"/>
            <a:ext cx="317480" cy="317480"/>
          </a:xfrm>
          <a:prstGeom prst="rect">
            <a:avLst/>
          </a:prstGeom>
        </p:spPr>
      </p:pic>
      <p:sp>
        <p:nvSpPr>
          <p:cNvPr id="12010" name="Text 6"/>
          <p:cNvSpPr txBox="1"/>
          <p:nvPr/>
        </p:nvSpPr>
        <p:spPr>
          <a:xfrm>
            <a:off x="4673498" y="24414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Stedssøk</a:t>
            </a:r>
            <a:endParaRPr lang="en-US" sz="1900" dirty="0"/>
          </a:p>
          <a:p>
            <a:pPr indent="0" marL="0">
              <a:spcAft>
                <a:spcPts val="400"/>
              </a:spcAft>
              <a:buNone/>
            </a:pPr>
            <a:r>
              <a:rPr lang="en-US" sz="1400" dirty="0">
                <a:solidFill>
                  <a:schemeClr val="accent4"/>
                </a:solidFill>
              </a:rPr>
              <a:t>Stedsnavn og adresser fra Kartverket, steder i utlandet og koordinater – i én liste</a:t>
            </a:r>
            <a:endParaRPr lang="en-US" sz="1900" dirty="0"/>
          </a:p>
        </p:txBody>
      </p:sp>
      <p:sp>
        <p:nvSpPr>
          <p:cNvPr id="12011" name="Kort Koordinater og projisering"/>
          <p:cNvSpPr/>
          <p:nvPr/>
        </p:nvSpPr>
        <p:spPr>
          <a:xfrm>
            <a:off x="8158277" y="1417320"/>
            <a:ext cx="3484778" cy="2240280"/>
          </a:xfrm>
          <a:prstGeom prst="roundRect">
            <a:avLst>
              <a:gd name="adj" fmla="val 4898"/>
            </a:avLst>
          </a:prstGeom>
          <a:solidFill>
            <a:schemeClr val="bg2"/>
          </a:solidFill>
          <a:ln/>
        </p:spPr>
      </p:sp>
      <p:sp>
        <p:nvSpPr>
          <p:cNvPr id="12012" name="Ikon compass sirkel"/>
          <p:cNvSpPr/>
          <p:nvPr/>
        </p:nvSpPr>
        <p:spPr>
          <a:xfrm>
            <a:off x="8478317" y="1737360"/>
            <a:ext cx="566928" cy="566928"/>
          </a:xfrm>
          <a:prstGeom prst="ellipse">
            <a:avLst/>
          </a:prstGeom>
          <a:solidFill>
            <a:schemeClr val="accent1"/>
          </a:solidFill>
          <a:ln/>
        </p:spPr>
      </p:sp>
      <p:pic>
        <p:nvPicPr>
          <p:cNvPr id="12013" name="Ikon compass" descr="compass">    </p:cNvPr>
          <p:cNvPicPr>
            <a:picLocks noChangeAspect="1"/>
          </p:cNvPicPr>
          <p:nvPr/>
        </p:nvPicPr>
        <p:blipFill>
          <a:blip r:embed="rId3"/>
          <a:stretch>
            <a:fillRect/>
          </a:stretch>
        </p:blipFill>
        <p:spPr>
          <a:xfrm>
            <a:off x="8603041" y="1862084"/>
            <a:ext cx="317480" cy="317480"/>
          </a:xfrm>
          <a:prstGeom prst="rect">
            <a:avLst/>
          </a:prstGeom>
        </p:spPr>
      </p:pic>
      <p:sp>
        <p:nvSpPr>
          <p:cNvPr id="12014" name="Text 9"/>
          <p:cNvSpPr txBox="1"/>
          <p:nvPr/>
        </p:nvSpPr>
        <p:spPr>
          <a:xfrm>
            <a:off x="8478317" y="24414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Koordinater og projisering</a:t>
            </a:r>
            <a:endParaRPr lang="en-US" sz="1900" dirty="0"/>
          </a:p>
          <a:p>
            <a:pPr indent="0" marL="0">
              <a:spcAft>
                <a:spcPts val="400"/>
              </a:spcAft>
              <a:buNone/>
            </a:pPr>
            <a:r>
              <a:rPr lang="en-US" sz="1400" dirty="0">
                <a:solidFill>
                  <a:schemeClr val="accent4"/>
                </a:solidFill>
              </a:rPr>
              <a:t>DMM, DD, DMS og UTM (32, 33, 35), projisering og måling av avstand og retning</a:t>
            </a:r>
            <a:endParaRPr lang="en-US" sz="1900" dirty="0"/>
          </a:p>
        </p:txBody>
      </p:sp>
      <p:sp>
        <p:nvSpPr>
          <p:cNvPr id="12015" name="Kort 161 m-sirkler"/>
          <p:cNvSpPr/>
          <p:nvPr/>
        </p:nvSpPr>
        <p:spPr>
          <a:xfrm>
            <a:off x="548640" y="3931920"/>
            <a:ext cx="3484778" cy="2240280"/>
          </a:xfrm>
          <a:prstGeom prst="roundRect">
            <a:avLst>
              <a:gd name="adj" fmla="val 4898"/>
            </a:avLst>
          </a:prstGeom>
          <a:solidFill>
            <a:schemeClr val="bg2"/>
          </a:solidFill>
          <a:ln/>
        </p:spPr>
      </p:sp>
      <p:sp>
        <p:nvSpPr>
          <p:cNvPr id="12016" name="Ikon circles sirkel"/>
          <p:cNvSpPr/>
          <p:nvPr/>
        </p:nvSpPr>
        <p:spPr>
          <a:xfrm>
            <a:off x="868680" y="4251960"/>
            <a:ext cx="566928" cy="566928"/>
          </a:xfrm>
          <a:prstGeom prst="ellipse">
            <a:avLst/>
          </a:prstGeom>
          <a:solidFill>
            <a:schemeClr val="accent1"/>
          </a:solidFill>
          <a:ln/>
        </p:spPr>
      </p:sp>
      <p:pic>
        <p:nvPicPr>
          <p:cNvPr id="12017" name="Ikon circles" descr="circles">    </p:cNvPr>
          <p:cNvPicPr>
            <a:picLocks noChangeAspect="1"/>
          </p:cNvPicPr>
          <p:nvPr/>
        </p:nvPicPr>
        <p:blipFill>
          <a:blip r:embed="rId4"/>
          <a:stretch>
            <a:fillRect/>
          </a:stretch>
        </p:blipFill>
        <p:spPr>
          <a:xfrm>
            <a:off x="993404" y="4376684"/>
            <a:ext cx="317480" cy="317480"/>
          </a:xfrm>
          <a:prstGeom prst="rect">
            <a:avLst/>
          </a:prstGeom>
        </p:spPr>
      </p:pic>
      <p:sp>
        <p:nvSpPr>
          <p:cNvPr id="12018" name="Text 12"/>
          <p:cNvSpPr txBox="1"/>
          <p:nvPr/>
        </p:nvSpPr>
        <p:spPr>
          <a:xfrm>
            <a:off x="868680" y="49560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161 m-sirkler</a:t>
            </a:r>
            <a:endParaRPr lang="en-US" sz="1900" dirty="0"/>
          </a:p>
          <a:p>
            <a:pPr indent="0" marL="0">
              <a:spcAft>
                <a:spcPts val="400"/>
              </a:spcAft>
              <a:buNone/>
            </a:pPr>
            <a:r>
              <a:rPr lang="en-US" sz="1400" dirty="0">
                <a:solidFill>
                  <a:schemeClr val="accent4"/>
                </a:solidFill>
              </a:rPr>
              <a:t>Rundt tradisjonelle og løste cacher og synlige fysiske steg – med klikkbare merker</a:t>
            </a:r>
            <a:endParaRPr lang="en-US" sz="1900" dirty="0"/>
          </a:p>
        </p:txBody>
      </p:sp>
      <p:sp>
        <p:nvSpPr>
          <p:cNvPr id="12019" name="Kort Hjem, posisjon og Street View"/>
          <p:cNvSpPr/>
          <p:nvPr/>
        </p:nvSpPr>
        <p:spPr>
          <a:xfrm>
            <a:off x="4353458" y="3931920"/>
            <a:ext cx="3484778" cy="2240280"/>
          </a:xfrm>
          <a:prstGeom prst="roundRect">
            <a:avLst>
              <a:gd name="adj" fmla="val 4898"/>
            </a:avLst>
          </a:prstGeom>
          <a:solidFill>
            <a:schemeClr val="bg2"/>
          </a:solidFill>
          <a:ln/>
        </p:spPr>
      </p:sp>
      <p:sp>
        <p:nvSpPr>
          <p:cNvPr id="12020" name="Ikon home sirkel"/>
          <p:cNvSpPr/>
          <p:nvPr/>
        </p:nvSpPr>
        <p:spPr>
          <a:xfrm>
            <a:off x="4673498" y="4251960"/>
            <a:ext cx="566928" cy="566928"/>
          </a:xfrm>
          <a:prstGeom prst="ellipse">
            <a:avLst/>
          </a:prstGeom>
          <a:solidFill>
            <a:schemeClr val="accent1"/>
          </a:solidFill>
          <a:ln/>
        </p:spPr>
      </p:sp>
      <p:pic>
        <p:nvPicPr>
          <p:cNvPr id="12021" name="Ikon home" descr="home">    </p:cNvPr>
          <p:cNvPicPr>
            <a:picLocks noChangeAspect="1"/>
          </p:cNvPicPr>
          <p:nvPr/>
        </p:nvPicPr>
        <p:blipFill>
          <a:blip r:embed="rId5"/>
          <a:stretch>
            <a:fillRect/>
          </a:stretch>
        </p:blipFill>
        <p:spPr>
          <a:xfrm>
            <a:off x="4798223" y="4376684"/>
            <a:ext cx="317480" cy="317480"/>
          </a:xfrm>
          <a:prstGeom prst="rect">
            <a:avLst/>
          </a:prstGeom>
        </p:spPr>
      </p:pic>
      <p:sp>
        <p:nvSpPr>
          <p:cNvPr id="12022" name="Text 15"/>
          <p:cNvSpPr txBox="1"/>
          <p:nvPr/>
        </p:nvSpPr>
        <p:spPr>
          <a:xfrm>
            <a:off x="4673498" y="49560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Hjem, posisjon og Street View</a:t>
            </a:r>
            <a:endParaRPr lang="en-US" sz="1900" dirty="0"/>
          </a:p>
          <a:p>
            <a:pPr indent="0" marL="0">
              <a:spcAft>
                <a:spcPts val="400"/>
              </a:spcAft>
              <a:buNone/>
            </a:pPr>
            <a:r>
              <a:rPr lang="en-US" sz="1400" dirty="0">
                <a:solidFill>
                  <a:schemeClr val="accent4"/>
                </a:solidFill>
              </a:rPr>
              <a:t>Gå til hjemadressen eller din posisjon, og åpne Google Street View fra høyreklikkmenyen</a:t>
            </a:r>
            <a:endParaRPr lang="en-US" sz="1900" dirty="0"/>
          </a:p>
        </p:txBody>
      </p:sp>
      <p:sp>
        <p:nvSpPr>
          <p:cNvPr id="12023" name="Kort Rent kart og cachesider"/>
          <p:cNvSpPr/>
          <p:nvPr/>
        </p:nvSpPr>
        <p:spPr>
          <a:xfrm>
            <a:off x="8158277" y="3931920"/>
            <a:ext cx="3484778" cy="2240280"/>
          </a:xfrm>
          <a:prstGeom prst="roundRect">
            <a:avLst>
              <a:gd name="adj" fmla="val 4898"/>
            </a:avLst>
          </a:prstGeom>
          <a:solidFill>
            <a:schemeClr val="bg2"/>
          </a:solidFill>
          <a:ln/>
        </p:spPr>
      </p:sp>
      <p:sp>
        <p:nvSpPr>
          <p:cNvPr id="12024" name="Ikon eyeoff sirkel"/>
          <p:cNvSpPr/>
          <p:nvPr/>
        </p:nvSpPr>
        <p:spPr>
          <a:xfrm>
            <a:off x="8478317" y="4251960"/>
            <a:ext cx="566928" cy="566928"/>
          </a:xfrm>
          <a:prstGeom prst="ellipse">
            <a:avLst/>
          </a:prstGeom>
          <a:solidFill>
            <a:schemeClr val="accent1"/>
          </a:solidFill>
          <a:ln/>
        </p:spPr>
      </p:sp>
      <p:pic>
        <p:nvPicPr>
          <p:cNvPr id="12025" name="Ikon eyeoff" descr="eyeoff">    </p:cNvPr>
          <p:cNvPicPr>
            <a:picLocks noChangeAspect="1"/>
          </p:cNvPicPr>
          <p:nvPr/>
        </p:nvPicPr>
        <p:blipFill>
          <a:blip r:embed="rId6"/>
          <a:stretch>
            <a:fillRect/>
          </a:stretch>
        </p:blipFill>
        <p:spPr>
          <a:xfrm>
            <a:off x="8603041" y="4376684"/>
            <a:ext cx="317480" cy="317480"/>
          </a:xfrm>
          <a:prstGeom prst="rect">
            <a:avLst/>
          </a:prstGeom>
        </p:spPr>
      </p:pic>
      <p:sp>
        <p:nvSpPr>
          <p:cNvPr id="12026" name="Text 18"/>
          <p:cNvSpPr txBox="1"/>
          <p:nvPr/>
        </p:nvSpPr>
        <p:spPr>
          <a:xfrm>
            <a:off x="8478317" y="4956048"/>
            <a:ext cx="2844698" cy="105156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Rent kart og cachesider</a:t>
            </a:r>
            <a:endParaRPr lang="en-US" sz="1900" dirty="0"/>
          </a:p>
          <a:p>
            <a:pPr indent="0" marL="0">
              <a:spcAft>
                <a:spcPts val="400"/>
              </a:spcAft>
              <a:buNone/>
            </a:pPr>
            <a:r>
              <a:rPr lang="en-US" sz="1400" dirty="0">
                <a:solidFill>
                  <a:schemeClr val="accent4"/>
                </a:solidFill>
              </a:rPr>
              <a:t>Skjul alle geocacher med ett klikk. Valgt kart vises også på cachesidene</a:t>
            </a:r>
            <a:endParaRPr lang="en-US" sz="1900" dirty="0"/>
          </a:p>
        </p:txBody>
      </p:sp>
      <p:sp>
        <p:nvSpPr>
          <p:cNvPr id="1202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3001" name=""/>
        <p:cNvGrpSpPr/>
        <p:nvPr/>
      </p:nvGrpSpPr>
      <p:grpSpPr>
        <a:xfrm>
          <a:off x="0" y="0"/>
          <a:ext cx="0" cy="0"/>
          <a:chOff x="0" y="0"/>
          <a:chExt cx="0" cy="0"/>
        </a:xfrm>
      </p:grpSpPr>
      <p:sp>
        <p:nvSpPr>
          <p:cNvPr id="13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Én verktøylinje i stedet for mange knapper</a:t>
            </a:r>
            <a:endParaRPr lang="en-US" sz="3600" dirty="0"/>
          </a:p>
        </p:txBody>
      </p:sp>
      <p:sp>
        <p:nvSpPr>
          <p:cNvPr id="13003" name="Verktøylinjen bakgrunn"/>
          <p:cNvSpPr/>
          <p:nvPr/>
        </p:nvSpPr>
        <p:spPr>
          <a:xfrm>
            <a:off x="548640" y="1371600"/>
            <a:ext cx="1463040" cy="4846320"/>
          </a:xfrm>
          <a:prstGeom prst="roundRect">
            <a:avLst>
              <a:gd name="adj" fmla="val 7500"/>
            </a:avLst>
          </a:prstGeom>
          <a:solidFill>
            <a:schemeClr val="bg2"/>
          </a:solidFill>
          <a:ln/>
        </p:spPr>
      </p:sp>
      <p:pic>
        <p:nvPicPr>
          <p:cNvPr id="13004" name="Verktøylinjen" descr="Verktøylinjen">    </p:cNvPr>
          <p:cNvPicPr>
            <a:picLocks noChangeAspect="1"/>
          </p:cNvPicPr>
          <p:nvPr/>
        </p:nvPicPr>
        <p:blipFill>
          <a:blip r:embed="rId1"/>
          <a:stretch>
            <a:fillRect/>
          </a:stretch>
        </p:blipFill>
        <p:spPr>
          <a:xfrm>
            <a:off x="1095260" y="1572768"/>
            <a:ext cx="369801" cy="4443984"/>
          </a:xfrm>
          <a:prstGeom prst="rect">
            <a:avLst/>
          </a:prstGeom>
        </p:spPr>
      </p:pic>
      <p:sp>
        <p:nvSpPr>
          <p:cNvPr id="13005" name="Ikon layers sirkel"/>
          <p:cNvSpPr/>
          <p:nvPr/>
        </p:nvSpPr>
        <p:spPr>
          <a:xfrm>
            <a:off x="2514600" y="1453896"/>
            <a:ext cx="512064" cy="512064"/>
          </a:xfrm>
          <a:prstGeom prst="ellipse">
            <a:avLst/>
          </a:prstGeom>
          <a:solidFill>
            <a:schemeClr val="accent1"/>
          </a:solidFill>
          <a:ln/>
        </p:spPr>
      </p:sp>
      <p:pic>
        <p:nvPicPr>
          <p:cNvPr id="13006" name="Ikon layers" descr="layers">    </p:cNvPr>
          <p:cNvPicPr>
            <a:picLocks noChangeAspect="1"/>
          </p:cNvPicPr>
          <p:nvPr/>
        </p:nvPicPr>
        <p:blipFill>
          <a:blip r:embed="rId2"/>
          <a:stretch>
            <a:fillRect/>
          </a:stretch>
        </p:blipFill>
        <p:spPr>
          <a:xfrm>
            <a:off x="2627254" y="1566550"/>
            <a:ext cx="286756" cy="286756"/>
          </a:xfrm>
          <a:prstGeom prst="rect">
            <a:avLst/>
          </a:prstGeom>
        </p:spPr>
      </p:pic>
      <p:sp>
        <p:nvSpPr>
          <p:cNvPr id="13007" name="Text 3"/>
          <p:cNvSpPr txBox="1"/>
          <p:nvPr/>
        </p:nvSpPr>
        <p:spPr>
          <a:xfrm>
            <a:off x="3227832" y="1380744"/>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Kartlag</a:t>
            </a:r>
            <a:endParaRPr lang="en-US" sz="1700" dirty="0"/>
          </a:p>
          <a:p>
            <a:pPr indent="0" marL="0">
              <a:spcAft>
                <a:spcPts val="200"/>
              </a:spcAft>
              <a:buNone/>
            </a:pPr>
            <a:r>
              <a:rPr lang="en-US" sz="1400" dirty="0">
                <a:solidFill>
                  <a:schemeClr val="accent4"/>
                </a:solidFill>
              </a:rPr>
              <a:t>Velg bakgrunnskart og overlegg</a:t>
            </a:r>
            <a:endParaRPr lang="en-US" sz="1700" dirty="0"/>
          </a:p>
        </p:txBody>
      </p:sp>
      <p:sp>
        <p:nvSpPr>
          <p:cNvPr id="13008" name="Ikon search sirkel"/>
          <p:cNvSpPr/>
          <p:nvPr/>
        </p:nvSpPr>
        <p:spPr>
          <a:xfrm>
            <a:off x="2514600" y="2167128"/>
            <a:ext cx="512064" cy="512064"/>
          </a:xfrm>
          <a:prstGeom prst="ellipse">
            <a:avLst/>
          </a:prstGeom>
          <a:solidFill>
            <a:schemeClr val="accent1"/>
          </a:solidFill>
          <a:ln/>
        </p:spPr>
      </p:sp>
      <p:pic>
        <p:nvPicPr>
          <p:cNvPr id="13009" name="Ikon search" descr="search">    </p:cNvPr>
          <p:cNvPicPr>
            <a:picLocks noChangeAspect="1"/>
          </p:cNvPicPr>
          <p:nvPr/>
        </p:nvPicPr>
        <p:blipFill>
          <a:blip r:embed="rId3"/>
          <a:stretch>
            <a:fillRect/>
          </a:stretch>
        </p:blipFill>
        <p:spPr>
          <a:xfrm>
            <a:off x="2627254" y="2279782"/>
            <a:ext cx="286756" cy="286756"/>
          </a:xfrm>
          <a:prstGeom prst="rect">
            <a:avLst/>
          </a:prstGeom>
        </p:spPr>
      </p:pic>
      <p:sp>
        <p:nvSpPr>
          <p:cNvPr id="13010" name="Text 5"/>
          <p:cNvSpPr txBox="1"/>
          <p:nvPr/>
        </p:nvSpPr>
        <p:spPr>
          <a:xfrm>
            <a:off x="3227832" y="2093976"/>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Finn et sted</a:t>
            </a:r>
            <a:endParaRPr lang="en-US" sz="1700" dirty="0"/>
          </a:p>
          <a:p>
            <a:pPr indent="0" marL="0">
              <a:spcAft>
                <a:spcPts val="200"/>
              </a:spcAft>
              <a:buNone/>
            </a:pPr>
            <a:r>
              <a:rPr lang="en-US" sz="1400" dirty="0">
                <a:solidFill>
                  <a:schemeClr val="accent4"/>
                </a:solidFill>
              </a:rPr>
              <a:t>Snarvei: trykk / på kartet</a:t>
            </a:r>
            <a:endParaRPr lang="en-US" sz="1700" dirty="0"/>
          </a:p>
        </p:txBody>
      </p:sp>
      <p:sp>
        <p:nvSpPr>
          <p:cNvPr id="13011" name="Ikon ruler sirkel"/>
          <p:cNvSpPr/>
          <p:nvPr/>
        </p:nvSpPr>
        <p:spPr>
          <a:xfrm>
            <a:off x="2514600" y="2880360"/>
            <a:ext cx="512064" cy="512064"/>
          </a:xfrm>
          <a:prstGeom prst="ellipse">
            <a:avLst/>
          </a:prstGeom>
          <a:solidFill>
            <a:schemeClr val="accent1"/>
          </a:solidFill>
          <a:ln/>
        </p:spPr>
      </p:sp>
      <p:pic>
        <p:nvPicPr>
          <p:cNvPr id="13012" name="Ikon ruler" descr="ruler">    </p:cNvPr>
          <p:cNvPicPr>
            <a:picLocks noChangeAspect="1"/>
          </p:cNvPicPr>
          <p:nvPr/>
        </p:nvPicPr>
        <p:blipFill>
          <a:blip r:embed="rId4"/>
          <a:stretch>
            <a:fillRect/>
          </a:stretch>
        </p:blipFill>
        <p:spPr>
          <a:xfrm>
            <a:off x="2627254" y="2993014"/>
            <a:ext cx="286756" cy="286756"/>
          </a:xfrm>
          <a:prstGeom prst="rect">
            <a:avLst/>
          </a:prstGeom>
        </p:spPr>
      </p:pic>
      <p:sp>
        <p:nvSpPr>
          <p:cNvPr id="13013" name="Text 7"/>
          <p:cNvSpPr txBox="1"/>
          <p:nvPr/>
        </p:nvSpPr>
        <p:spPr>
          <a:xfrm>
            <a:off x="3227832" y="2807208"/>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Mål</a:t>
            </a:r>
            <a:endParaRPr lang="en-US" sz="1700" dirty="0"/>
          </a:p>
          <a:p>
            <a:pPr indent="0" marL="0">
              <a:spcAft>
                <a:spcPts val="200"/>
              </a:spcAft>
              <a:buNone/>
            </a:pPr>
            <a:r>
              <a:rPr lang="en-US" sz="1400" dirty="0">
                <a:solidFill>
                  <a:schemeClr val="accent4"/>
                </a:solidFill>
              </a:rPr>
              <a:t>Avstand og retning mellom punkter</a:t>
            </a:r>
            <a:endParaRPr lang="en-US" sz="1700" dirty="0"/>
          </a:p>
        </p:txBody>
      </p:sp>
      <p:sp>
        <p:nvSpPr>
          <p:cNvPr id="13014" name="Ikon circles sirkel"/>
          <p:cNvSpPr/>
          <p:nvPr/>
        </p:nvSpPr>
        <p:spPr>
          <a:xfrm>
            <a:off x="2514600" y="3593592"/>
            <a:ext cx="512064" cy="512064"/>
          </a:xfrm>
          <a:prstGeom prst="ellipse">
            <a:avLst/>
          </a:prstGeom>
          <a:solidFill>
            <a:schemeClr val="accent1"/>
          </a:solidFill>
          <a:ln/>
        </p:spPr>
      </p:sp>
      <p:pic>
        <p:nvPicPr>
          <p:cNvPr id="13015" name="Ikon circles" descr="circles">    </p:cNvPr>
          <p:cNvPicPr>
            <a:picLocks noChangeAspect="1"/>
          </p:cNvPicPr>
          <p:nvPr/>
        </p:nvPicPr>
        <p:blipFill>
          <a:blip r:embed="rId5"/>
          <a:stretch>
            <a:fillRect/>
          </a:stretch>
        </p:blipFill>
        <p:spPr>
          <a:xfrm>
            <a:off x="2627254" y="3706246"/>
            <a:ext cx="286756" cy="286756"/>
          </a:xfrm>
          <a:prstGeom prst="rect">
            <a:avLst/>
          </a:prstGeom>
        </p:spPr>
      </p:pic>
      <p:sp>
        <p:nvSpPr>
          <p:cNvPr id="13016" name="Text 9"/>
          <p:cNvSpPr txBox="1"/>
          <p:nvPr/>
        </p:nvSpPr>
        <p:spPr>
          <a:xfrm>
            <a:off x="3227832" y="3520440"/>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161 m-sirkler</a:t>
            </a:r>
            <a:endParaRPr lang="en-US" sz="1700" dirty="0"/>
          </a:p>
          <a:p>
            <a:pPr indent="0" marL="0">
              <a:spcAft>
                <a:spcPts val="200"/>
              </a:spcAft>
              <a:buNone/>
            </a:pPr>
            <a:r>
              <a:rPr lang="en-US" sz="1400" dirty="0">
                <a:solidFill>
                  <a:schemeClr val="accent4"/>
                </a:solidFill>
              </a:rPr>
              <a:t>Der noe er utplassert – fra zoom 15</a:t>
            </a:r>
            <a:endParaRPr lang="en-US" sz="1700" dirty="0"/>
          </a:p>
        </p:txBody>
      </p:sp>
      <p:sp>
        <p:nvSpPr>
          <p:cNvPr id="13017" name="Ikon solved sirkel"/>
          <p:cNvSpPr/>
          <p:nvPr/>
        </p:nvSpPr>
        <p:spPr>
          <a:xfrm>
            <a:off x="2514600" y="4306824"/>
            <a:ext cx="512064" cy="512064"/>
          </a:xfrm>
          <a:prstGeom prst="ellipse">
            <a:avLst/>
          </a:prstGeom>
          <a:solidFill>
            <a:schemeClr val="accent1"/>
          </a:solidFill>
          <a:ln/>
        </p:spPr>
      </p:sp>
      <p:pic>
        <p:nvPicPr>
          <p:cNvPr id="13018" name="Ikon solved" descr="solved">    </p:cNvPr>
          <p:cNvPicPr>
            <a:picLocks noChangeAspect="1"/>
          </p:cNvPicPr>
          <p:nvPr/>
        </p:nvPicPr>
        <p:blipFill>
          <a:blip r:embed="rId6"/>
          <a:stretch>
            <a:fillRect/>
          </a:stretch>
        </p:blipFill>
        <p:spPr>
          <a:xfrm>
            <a:off x="2627254" y="4419478"/>
            <a:ext cx="286756" cy="286756"/>
          </a:xfrm>
          <a:prstGeom prst="rect">
            <a:avLst/>
          </a:prstGeom>
        </p:spPr>
      </p:pic>
      <p:sp>
        <p:nvSpPr>
          <p:cNvPr id="13019" name="Text 11"/>
          <p:cNvSpPr txBox="1"/>
          <p:nvPr/>
        </p:nvSpPr>
        <p:spPr>
          <a:xfrm>
            <a:off x="3227832" y="4233672"/>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Merker</a:t>
            </a:r>
            <a:endParaRPr lang="en-US" sz="1700" dirty="0"/>
          </a:p>
          <a:p>
            <a:pPr indent="0" marL="0">
              <a:spcAft>
                <a:spcPts val="200"/>
              </a:spcAft>
              <a:buNone/>
            </a:pPr>
            <a:r>
              <a:rPr lang="en-US" sz="1400" dirty="0">
                <a:solidFill>
                  <a:schemeClr val="accent4"/>
                </a:solidFill>
              </a:rPr>
              <a:t>Løste cacher, også uten sirkler</a:t>
            </a:r>
            <a:endParaRPr lang="en-US" sz="1700" dirty="0"/>
          </a:p>
        </p:txBody>
      </p:sp>
      <p:sp>
        <p:nvSpPr>
          <p:cNvPr id="13020" name="Ikon dt sirkel"/>
          <p:cNvSpPr/>
          <p:nvPr/>
        </p:nvSpPr>
        <p:spPr>
          <a:xfrm>
            <a:off x="2514600" y="5020056"/>
            <a:ext cx="512064" cy="512064"/>
          </a:xfrm>
          <a:prstGeom prst="ellipse">
            <a:avLst/>
          </a:prstGeom>
          <a:solidFill>
            <a:schemeClr val="accent1"/>
          </a:solidFill>
          <a:ln/>
        </p:spPr>
      </p:sp>
      <p:pic>
        <p:nvPicPr>
          <p:cNvPr id="13021" name="Ikon dt" descr="dt">    </p:cNvPr>
          <p:cNvPicPr>
            <a:picLocks noChangeAspect="1"/>
          </p:cNvPicPr>
          <p:nvPr/>
        </p:nvPicPr>
        <p:blipFill>
          <a:blip r:embed="rId7"/>
          <a:stretch>
            <a:fillRect/>
          </a:stretch>
        </p:blipFill>
        <p:spPr>
          <a:xfrm>
            <a:off x="2627254" y="5132710"/>
            <a:ext cx="286756" cy="286756"/>
          </a:xfrm>
          <a:prstGeom prst="rect">
            <a:avLst/>
          </a:prstGeom>
        </p:spPr>
      </p:pic>
      <p:sp>
        <p:nvSpPr>
          <p:cNvPr id="13022" name="Text 13"/>
          <p:cNvSpPr txBox="1"/>
          <p:nvPr/>
        </p:nvSpPr>
        <p:spPr>
          <a:xfrm>
            <a:off x="3227832" y="4946904"/>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D/T</a:t>
            </a:r>
            <a:endParaRPr lang="en-US" sz="1700" dirty="0"/>
          </a:p>
          <a:p>
            <a:pPr indent="0" marL="0">
              <a:spcAft>
                <a:spcPts val="200"/>
              </a:spcAft>
              <a:buNone/>
            </a:pPr>
            <a:r>
              <a:rPr lang="en-US" sz="1400" dirty="0">
                <a:solidFill>
                  <a:schemeClr val="accent4"/>
                </a:solidFill>
              </a:rPr>
              <a:t>Vanskelighet/terreng under cachene – av/på</a:t>
            </a:r>
            <a:endParaRPr lang="en-US" sz="1700" dirty="0"/>
          </a:p>
        </p:txBody>
      </p:sp>
      <p:sp>
        <p:nvSpPr>
          <p:cNvPr id="13023" name="Ikon locate sirkel"/>
          <p:cNvSpPr/>
          <p:nvPr/>
        </p:nvSpPr>
        <p:spPr>
          <a:xfrm>
            <a:off x="2514600" y="5733288"/>
            <a:ext cx="512064" cy="512064"/>
          </a:xfrm>
          <a:prstGeom prst="ellipse">
            <a:avLst/>
          </a:prstGeom>
          <a:solidFill>
            <a:schemeClr val="accent1"/>
          </a:solidFill>
          <a:ln/>
        </p:spPr>
      </p:sp>
      <p:pic>
        <p:nvPicPr>
          <p:cNvPr id="13024" name="Ikon locate" descr="locate">    </p:cNvPr>
          <p:cNvPicPr>
            <a:picLocks noChangeAspect="1"/>
          </p:cNvPicPr>
          <p:nvPr/>
        </p:nvPicPr>
        <p:blipFill>
          <a:blip r:embed="rId8"/>
          <a:stretch>
            <a:fillRect/>
          </a:stretch>
        </p:blipFill>
        <p:spPr>
          <a:xfrm>
            <a:off x="2627254" y="5845942"/>
            <a:ext cx="286756" cy="286756"/>
          </a:xfrm>
          <a:prstGeom prst="rect">
            <a:avLst/>
          </a:prstGeom>
        </p:spPr>
      </p:pic>
      <p:sp>
        <p:nvSpPr>
          <p:cNvPr id="13025" name="Text 15"/>
          <p:cNvSpPr txBox="1"/>
          <p:nvPr/>
        </p:nvSpPr>
        <p:spPr>
          <a:xfrm>
            <a:off x="3227832" y="5660136"/>
            <a:ext cx="349300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Min posisjon</a:t>
            </a:r>
            <a:endParaRPr lang="en-US" sz="1700" dirty="0"/>
          </a:p>
          <a:p>
            <a:pPr indent="0" marL="0">
              <a:spcAft>
                <a:spcPts val="200"/>
              </a:spcAft>
              <a:buNone/>
            </a:pPr>
            <a:r>
              <a:rPr lang="en-US" sz="1400" dirty="0">
                <a:solidFill>
                  <a:schemeClr val="accent4"/>
                </a:solidFill>
              </a:rPr>
              <a:t>Med sirkel for nøyaktighet</a:t>
            </a:r>
            <a:endParaRPr lang="en-US" sz="1700" dirty="0"/>
          </a:p>
        </p:txBody>
      </p:sp>
      <p:sp>
        <p:nvSpPr>
          <p:cNvPr id="13026" name="Ikon home sirkel"/>
          <p:cNvSpPr/>
          <p:nvPr/>
        </p:nvSpPr>
        <p:spPr>
          <a:xfrm>
            <a:off x="7086600" y="1453896"/>
            <a:ext cx="512064" cy="512064"/>
          </a:xfrm>
          <a:prstGeom prst="ellipse">
            <a:avLst/>
          </a:prstGeom>
          <a:solidFill>
            <a:schemeClr val="accent1"/>
          </a:solidFill>
          <a:ln/>
        </p:spPr>
      </p:sp>
      <p:pic>
        <p:nvPicPr>
          <p:cNvPr id="13027" name="Ikon home" descr="home">    </p:cNvPr>
          <p:cNvPicPr>
            <a:picLocks noChangeAspect="1"/>
          </p:cNvPicPr>
          <p:nvPr/>
        </p:nvPicPr>
        <p:blipFill>
          <a:blip r:embed="rId9"/>
          <a:stretch>
            <a:fillRect/>
          </a:stretch>
        </p:blipFill>
        <p:spPr>
          <a:xfrm>
            <a:off x="7199254" y="1566550"/>
            <a:ext cx="286756" cy="286756"/>
          </a:xfrm>
          <a:prstGeom prst="rect">
            <a:avLst/>
          </a:prstGeom>
        </p:spPr>
      </p:pic>
      <p:sp>
        <p:nvSpPr>
          <p:cNvPr id="13028" name="Text 17"/>
          <p:cNvSpPr txBox="1"/>
          <p:nvPr/>
        </p:nvSpPr>
        <p:spPr>
          <a:xfrm>
            <a:off x="7799832" y="1380744"/>
            <a:ext cx="376732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Hjem</a:t>
            </a:r>
            <a:endParaRPr lang="en-US" sz="1700" dirty="0"/>
          </a:p>
          <a:p>
            <a:pPr indent="0" marL="0">
              <a:spcAft>
                <a:spcPts val="200"/>
              </a:spcAft>
              <a:buNone/>
            </a:pPr>
            <a:r>
              <a:rPr lang="en-US" sz="1400" dirty="0">
                <a:solidFill>
                  <a:schemeClr val="accent4"/>
                </a:solidFill>
              </a:rPr>
              <a:t>Høyreklikk for å endre adressen</a:t>
            </a:r>
            <a:endParaRPr lang="en-US" sz="1700" dirty="0"/>
          </a:p>
        </p:txBody>
      </p:sp>
      <p:sp>
        <p:nvSpPr>
          <p:cNvPr id="13029" name="Ikon expand sirkel"/>
          <p:cNvSpPr/>
          <p:nvPr/>
        </p:nvSpPr>
        <p:spPr>
          <a:xfrm>
            <a:off x="7086600" y="2167128"/>
            <a:ext cx="512064" cy="512064"/>
          </a:xfrm>
          <a:prstGeom prst="ellipse">
            <a:avLst/>
          </a:prstGeom>
          <a:solidFill>
            <a:schemeClr val="accent1"/>
          </a:solidFill>
          <a:ln/>
        </p:spPr>
      </p:sp>
      <p:pic>
        <p:nvPicPr>
          <p:cNvPr id="13030" name="Ikon expand" descr="expand">    </p:cNvPr>
          <p:cNvPicPr>
            <a:picLocks noChangeAspect="1"/>
          </p:cNvPicPr>
          <p:nvPr/>
        </p:nvPicPr>
        <p:blipFill>
          <a:blip r:embed="rId10"/>
          <a:stretch>
            <a:fillRect/>
          </a:stretch>
        </p:blipFill>
        <p:spPr>
          <a:xfrm>
            <a:off x="7199254" y="2279782"/>
            <a:ext cx="286756" cy="286756"/>
          </a:xfrm>
          <a:prstGeom prst="rect">
            <a:avLst/>
          </a:prstGeom>
        </p:spPr>
      </p:pic>
      <p:sp>
        <p:nvSpPr>
          <p:cNvPr id="13031" name="Text 19"/>
          <p:cNvSpPr txBox="1"/>
          <p:nvPr/>
        </p:nvSpPr>
        <p:spPr>
          <a:xfrm>
            <a:off x="7799832" y="2093976"/>
            <a:ext cx="376732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Fullskjerm</a:t>
            </a:r>
            <a:endParaRPr lang="en-US" sz="1700" dirty="0"/>
          </a:p>
          <a:p>
            <a:pPr indent="0" marL="0">
              <a:spcAft>
                <a:spcPts val="200"/>
              </a:spcAft>
              <a:buNone/>
            </a:pPr>
            <a:r>
              <a:rPr lang="en-US" sz="1400" dirty="0">
                <a:solidFill>
                  <a:schemeClr val="accent4"/>
                </a:solidFill>
              </a:rPr>
              <a:t>Kartet fyller hele skjermen</a:t>
            </a:r>
            <a:endParaRPr lang="en-US" sz="1700" dirty="0"/>
          </a:p>
        </p:txBody>
      </p:sp>
      <p:sp>
        <p:nvSpPr>
          <p:cNvPr id="13032" name="Ikon eraser sirkel"/>
          <p:cNvSpPr/>
          <p:nvPr/>
        </p:nvSpPr>
        <p:spPr>
          <a:xfrm>
            <a:off x="7086600" y="2880360"/>
            <a:ext cx="512064" cy="512064"/>
          </a:xfrm>
          <a:prstGeom prst="ellipse">
            <a:avLst/>
          </a:prstGeom>
          <a:solidFill>
            <a:schemeClr val="accent1"/>
          </a:solidFill>
          <a:ln/>
        </p:spPr>
      </p:sp>
      <p:pic>
        <p:nvPicPr>
          <p:cNvPr id="13033" name="Ikon eraser" descr="eraser">    </p:cNvPr>
          <p:cNvPicPr>
            <a:picLocks noChangeAspect="1"/>
          </p:cNvPicPr>
          <p:nvPr/>
        </p:nvPicPr>
        <p:blipFill>
          <a:blip r:embed="rId11"/>
          <a:stretch>
            <a:fillRect/>
          </a:stretch>
        </p:blipFill>
        <p:spPr>
          <a:xfrm>
            <a:off x="7199254" y="2993014"/>
            <a:ext cx="286756" cy="286756"/>
          </a:xfrm>
          <a:prstGeom prst="rect">
            <a:avLst/>
          </a:prstGeom>
        </p:spPr>
      </p:pic>
      <p:sp>
        <p:nvSpPr>
          <p:cNvPr id="13034" name="Text 21"/>
          <p:cNvSpPr txBox="1"/>
          <p:nvPr/>
        </p:nvSpPr>
        <p:spPr>
          <a:xfrm>
            <a:off x="7799832" y="2807208"/>
            <a:ext cx="376732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Fjern tegninger</a:t>
            </a:r>
            <a:endParaRPr lang="en-US" sz="1700" dirty="0"/>
          </a:p>
          <a:p>
            <a:pPr indent="0" marL="0">
              <a:spcAft>
                <a:spcPts val="200"/>
              </a:spcAft>
              <a:buNone/>
            </a:pPr>
            <a:r>
              <a:rPr lang="en-US" sz="1400" dirty="0">
                <a:solidFill>
                  <a:schemeClr val="accent4"/>
                </a:solidFill>
              </a:rPr>
              <a:t>Merker, målinger og sirkler</a:t>
            </a:r>
            <a:endParaRPr lang="en-US" sz="1700" dirty="0"/>
          </a:p>
        </p:txBody>
      </p:sp>
      <p:sp>
        <p:nvSpPr>
          <p:cNvPr id="13035" name="Ikon eyeoff sirkel"/>
          <p:cNvSpPr/>
          <p:nvPr/>
        </p:nvSpPr>
        <p:spPr>
          <a:xfrm>
            <a:off x="7086600" y="3593592"/>
            <a:ext cx="512064" cy="512064"/>
          </a:xfrm>
          <a:prstGeom prst="ellipse">
            <a:avLst/>
          </a:prstGeom>
          <a:solidFill>
            <a:schemeClr val="accent1"/>
          </a:solidFill>
          <a:ln/>
        </p:spPr>
      </p:sp>
      <p:pic>
        <p:nvPicPr>
          <p:cNvPr id="13036" name="Ikon eyeoff" descr="eyeoff">    </p:cNvPr>
          <p:cNvPicPr>
            <a:picLocks noChangeAspect="1"/>
          </p:cNvPicPr>
          <p:nvPr/>
        </p:nvPicPr>
        <p:blipFill>
          <a:blip r:embed="rId12"/>
          <a:stretch>
            <a:fillRect/>
          </a:stretch>
        </p:blipFill>
        <p:spPr>
          <a:xfrm>
            <a:off x="7199254" y="3706246"/>
            <a:ext cx="286756" cy="286756"/>
          </a:xfrm>
          <a:prstGeom prst="rect">
            <a:avLst/>
          </a:prstGeom>
        </p:spPr>
      </p:pic>
      <p:sp>
        <p:nvSpPr>
          <p:cNvPr id="13037" name="Text 23"/>
          <p:cNvSpPr txBox="1"/>
          <p:nvPr/>
        </p:nvSpPr>
        <p:spPr>
          <a:xfrm>
            <a:off x="7799832" y="3520440"/>
            <a:ext cx="376732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Skjul geocacher</a:t>
            </a:r>
            <a:endParaRPr lang="en-US" sz="1700" dirty="0"/>
          </a:p>
          <a:p>
            <a:pPr indent="0" marL="0">
              <a:spcAft>
                <a:spcPts val="200"/>
              </a:spcAft>
              <a:buNone/>
            </a:pPr>
            <a:r>
              <a:rPr lang="en-US" sz="1400" dirty="0">
                <a:solidFill>
                  <a:schemeClr val="accent4"/>
                </a:solidFill>
              </a:rPr>
              <a:t>Rent kart – klikk igjen for å vise dem</a:t>
            </a:r>
            <a:endParaRPr lang="en-US" sz="1700" dirty="0"/>
          </a:p>
        </p:txBody>
      </p:sp>
      <p:sp>
        <p:nvSpPr>
          <p:cNvPr id="13038" name="Ikon heart sirkel"/>
          <p:cNvSpPr/>
          <p:nvPr/>
        </p:nvSpPr>
        <p:spPr>
          <a:xfrm>
            <a:off x="7086600" y="4306824"/>
            <a:ext cx="512064" cy="512064"/>
          </a:xfrm>
          <a:prstGeom prst="ellipse">
            <a:avLst/>
          </a:prstGeom>
          <a:solidFill>
            <a:schemeClr val="accent1"/>
          </a:solidFill>
          <a:ln/>
        </p:spPr>
      </p:sp>
      <p:pic>
        <p:nvPicPr>
          <p:cNvPr id="13039" name="Ikon heart" descr="heart">    </p:cNvPr>
          <p:cNvPicPr>
            <a:picLocks noChangeAspect="1"/>
          </p:cNvPicPr>
          <p:nvPr/>
        </p:nvPicPr>
        <p:blipFill>
          <a:blip r:embed="rId13"/>
          <a:stretch>
            <a:fillRect/>
          </a:stretch>
        </p:blipFill>
        <p:spPr>
          <a:xfrm>
            <a:off x="7199254" y="4419478"/>
            <a:ext cx="286756" cy="286756"/>
          </a:xfrm>
          <a:prstGeom prst="rect">
            <a:avLst/>
          </a:prstGeom>
        </p:spPr>
      </p:pic>
      <p:sp>
        <p:nvSpPr>
          <p:cNvPr id="13040" name="Text 25"/>
          <p:cNvSpPr txBox="1"/>
          <p:nvPr/>
        </p:nvSpPr>
        <p:spPr>
          <a:xfrm>
            <a:off x="7799832" y="4233672"/>
            <a:ext cx="376732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Favorittpoeng</a:t>
            </a:r>
            <a:endParaRPr lang="en-US" sz="1700" dirty="0"/>
          </a:p>
          <a:p>
            <a:pPr indent="0" marL="0">
              <a:spcAft>
                <a:spcPts val="200"/>
              </a:spcAft>
              <a:buNone/>
            </a:pPr>
            <a:r>
              <a:rPr lang="en-US" sz="1400" dirty="0">
                <a:solidFill>
                  <a:schemeClr val="accent4"/>
                </a:solidFill>
              </a:rPr>
              <a:t>♥ og antallet over cachene – av/på</a:t>
            </a:r>
            <a:endParaRPr lang="en-US" sz="1700" dirty="0"/>
          </a:p>
        </p:txBody>
      </p:sp>
      <p:sp>
        <p:nvSpPr>
          <p:cNvPr id="13041" name="Ikon gear sirkel"/>
          <p:cNvSpPr/>
          <p:nvPr/>
        </p:nvSpPr>
        <p:spPr>
          <a:xfrm>
            <a:off x="7086600" y="5020056"/>
            <a:ext cx="512064" cy="512064"/>
          </a:xfrm>
          <a:prstGeom prst="ellipse">
            <a:avLst/>
          </a:prstGeom>
          <a:solidFill>
            <a:schemeClr val="accent1"/>
          </a:solidFill>
          <a:ln/>
        </p:spPr>
      </p:sp>
      <p:pic>
        <p:nvPicPr>
          <p:cNvPr id="13042" name="Ikon gear" descr="gear">    </p:cNvPr>
          <p:cNvPicPr>
            <a:picLocks noChangeAspect="1"/>
          </p:cNvPicPr>
          <p:nvPr/>
        </p:nvPicPr>
        <p:blipFill>
          <a:blip r:embed="rId14"/>
          <a:stretch>
            <a:fillRect/>
          </a:stretch>
        </p:blipFill>
        <p:spPr>
          <a:xfrm>
            <a:off x="7199254" y="5132710"/>
            <a:ext cx="286756" cy="286756"/>
          </a:xfrm>
          <a:prstGeom prst="rect">
            <a:avLst/>
          </a:prstGeom>
        </p:spPr>
      </p:pic>
      <p:sp>
        <p:nvSpPr>
          <p:cNvPr id="13043" name="Text 27"/>
          <p:cNvSpPr txBox="1"/>
          <p:nvPr/>
        </p:nvSpPr>
        <p:spPr>
          <a:xfrm>
            <a:off x="7799832" y="4946904"/>
            <a:ext cx="3767328" cy="66751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Innstillinger</a:t>
            </a:r>
            <a:endParaRPr lang="en-US" sz="1700" dirty="0"/>
          </a:p>
          <a:p>
            <a:pPr indent="0" marL="0">
              <a:spcAft>
                <a:spcPts val="200"/>
              </a:spcAft>
              <a:buNone/>
            </a:pPr>
            <a:r>
              <a:rPr lang="en-US" sz="1400" dirty="0">
                <a:solidFill>
                  <a:schemeClr val="accent4"/>
                </a:solidFill>
              </a:rPr>
              <a:t>Plassering, språk og nettstedets knapper</a:t>
            </a:r>
            <a:endParaRPr lang="en-US" sz="1700" dirty="0"/>
          </a:p>
        </p:txBody>
      </p:sp>
      <p:sp>
        <p:nvSpPr>
          <p:cNvPr id="13044"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4001" name=""/>
        <p:cNvGrpSpPr/>
        <p:nvPr/>
      </p:nvGrpSpPr>
      <p:grpSpPr>
        <a:xfrm>
          <a:off x="0" y="0"/>
          <a:ext cx="0" cy="0"/>
          <a:chOff x="0" y="0"/>
          <a:chExt cx="0" cy="0"/>
        </a:xfrm>
      </p:grpSpPr>
      <p:sp>
        <p:nvSpPr>
          <p:cNvPr id="14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Velg kart og overlegg</a:t>
            </a:r>
            <a:endParaRPr lang="en-US" sz="3600" dirty="0"/>
          </a:p>
        </p:txBody>
      </p:sp>
      <p:sp>
        <p:nvSpPr>
          <p:cNvPr id="14003" name="Kartlagpanelet bakgrunn"/>
          <p:cNvSpPr/>
          <p:nvPr/>
        </p:nvSpPr>
        <p:spPr>
          <a:xfrm>
            <a:off x="7619695" y="1325880"/>
            <a:ext cx="4023360" cy="4983480"/>
          </a:xfrm>
          <a:prstGeom prst="roundRect">
            <a:avLst>
              <a:gd name="adj" fmla="val 2727"/>
            </a:avLst>
          </a:prstGeom>
          <a:solidFill>
            <a:schemeClr val="bg2"/>
          </a:solidFill>
          <a:ln/>
        </p:spPr>
      </p:sp>
      <p:pic>
        <p:nvPicPr>
          <p:cNvPr id="14004" name="Kartlagpanelet" descr="Kartlagpanelet">    </p:cNvPr>
          <p:cNvPicPr>
            <a:picLocks noChangeAspect="1"/>
          </p:cNvPicPr>
          <p:nvPr/>
        </p:nvPicPr>
        <p:blipFill>
          <a:blip r:embed="rId1"/>
          <a:stretch>
            <a:fillRect/>
          </a:stretch>
        </p:blipFill>
        <p:spPr>
          <a:xfrm>
            <a:off x="8583966" y="1527048"/>
            <a:ext cx="2094818" cy="4581144"/>
          </a:xfrm>
          <a:prstGeom prst="rect">
            <a:avLst/>
          </a:prstGeom>
        </p:spPr>
      </p:pic>
      <p:sp>
        <p:nvSpPr>
          <p:cNvPr id="14005" name="Ikon layers sirkel"/>
          <p:cNvSpPr/>
          <p:nvPr/>
        </p:nvSpPr>
        <p:spPr>
          <a:xfrm>
            <a:off x="548640" y="1453896"/>
            <a:ext cx="512064" cy="512064"/>
          </a:xfrm>
          <a:prstGeom prst="ellipse">
            <a:avLst/>
          </a:prstGeom>
          <a:solidFill>
            <a:schemeClr val="accent1"/>
          </a:solidFill>
          <a:ln/>
        </p:spPr>
      </p:sp>
      <p:pic>
        <p:nvPicPr>
          <p:cNvPr id="14006" name="Ikon layers" descr="layers">    </p:cNvPr>
          <p:cNvPicPr>
            <a:picLocks noChangeAspect="1"/>
          </p:cNvPicPr>
          <p:nvPr/>
        </p:nvPicPr>
        <p:blipFill>
          <a:blip r:embed="rId2"/>
          <a:stretch>
            <a:fillRect/>
          </a:stretch>
        </p:blipFill>
        <p:spPr>
          <a:xfrm>
            <a:off x="661294" y="1566550"/>
            <a:ext cx="286756" cy="286756"/>
          </a:xfrm>
          <a:prstGeom prst="rect">
            <a:avLst/>
          </a:prstGeom>
        </p:spPr>
      </p:pic>
      <p:sp>
        <p:nvSpPr>
          <p:cNvPr id="14007" name="Text 3"/>
          <p:cNvSpPr txBox="1"/>
          <p:nvPr/>
        </p:nvSpPr>
        <p:spPr>
          <a:xfrm>
            <a:off x="1261872" y="1380744"/>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Tre faner</a:t>
            </a:r>
            <a:endParaRPr lang="en-US" sz="1700" dirty="0"/>
          </a:p>
          <a:p>
            <a:pPr indent="0" marL="0">
              <a:spcAft>
                <a:spcPts val="200"/>
              </a:spcAft>
              <a:buNone/>
            </a:pPr>
            <a:r>
              <a:rPr lang="en-US" sz="1400" dirty="0">
                <a:solidFill>
                  <a:schemeClr val="accent4"/>
                </a:solidFill>
              </a:rPr>
              <a:t>Geocaching.coms egne kart, bakgrunnskart og overlegg – hver for seg, så listen holder seg kort</a:t>
            </a:r>
            <a:endParaRPr lang="en-US" sz="1700" dirty="0"/>
          </a:p>
        </p:txBody>
      </p:sp>
      <p:sp>
        <p:nvSpPr>
          <p:cNvPr id="14008" name="Ikon duplicate sirkel"/>
          <p:cNvSpPr/>
          <p:nvPr/>
        </p:nvSpPr>
        <p:spPr>
          <a:xfrm>
            <a:off x="548640" y="2441448"/>
            <a:ext cx="512064" cy="512064"/>
          </a:xfrm>
          <a:prstGeom prst="ellipse">
            <a:avLst/>
          </a:prstGeom>
          <a:solidFill>
            <a:schemeClr val="accent1"/>
          </a:solidFill>
          <a:ln/>
        </p:spPr>
      </p:sp>
      <p:pic>
        <p:nvPicPr>
          <p:cNvPr id="14009" name="Ikon duplicate" descr="duplicate">    </p:cNvPr>
          <p:cNvPicPr>
            <a:picLocks noChangeAspect="1"/>
          </p:cNvPicPr>
          <p:nvPr/>
        </p:nvPicPr>
        <p:blipFill>
          <a:blip r:embed="rId3"/>
          <a:stretch>
            <a:fillRect/>
          </a:stretch>
        </p:blipFill>
        <p:spPr>
          <a:xfrm>
            <a:off x="661294" y="2554102"/>
            <a:ext cx="286756" cy="286756"/>
          </a:xfrm>
          <a:prstGeom prst="rect">
            <a:avLst/>
          </a:prstGeom>
        </p:spPr>
      </p:pic>
      <p:sp>
        <p:nvSpPr>
          <p:cNvPr id="14010" name="Text 5"/>
          <p:cNvSpPr txBox="1"/>
          <p:nvPr/>
        </p:nvSpPr>
        <p:spPr>
          <a:xfrm>
            <a:off x="1261872" y="2368296"/>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Bakgrunn og overlegg</a:t>
            </a:r>
            <a:endParaRPr lang="en-US" sz="1700" dirty="0"/>
          </a:p>
          <a:p>
            <a:pPr indent="0" marL="0">
              <a:spcAft>
                <a:spcPts val="200"/>
              </a:spcAft>
              <a:buNone/>
            </a:pPr>
            <a:r>
              <a:rPr lang="en-US" sz="1400" dirty="0">
                <a:solidFill>
                  <a:schemeClr val="accent4"/>
                </a:solidFill>
              </a:rPr>
              <a:t>Kartverket, OpenTopoMap, OpenStreetMap og Esri – pluss dine egne. Så mange overlegg du vil</a:t>
            </a:r>
            <a:endParaRPr lang="en-US" sz="1700" dirty="0"/>
          </a:p>
        </p:txBody>
      </p:sp>
      <p:sp>
        <p:nvSpPr>
          <p:cNvPr id="14011" name="Ikon ring sirkel"/>
          <p:cNvSpPr/>
          <p:nvPr/>
        </p:nvSpPr>
        <p:spPr>
          <a:xfrm>
            <a:off x="548640" y="3429000"/>
            <a:ext cx="512064" cy="512064"/>
          </a:xfrm>
          <a:prstGeom prst="ellipse">
            <a:avLst/>
          </a:prstGeom>
          <a:solidFill>
            <a:schemeClr val="accent1"/>
          </a:solidFill>
          <a:ln/>
        </p:spPr>
      </p:sp>
      <p:pic>
        <p:nvPicPr>
          <p:cNvPr id="14012" name="Ikon ring" descr="ring">    </p:cNvPr>
          <p:cNvPicPr>
            <a:picLocks noChangeAspect="1"/>
          </p:cNvPicPr>
          <p:nvPr/>
        </p:nvPicPr>
        <p:blipFill>
          <a:blip r:embed="rId4"/>
          <a:stretch>
            <a:fillRect/>
          </a:stretch>
        </p:blipFill>
        <p:spPr>
          <a:xfrm>
            <a:off x="661294" y="3541654"/>
            <a:ext cx="286756" cy="286756"/>
          </a:xfrm>
          <a:prstGeom prst="rect">
            <a:avLst/>
          </a:prstGeom>
        </p:spPr>
      </p:pic>
      <p:sp>
        <p:nvSpPr>
          <p:cNvPr id="14013" name="Text 7"/>
          <p:cNvSpPr txBox="1"/>
          <p:nvPr/>
        </p:nvSpPr>
        <p:spPr>
          <a:xfrm>
            <a:off x="1261872" y="3355848"/>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Demping mot hvitt</a:t>
            </a:r>
            <a:endParaRPr lang="en-US" sz="1700" dirty="0"/>
          </a:p>
          <a:p>
            <a:pPr indent="0" marL="0">
              <a:spcAft>
                <a:spcPts val="200"/>
              </a:spcAft>
              <a:buNone/>
            </a:pPr>
            <a:r>
              <a:rPr lang="en-US" sz="1400" dirty="0">
                <a:solidFill>
                  <a:schemeClr val="accent4"/>
                </a:solidFill>
              </a:rPr>
              <a:t>Bakgrunnen kan dempes med høyst 50 %, så cachene trer tydelig fram</a:t>
            </a:r>
            <a:endParaRPr lang="en-US" sz="1700" dirty="0"/>
          </a:p>
        </p:txBody>
      </p:sp>
      <p:sp>
        <p:nvSpPr>
          <p:cNvPr id="14014" name="Ikon grip sirkel"/>
          <p:cNvSpPr/>
          <p:nvPr/>
        </p:nvSpPr>
        <p:spPr>
          <a:xfrm>
            <a:off x="548640" y="4416552"/>
            <a:ext cx="512064" cy="512064"/>
          </a:xfrm>
          <a:prstGeom prst="ellipse">
            <a:avLst/>
          </a:prstGeom>
          <a:solidFill>
            <a:schemeClr val="accent1"/>
          </a:solidFill>
          <a:ln/>
        </p:spPr>
      </p:sp>
      <p:pic>
        <p:nvPicPr>
          <p:cNvPr id="14015" name="Ikon grip" descr="grip">    </p:cNvPr>
          <p:cNvPicPr>
            <a:picLocks noChangeAspect="1"/>
          </p:cNvPicPr>
          <p:nvPr/>
        </p:nvPicPr>
        <p:blipFill>
          <a:blip r:embed="rId5"/>
          <a:stretch>
            <a:fillRect/>
          </a:stretch>
        </p:blipFill>
        <p:spPr>
          <a:xfrm>
            <a:off x="661294" y="4529206"/>
            <a:ext cx="286756" cy="286756"/>
          </a:xfrm>
          <a:prstGeom prst="rect">
            <a:avLst/>
          </a:prstGeom>
        </p:spPr>
      </p:pic>
      <p:sp>
        <p:nvSpPr>
          <p:cNvPr id="14016" name="Text 9"/>
          <p:cNvSpPr txBox="1"/>
          <p:nvPr/>
        </p:nvSpPr>
        <p:spPr>
          <a:xfrm>
            <a:off x="1261872" y="4343400"/>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Din rekkefølge</a:t>
            </a:r>
            <a:endParaRPr lang="en-US" sz="1700" dirty="0"/>
          </a:p>
          <a:p>
            <a:pPr indent="0" marL="0">
              <a:spcAft>
                <a:spcPts val="200"/>
              </a:spcAft>
              <a:buNone/>
            </a:pPr>
            <a:r>
              <a:rPr lang="en-US" sz="1400" dirty="0">
                <a:solidFill>
                  <a:schemeClr val="accent4"/>
                </a:solidFill>
              </a:rPr>
              <a:t>Dra kartene opp og ned. Overlegget øverst i listen tegnes øverst</a:t>
            </a:r>
            <a:endParaRPr lang="en-US" sz="1700" dirty="0"/>
          </a:p>
        </p:txBody>
      </p:sp>
      <p:sp>
        <p:nvSpPr>
          <p:cNvPr id="14017" name="Ikon x sirkel"/>
          <p:cNvSpPr/>
          <p:nvPr/>
        </p:nvSpPr>
        <p:spPr>
          <a:xfrm>
            <a:off x="548640" y="5404104"/>
            <a:ext cx="512064" cy="512064"/>
          </a:xfrm>
          <a:prstGeom prst="ellipse">
            <a:avLst/>
          </a:prstGeom>
          <a:solidFill>
            <a:schemeClr val="accent1"/>
          </a:solidFill>
          <a:ln/>
        </p:spPr>
      </p:sp>
      <p:pic>
        <p:nvPicPr>
          <p:cNvPr id="14018" name="Ikon x" descr="x">    </p:cNvPr>
          <p:cNvPicPr>
            <a:picLocks noChangeAspect="1"/>
          </p:cNvPicPr>
          <p:nvPr/>
        </p:nvPicPr>
        <p:blipFill>
          <a:blip r:embed="rId6"/>
          <a:stretch>
            <a:fillRect/>
          </a:stretch>
        </p:blipFill>
        <p:spPr>
          <a:xfrm>
            <a:off x="661294" y="5516758"/>
            <a:ext cx="286756" cy="286756"/>
          </a:xfrm>
          <a:prstGeom prst="rect">
            <a:avLst/>
          </a:prstGeom>
        </p:spPr>
      </p:pic>
      <p:sp>
        <p:nvSpPr>
          <p:cNvPr id="14019" name="Text 11"/>
          <p:cNvSpPr txBox="1"/>
          <p:nvPr/>
        </p:nvSpPr>
        <p:spPr>
          <a:xfrm>
            <a:off x="1261872" y="5330952"/>
            <a:ext cx="5961888" cy="941832"/>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Rydd i listen</a:t>
            </a:r>
            <a:endParaRPr lang="en-US" sz="1700" dirty="0"/>
          </a:p>
          <a:p>
            <a:pPr indent="0" marL="0">
              <a:spcAft>
                <a:spcPts val="200"/>
              </a:spcAft>
              <a:buNone/>
            </a:pPr>
            <a:r>
              <a:rPr lang="en-US" sz="1400" dirty="0">
                <a:solidFill>
                  <a:schemeClr val="accent4"/>
                </a:solidFill>
              </a:rPr>
              <a:t>Fjern kart du ikke bruker – også geocaching.coms egne – og hent dem tilbake når du vil</a:t>
            </a:r>
            <a:endParaRPr lang="en-US" sz="1700" dirty="0"/>
          </a:p>
        </p:txBody>
      </p:sp>
      <p:sp>
        <p:nvSpPr>
          <p:cNvPr id="14020"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5001" name=""/>
        <p:cNvGrpSpPr/>
        <p:nvPr/>
      </p:nvGrpSpPr>
      <p:grpSpPr>
        <a:xfrm>
          <a:off x="0" y="0"/>
          <a:ext cx="0" cy="0"/>
          <a:chOff x="0" y="0"/>
          <a:chExt cx="0" cy="0"/>
        </a:xfrm>
      </p:grpSpPr>
      <p:sp>
        <p:nvSpPr>
          <p:cNvPr id="15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Legg til dine egne kart</a:t>
            </a:r>
            <a:endParaRPr lang="en-US" sz="3600" dirty="0"/>
          </a:p>
        </p:txBody>
      </p:sp>
      <p:sp>
        <p:nvSpPr>
          <p:cNvPr id="15003" name="Redigeringsdialogen bakgrunn"/>
          <p:cNvSpPr/>
          <p:nvPr/>
        </p:nvSpPr>
        <p:spPr>
          <a:xfrm>
            <a:off x="548640" y="1325880"/>
            <a:ext cx="4480560" cy="4983480"/>
          </a:xfrm>
          <a:prstGeom prst="roundRect">
            <a:avLst>
              <a:gd name="adj" fmla="val 2449"/>
            </a:avLst>
          </a:prstGeom>
          <a:solidFill>
            <a:schemeClr val="bg2"/>
          </a:solidFill>
          <a:ln/>
        </p:spPr>
      </p:sp>
      <p:pic>
        <p:nvPicPr>
          <p:cNvPr id="15004" name="Redigeringsdialogen" descr="Redigeringsdialogen">    </p:cNvPr>
          <p:cNvPicPr>
            <a:picLocks noChangeAspect="1"/>
          </p:cNvPicPr>
          <p:nvPr/>
        </p:nvPicPr>
        <p:blipFill>
          <a:blip r:embed="rId1"/>
          <a:stretch>
            <a:fillRect/>
          </a:stretch>
        </p:blipFill>
        <p:spPr>
          <a:xfrm>
            <a:off x="847757" y="1527048"/>
            <a:ext cx="3882325" cy="4581144"/>
          </a:xfrm>
          <a:prstGeom prst="rect">
            <a:avLst/>
          </a:prstGeom>
        </p:spPr>
      </p:pic>
      <p:sp>
        <p:nvSpPr>
          <p:cNvPr id="15005" name="Text 2"/>
          <p:cNvSpPr txBox="1"/>
          <p:nvPr/>
        </p:nvSpPr>
        <p:spPr>
          <a:xfrm>
            <a:off x="5440680" y="1417320"/>
            <a:ext cx="6217920" cy="457200"/>
          </a:xfrm>
          <a:prstGeom prst="rect">
            <a:avLst/>
          </a:prstGeom>
          <a:noFill/>
          <a:ln/>
        </p:spPr>
        <p:txBody>
          <a:bodyPr wrap="square" lIns="0" tIns="0" rIns="0" bIns="0" rtlCol="0" anchor="ctr"/>
          <a:lstStyle/>
          <a:p>
            <a:pPr indent="0" marL="0">
              <a:buNone/>
            </a:pPr>
            <a:r>
              <a:rPr lang="en-US" sz="1700" dirty="0">
                <a:solidFill>
                  <a:schemeClr val="tx1"/>
                </a:solidFill>
              </a:rPr>
              <a:t>Lim inn nesten hvilken som helst kartlenke og trykk Gjenkjenn:</a:t>
            </a:r>
            <a:endParaRPr lang="en-US" sz="1700" dirty="0"/>
          </a:p>
        </p:txBody>
      </p:sp>
      <p:sp>
        <p:nvSpPr>
          <p:cNvPr id="15006" name="Format XYZ / TMS"/>
          <p:cNvSpPr/>
          <p:nvPr/>
        </p:nvSpPr>
        <p:spPr>
          <a:xfrm>
            <a:off x="5440680" y="2057400"/>
            <a:ext cx="2971800" cy="1051560"/>
          </a:xfrm>
          <a:prstGeom prst="roundRect">
            <a:avLst>
              <a:gd name="adj" fmla="val 8696"/>
            </a:avLst>
          </a:prstGeom>
          <a:solidFill>
            <a:schemeClr val="bg2"/>
          </a:solidFill>
          <a:ln/>
        </p:spPr>
      </p:sp>
      <p:sp>
        <p:nvSpPr>
          <p:cNvPr id="15007" name="Text 4"/>
          <p:cNvSpPr txBox="1"/>
          <p:nvPr/>
        </p:nvSpPr>
        <p:spPr>
          <a:xfrm>
            <a:off x="5669280" y="216712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XYZ / TMS</a:t>
            </a:r>
            <a:endParaRPr lang="en-US" sz="2000" dirty="0"/>
          </a:p>
          <a:p>
            <a:pPr indent="0" marL="0">
              <a:buNone/>
            </a:pPr>
            <a:r>
              <a:rPr lang="en-US" sz="1300" dirty="0">
                <a:solidFill>
                  <a:schemeClr val="accent4"/>
                </a:solidFill>
              </a:rPr>
              <a:t>Flisadresser med {z} {x} {y}</a:t>
            </a:r>
            <a:endParaRPr lang="en-US" sz="2000" dirty="0"/>
          </a:p>
        </p:txBody>
      </p:sp>
      <p:sp>
        <p:nvSpPr>
          <p:cNvPr id="15008" name="Format WMTS"/>
          <p:cNvSpPr/>
          <p:nvPr/>
        </p:nvSpPr>
        <p:spPr>
          <a:xfrm>
            <a:off x="8686800" y="2057400"/>
            <a:ext cx="2971800" cy="1051560"/>
          </a:xfrm>
          <a:prstGeom prst="roundRect">
            <a:avLst>
              <a:gd name="adj" fmla="val 8696"/>
            </a:avLst>
          </a:prstGeom>
          <a:solidFill>
            <a:schemeClr val="bg2"/>
          </a:solidFill>
          <a:ln/>
        </p:spPr>
      </p:sp>
      <p:sp>
        <p:nvSpPr>
          <p:cNvPr id="15009" name="Text 6"/>
          <p:cNvSpPr txBox="1"/>
          <p:nvPr/>
        </p:nvSpPr>
        <p:spPr>
          <a:xfrm>
            <a:off x="8915400" y="216712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WMTS</a:t>
            </a:r>
            <a:endParaRPr lang="en-US" sz="2000" dirty="0"/>
          </a:p>
          <a:p>
            <a:pPr indent="0" marL="0">
              <a:buNone/>
            </a:pPr>
            <a:r>
              <a:rPr lang="en-US" sz="1300" dirty="0">
                <a:solidFill>
                  <a:schemeClr val="accent4"/>
                </a:solidFill>
              </a:rPr>
              <a:t>Lagoversikten hentes automatisk</a:t>
            </a:r>
            <a:endParaRPr lang="en-US" sz="2000" dirty="0"/>
          </a:p>
        </p:txBody>
      </p:sp>
      <p:sp>
        <p:nvSpPr>
          <p:cNvPr id="15010" name="Format WMS"/>
          <p:cNvSpPr/>
          <p:nvPr/>
        </p:nvSpPr>
        <p:spPr>
          <a:xfrm>
            <a:off x="5440680" y="3337560"/>
            <a:ext cx="2971800" cy="1051560"/>
          </a:xfrm>
          <a:prstGeom prst="roundRect">
            <a:avLst>
              <a:gd name="adj" fmla="val 8696"/>
            </a:avLst>
          </a:prstGeom>
          <a:solidFill>
            <a:schemeClr val="bg2"/>
          </a:solidFill>
          <a:ln/>
        </p:spPr>
      </p:sp>
      <p:sp>
        <p:nvSpPr>
          <p:cNvPr id="15011" name="Text 8"/>
          <p:cNvSpPr txBox="1"/>
          <p:nvPr/>
        </p:nvSpPr>
        <p:spPr>
          <a:xfrm>
            <a:off x="5669280" y="344728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WMS</a:t>
            </a:r>
            <a:endParaRPr lang="en-US" sz="2000" dirty="0"/>
          </a:p>
          <a:p>
            <a:pPr indent="0" marL="0">
              <a:buNone/>
            </a:pPr>
            <a:r>
              <a:rPr lang="en-US" sz="1300" dirty="0">
                <a:solidFill>
                  <a:schemeClr val="accent4"/>
                </a:solidFill>
              </a:rPr>
              <a:t>Velg ett eller flere lag</a:t>
            </a:r>
            <a:endParaRPr lang="en-US" sz="2000" dirty="0"/>
          </a:p>
        </p:txBody>
      </p:sp>
      <p:sp>
        <p:nvSpPr>
          <p:cNvPr id="15012" name="Format ArcGIS"/>
          <p:cNvSpPr/>
          <p:nvPr/>
        </p:nvSpPr>
        <p:spPr>
          <a:xfrm>
            <a:off x="8686800" y="3337560"/>
            <a:ext cx="2971800" cy="1051560"/>
          </a:xfrm>
          <a:prstGeom prst="roundRect">
            <a:avLst>
              <a:gd name="adj" fmla="val 8696"/>
            </a:avLst>
          </a:prstGeom>
          <a:solidFill>
            <a:schemeClr val="bg2"/>
          </a:solidFill>
          <a:ln/>
        </p:spPr>
      </p:sp>
      <p:sp>
        <p:nvSpPr>
          <p:cNvPr id="15013" name="Text 10"/>
          <p:cNvSpPr txBox="1"/>
          <p:nvPr/>
        </p:nvSpPr>
        <p:spPr>
          <a:xfrm>
            <a:off x="8915400" y="3447288"/>
            <a:ext cx="2514600" cy="832104"/>
          </a:xfrm>
          <a:prstGeom prst="rect">
            <a:avLst/>
          </a:prstGeom>
          <a:noFill/>
          <a:ln/>
        </p:spPr>
        <p:txBody>
          <a:bodyPr wrap="square" lIns="0" tIns="0" rIns="0" bIns="0" rtlCol="0" anchor="ctr"/>
          <a:lstStyle/>
          <a:p>
            <a:pPr indent="0" marL="0">
              <a:buNone/>
            </a:pPr>
            <a:r>
              <a:rPr lang="en-US" sz="2000" b="1" dirty="0">
                <a:solidFill>
                  <a:schemeClr val="accent1"/>
                </a:solidFill>
              </a:rPr>
              <a:t>ArcGIS</a:t>
            </a:r>
            <a:endParaRPr lang="en-US" sz="2000" dirty="0"/>
          </a:p>
          <a:p>
            <a:pPr indent="0" marL="0">
              <a:buNone/>
            </a:pPr>
            <a:r>
              <a:rPr lang="en-US" sz="1300" dirty="0">
                <a:solidFill>
                  <a:schemeClr val="accent4"/>
                </a:solidFill>
              </a:rPr>
              <a:t>Adresser som slutter på /MapServer</a:t>
            </a:r>
            <a:endParaRPr lang="en-US" sz="2000" dirty="0"/>
          </a:p>
        </p:txBody>
      </p:sp>
      <p:sp>
        <p:nvSpPr>
          <p:cNvPr id="15014" name="Text 11"/>
          <p:cNvSpPr txBox="1"/>
          <p:nvPr/>
        </p:nvSpPr>
        <p:spPr>
          <a:xfrm>
            <a:off x="5440680" y="4709160"/>
            <a:ext cx="6217920" cy="1371600"/>
          </a:xfrm>
          <a:prstGeom prst="rect">
            <a:avLst/>
          </a:prstGeom>
          <a:noFill/>
          <a:ln/>
        </p:spPr>
        <p:txBody>
          <a:bodyPr wrap="square" lIns="0" tIns="0" rIns="0" bIns="0" rtlCol="0" anchor="ctr"/>
          <a:lstStyle/>
          <a:p>
            <a:pPr marL="228600" indent="-228600">
              <a:spcAft>
                <a:spcPts val="600"/>
              </a:spcAft>
              <a:buSzPct val="100000"/>
              <a:buChar char="•"/>
            </a:pPr>
            <a:r>
              <a:rPr lang="en-US" sz="1600" dirty="0">
                <a:solidFill>
                  <a:schemeClr val="tx1"/>
                </a:solidFill>
              </a:rPr>
              <a:t>Forhåndsvisning på kartet før du lagrer</a:t>
            </a:r>
            <a:endParaRPr lang="en-US" sz="1600" dirty="0"/>
          </a:p>
          <a:p>
            <a:pPr marL="228600" indent="-228600">
              <a:spcAft>
                <a:spcPts val="600"/>
              </a:spcAft>
              <a:buSzPct val="100000"/>
              <a:buChar char="•"/>
            </a:pPr>
            <a:r>
              <a:rPr lang="en-US" sz="1600" dirty="0">
                <a:solidFill>
                  <a:schemeClr val="tx1"/>
                </a:solidFill>
              </a:rPr>
              <a:t>Importer og eksporter lagene dine som fil</a:t>
            </a:r>
            <a:endParaRPr lang="en-US" sz="1600" dirty="0"/>
          </a:p>
          <a:p>
            <a:pPr marL="228600" indent="-228600">
              <a:spcAft>
                <a:spcPts val="600"/>
              </a:spcAft>
              <a:buSzPct val="100000"/>
              <a:buChar char="•"/>
            </a:pPr>
            <a:r>
              <a:rPr lang="en-US" sz="1600" dirty="0">
                <a:solidFill>
                  <a:schemeClr val="tx1"/>
                </a:solidFill>
              </a:rPr>
              <a:t>Én enkelt kartflis fra utviklerverktøyet holder</a:t>
            </a:r>
            <a:endParaRPr lang="en-US" sz="1600" dirty="0"/>
          </a:p>
        </p:txBody>
      </p:sp>
      <p:sp>
        <p:nvSpPr>
          <p:cNvPr id="1501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6001" name=""/>
        <p:cNvGrpSpPr/>
        <p:nvPr/>
      </p:nvGrpSpPr>
      <p:grpSpPr>
        <a:xfrm>
          <a:off x="0" y="0"/>
          <a:ext cx="0" cy="0"/>
          <a:chOff x="0" y="0"/>
          <a:chExt cx="0" cy="0"/>
        </a:xfrm>
      </p:grpSpPr>
      <p:sp>
        <p:nvSpPr>
          <p:cNvPr id="16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Finn steder, adresser og koordinater</a:t>
            </a:r>
            <a:endParaRPr lang="en-US" sz="3600" dirty="0"/>
          </a:p>
        </p:txBody>
      </p:sp>
      <p:sp>
        <p:nvSpPr>
          <p:cNvPr id="16003" name="Stedssøket bakgrunn"/>
          <p:cNvSpPr/>
          <p:nvPr/>
        </p:nvSpPr>
        <p:spPr>
          <a:xfrm>
            <a:off x="6522415" y="1325880"/>
            <a:ext cx="5120640" cy="4983480"/>
          </a:xfrm>
          <a:prstGeom prst="roundRect">
            <a:avLst>
              <a:gd name="adj" fmla="val 2202"/>
            </a:avLst>
          </a:prstGeom>
          <a:solidFill>
            <a:schemeClr val="bg2"/>
          </a:solidFill>
          <a:ln/>
        </p:spPr>
      </p:sp>
      <p:pic>
        <p:nvPicPr>
          <p:cNvPr id="16004" name="Stedssøket" descr="Stedssøket">    </p:cNvPr>
          <p:cNvPicPr>
            <a:picLocks noChangeAspect="1"/>
          </p:cNvPicPr>
          <p:nvPr/>
        </p:nvPicPr>
        <p:blipFill>
          <a:blip r:embed="rId1"/>
          <a:stretch>
            <a:fillRect/>
          </a:stretch>
        </p:blipFill>
        <p:spPr>
          <a:xfrm>
            <a:off x="6850209" y="1527048"/>
            <a:ext cx="4465053" cy="4581144"/>
          </a:xfrm>
          <a:prstGeom prst="rect">
            <a:avLst/>
          </a:prstGeom>
        </p:spPr>
      </p:pic>
      <p:sp>
        <p:nvSpPr>
          <p:cNvPr id="16005" name="Ikon search sirkel"/>
          <p:cNvSpPr/>
          <p:nvPr/>
        </p:nvSpPr>
        <p:spPr>
          <a:xfrm>
            <a:off x="548640" y="1499616"/>
            <a:ext cx="512064" cy="512064"/>
          </a:xfrm>
          <a:prstGeom prst="ellipse">
            <a:avLst/>
          </a:prstGeom>
          <a:solidFill>
            <a:schemeClr val="accent1"/>
          </a:solidFill>
          <a:ln/>
        </p:spPr>
      </p:sp>
      <p:pic>
        <p:nvPicPr>
          <p:cNvPr id="16006" name="Ikon search" descr="search">    </p:cNvPr>
          <p:cNvPicPr>
            <a:picLocks noChangeAspect="1"/>
          </p:cNvPicPr>
          <p:nvPr/>
        </p:nvPicPr>
        <p:blipFill>
          <a:blip r:embed="rId2"/>
          <a:stretch>
            <a:fillRect/>
          </a:stretch>
        </p:blipFill>
        <p:spPr>
          <a:xfrm>
            <a:off x="661294" y="1612270"/>
            <a:ext cx="286756" cy="286756"/>
          </a:xfrm>
          <a:prstGeom prst="rect">
            <a:avLst/>
          </a:prstGeom>
        </p:spPr>
      </p:pic>
      <p:sp>
        <p:nvSpPr>
          <p:cNvPr id="16007" name="Text 3"/>
          <p:cNvSpPr txBox="1"/>
          <p:nvPr/>
        </p:nvSpPr>
        <p:spPr>
          <a:xfrm>
            <a:off x="1261872" y="142646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Én samlet liste</a:t>
            </a:r>
            <a:endParaRPr lang="en-US" sz="1700" dirty="0"/>
          </a:p>
          <a:p>
            <a:pPr indent="0" marL="0">
              <a:spcAft>
                <a:spcPts val="200"/>
              </a:spcAft>
              <a:buNone/>
            </a:pPr>
            <a:r>
              <a:rPr lang="en-US" sz="1400" dirty="0">
                <a:solidFill>
                  <a:schemeClr val="accent4"/>
                </a:solidFill>
              </a:rPr>
              <a:t>Treffene vises mens du skriver, best treff øverst – uansett kilde</a:t>
            </a:r>
            <a:endParaRPr lang="en-US" sz="1700" dirty="0"/>
          </a:p>
        </p:txBody>
      </p:sp>
      <p:sp>
        <p:nvSpPr>
          <p:cNvPr id="16008" name="Ikon pin sirkel"/>
          <p:cNvSpPr/>
          <p:nvPr/>
        </p:nvSpPr>
        <p:spPr>
          <a:xfrm>
            <a:off x="548640" y="2688336"/>
            <a:ext cx="512064" cy="512064"/>
          </a:xfrm>
          <a:prstGeom prst="ellipse">
            <a:avLst/>
          </a:prstGeom>
          <a:solidFill>
            <a:schemeClr val="accent1"/>
          </a:solidFill>
          <a:ln/>
        </p:spPr>
      </p:sp>
      <p:pic>
        <p:nvPicPr>
          <p:cNvPr id="16009" name="Ikon pin" descr="pin">    </p:cNvPr>
          <p:cNvPicPr>
            <a:picLocks noChangeAspect="1"/>
          </p:cNvPicPr>
          <p:nvPr/>
        </p:nvPicPr>
        <p:blipFill>
          <a:blip r:embed="rId3"/>
          <a:stretch>
            <a:fillRect/>
          </a:stretch>
        </p:blipFill>
        <p:spPr>
          <a:xfrm>
            <a:off x="661294" y="2800990"/>
            <a:ext cx="286756" cy="286756"/>
          </a:xfrm>
          <a:prstGeom prst="rect">
            <a:avLst/>
          </a:prstGeom>
        </p:spPr>
      </p:pic>
      <p:sp>
        <p:nvSpPr>
          <p:cNvPr id="16010" name="Text 5"/>
          <p:cNvSpPr txBox="1"/>
          <p:nvPr/>
        </p:nvSpPr>
        <p:spPr>
          <a:xfrm>
            <a:off x="1261872" y="261518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Sted, adresse og utland</a:t>
            </a:r>
            <a:endParaRPr lang="en-US" sz="1700" dirty="0"/>
          </a:p>
          <a:p>
            <a:pPr indent="0" marL="0">
              <a:spcAft>
                <a:spcPts val="200"/>
              </a:spcAft>
              <a:buNone/>
            </a:pPr>
            <a:r>
              <a:rPr lang="en-US" sz="1400" dirty="0">
                <a:solidFill>
                  <a:schemeClr val="accent4"/>
                </a:solidFill>
              </a:rPr>
              <a:t>Kartverkets stedsnavn og adresser, og steder i utlandet via Photon (OpenStreetMap)</a:t>
            </a:r>
            <a:endParaRPr lang="en-US" sz="1700" dirty="0"/>
          </a:p>
        </p:txBody>
      </p:sp>
      <p:sp>
        <p:nvSpPr>
          <p:cNvPr id="16011" name="Ikon compass sirkel"/>
          <p:cNvSpPr/>
          <p:nvPr/>
        </p:nvSpPr>
        <p:spPr>
          <a:xfrm>
            <a:off x="548640" y="3877056"/>
            <a:ext cx="512064" cy="512064"/>
          </a:xfrm>
          <a:prstGeom prst="ellipse">
            <a:avLst/>
          </a:prstGeom>
          <a:solidFill>
            <a:schemeClr val="accent1"/>
          </a:solidFill>
          <a:ln/>
        </p:spPr>
      </p:sp>
      <p:pic>
        <p:nvPicPr>
          <p:cNvPr id="16012" name="Ikon compass" descr="compass">    </p:cNvPr>
          <p:cNvPicPr>
            <a:picLocks noChangeAspect="1"/>
          </p:cNvPicPr>
          <p:nvPr/>
        </p:nvPicPr>
        <p:blipFill>
          <a:blip r:embed="rId4"/>
          <a:stretch>
            <a:fillRect/>
          </a:stretch>
        </p:blipFill>
        <p:spPr>
          <a:xfrm>
            <a:off x="661294" y="3989710"/>
            <a:ext cx="286756" cy="286756"/>
          </a:xfrm>
          <a:prstGeom prst="rect">
            <a:avLst/>
          </a:prstGeom>
        </p:spPr>
      </p:pic>
      <p:sp>
        <p:nvSpPr>
          <p:cNvPr id="16013" name="Text 7"/>
          <p:cNvSpPr txBox="1"/>
          <p:nvPr/>
        </p:nvSpPr>
        <p:spPr>
          <a:xfrm>
            <a:off x="1261872" y="380390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Koordinater</a:t>
            </a:r>
            <a:endParaRPr lang="en-US" sz="1700" dirty="0"/>
          </a:p>
          <a:p>
            <a:pPr indent="0" marL="0">
              <a:spcAft>
                <a:spcPts val="200"/>
              </a:spcAft>
              <a:buNone/>
            </a:pPr>
            <a:r>
              <a:rPr lang="en-US" sz="1400" dirty="0">
                <a:solidFill>
                  <a:schemeClr val="accent4"/>
                </a:solidFill>
              </a:rPr>
              <a:t>Skriv DMM, DD, DMS eller UTM – skriptet kjenner dem igjen</a:t>
            </a:r>
            <a:endParaRPr lang="en-US" sz="1700" dirty="0"/>
          </a:p>
        </p:txBody>
      </p:sp>
      <p:sp>
        <p:nvSpPr>
          <p:cNvPr id="16014" name="Ikon home sirkel"/>
          <p:cNvSpPr/>
          <p:nvPr/>
        </p:nvSpPr>
        <p:spPr>
          <a:xfrm>
            <a:off x="548640" y="5065776"/>
            <a:ext cx="512064" cy="512064"/>
          </a:xfrm>
          <a:prstGeom prst="ellipse">
            <a:avLst/>
          </a:prstGeom>
          <a:solidFill>
            <a:schemeClr val="accent1"/>
          </a:solidFill>
          <a:ln/>
        </p:spPr>
      </p:sp>
      <p:pic>
        <p:nvPicPr>
          <p:cNvPr id="16015" name="Ikon home" descr="home">    </p:cNvPr>
          <p:cNvPicPr>
            <a:picLocks noChangeAspect="1"/>
          </p:cNvPicPr>
          <p:nvPr/>
        </p:nvPicPr>
        <p:blipFill>
          <a:blip r:embed="rId5"/>
          <a:stretch>
            <a:fillRect/>
          </a:stretch>
        </p:blipFill>
        <p:spPr>
          <a:xfrm>
            <a:off x="661294" y="5178430"/>
            <a:ext cx="286756" cy="286756"/>
          </a:xfrm>
          <a:prstGeom prst="rect">
            <a:avLst/>
          </a:prstGeom>
        </p:spPr>
      </p:pic>
      <p:sp>
        <p:nvSpPr>
          <p:cNvPr id="16016" name="Text 9"/>
          <p:cNvSpPr txBox="1"/>
          <p:nvPr/>
        </p:nvSpPr>
        <p:spPr>
          <a:xfrm>
            <a:off x="1261872" y="4992624"/>
            <a:ext cx="495604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Hjemadresse</a:t>
            </a:r>
            <a:endParaRPr lang="en-US" sz="1700" dirty="0"/>
          </a:p>
          <a:p>
            <a:pPr indent="0" marL="0">
              <a:spcAft>
                <a:spcPts val="200"/>
              </a:spcAft>
              <a:buNone/>
            </a:pPr>
            <a:r>
              <a:rPr lang="en-US" sz="1400" dirty="0">
                <a:solidFill>
                  <a:schemeClr val="accent4"/>
                </a:solidFill>
              </a:rPr>
              <a:t>Den samme søkeboksen brukes til å lagre hjemadressen</a:t>
            </a:r>
            <a:endParaRPr lang="en-US" sz="1700" dirty="0"/>
          </a:p>
        </p:txBody>
      </p:sp>
      <p:sp>
        <p:nvSpPr>
          <p:cNvPr id="1601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7001" name=""/>
        <p:cNvGrpSpPr/>
        <p:nvPr/>
      </p:nvGrpSpPr>
      <p:grpSpPr>
        <a:xfrm>
          <a:off x="0" y="0"/>
          <a:ext cx="0" cy="0"/>
          <a:chOff x="0" y="0"/>
          <a:chExt cx="0" cy="0"/>
        </a:xfrm>
      </p:grpSpPr>
      <p:sp>
        <p:nvSpPr>
          <p:cNvPr id="17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Koordinater i alle formater</a:t>
            </a:r>
            <a:endParaRPr lang="en-US" sz="3600" dirty="0"/>
          </a:p>
        </p:txBody>
      </p:sp>
      <p:sp>
        <p:nvSpPr>
          <p:cNvPr id="17003" name="Høyreklikkboblen bakgrunn"/>
          <p:cNvSpPr/>
          <p:nvPr/>
        </p:nvSpPr>
        <p:spPr>
          <a:xfrm>
            <a:off x="548640" y="1371600"/>
            <a:ext cx="5852160" cy="3383280"/>
          </a:xfrm>
          <a:prstGeom prst="roundRect">
            <a:avLst>
              <a:gd name="adj" fmla="val 3243"/>
            </a:avLst>
          </a:prstGeom>
          <a:solidFill>
            <a:schemeClr val="bg2"/>
          </a:solidFill>
          <a:ln/>
        </p:spPr>
      </p:sp>
      <p:pic>
        <p:nvPicPr>
          <p:cNvPr id="17004" name="Høyreklikkboblen" descr="Høyreklikkboblen">    </p:cNvPr>
          <p:cNvPicPr>
            <a:picLocks noChangeAspect="1"/>
          </p:cNvPicPr>
          <p:nvPr/>
        </p:nvPicPr>
        <p:blipFill>
          <a:blip r:embed="rId1"/>
          <a:stretch>
            <a:fillRect/>
          </a:stretch>
        </p:blipFill>
        <p:spPr>
          <a:xfrm>
            <a:off x="749808" y="1744734"/>
            <a:ext cx="5449824" cy="2637012"/>
          </a:xfrm>
          <a:prstGeom prst="rect">
            <a:avLst/>
          </a:prstGeom>
        </p:spPr>
      </p:pic>
      <p:sp>
        <p:nvSpPr>
          <p:cNvPr id="17005" name="Text 2"/>
          <p:cNvSpPr txBox="1"/>
          <p:nvPr/>
        </p:nvSpPr>
        <p:spPr>
          <a:xfrm>
            <a:off x="548640" y="5029200"/>
            <a:ext cx="5852160" cy="1097280"/>
          </a:xfrm>
          <a:prstGeom prst="rect">
            <a:avLst/>
          </a:prstGeom>
          <a:noFill/>
          <a:ln/>
        </p:spPr>
        <p:txBody>
          <a:bodyPr wrap="square" lIns="0" tIns="0" rIns="0" bIns="0" rtlCol="0" anchor="t"/>
          <a:lstStyle/>
          <a:p>
            <a:pPr indent="0" marL="0">
              <a:buNone/>
            </a:pPr>
            <a:r>
              <a:rPr lang="en-US" sz="1700" dirty="0">
                <a:solidFill>
                  <a:schemeClr val="tx1"/>
                </a:solidFill>
              </a:rPr>
              <a:t>Høyreklikk på kartet: én koordinatlinje som åpnes i DMM. Klikk på linjen for å bytte format, og kopier med ett klikk. Knappen Google Street View åpner Street View ved punktet. Zoomnivået står nederst – skriv et tall for å zoome.</a:t>
            </a:r>
            <a:endParaRPr lang="en-US" sz="1700" dirty="0"/>
          </a:p>
        </p:txBody>
      </p:sp>
      <p:graphicFrame>
        <p:nvGraphicFramePr>
          <p:cNvPr id="17006" name="Koordinatformater"/>
          <p:cNvGraphicFramePr>
            <a:graphicFrameLocks noGrp="1"/>
          </p:cNvGraphicFramePr>
          <p:nvPr>
            <p:extLst>
              <p:ext uri="{D42A27DB-BD31-4B8C-83A1-F6EECF244321}">
                <p14:modId xmlns:p14="http://schemas.microsoft.com/office/powerpoint/2010/main" val="1579011935"/>
              </p:ext>
            </p:extLst>
          </p:nvPr>
        </p:nvGraphicFramePr>
        <p:xfrm>
          <a:off x="6720840" y="1371600"/>
          <a:ext cx="4937760" cy="914400"/>
        </p:xfrm>
        <a:graphic>
          <a:graphicData uri="http://schemas.openxmlformats.org/drawingml/2006/table">
            <a:tbl>
              <a:tblPr/>
              <a:tblGrid>
                <a:gridCol w="1143000"/>
                <a:gridCol w="3794760"/>
              </a:tblGrid>
              <a:tr h="603504">
                <a:tc>
                  <a:txBody>
                    <a:bodyPr/>
                    <a:lstStyle/>
                    <a:p>
                      <a:pPr indent="0" marL="0">
                        <a:buNone/>
                      </a:pPr>
                      <a:r>
                        <a:rPr lang="en-US" sz="1400" b="1" dirty="0">
                          <a:solidFill>
                            <a:schemeClr val="bg1"/>
                          </a:solidFill>
                        </a:rPr>
                        <a:t>Format</a:t>
                      </a:r>
                      <a:endParaRPr lang="en-US" sz="14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Eksempel (Oslo)</a:t>
                      </a:r>
                      <a:endParaRPr lang="en-US" sz="14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chemeClr val="accent1"/>
                    </a:solidFill>
                  </a:tcPr>
                </a:tc>
              </a:tr>
              <a:tr h="603504">
                <a:tc>
                  <a:txBody>
                    <a:bodyPr/>
                    <a:lstStyle/>
                    <a:p>
                      <a:pPr indent="0" marL="0">
                        <a:buNone/>
                      </a:pPr>
                      <a:r>
                        <a:rPr lang="en-US" sz="1500" dirty="0">
                          <a:solidFill>
                            <a:schemeClr val="tx1"/>
                          </a:solidFill>
                        </a:rPr>
                        <a:t>DMM</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N 59° 54.834 E 010° 45.132</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DD</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59.913900, 10.752200</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DMS</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N 59° 54' 50.0" E 10° 45' 07.9"</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UTM</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32V 597980E 6643119N</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r h="603504">
                <a:tc>
                  <a:txBody>
                    <a:bodyPr/>
                    <a:lstStyle/>
                    <a:p>
                      <a:pPr indent="0" marL="0">
                        <a:buNone/>
                      </a:pPr>
                      <a:r>
                        <a:rPr lang="en-US" sz="1500" dirty="0">
                          <a:solidFill>
                            <a:schemeClr val="tx1"/>
                          </a:solidFill>
                        </a:rPr>
                        <a:t>UTM 33</a:t>
                      </a:r>
                      <a:endParaRPr lang="en-US" sz="1500" dirty="0"/>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33V 262560E 6649444N</a:t>
                      </a:r>
                      <a:endParaRPr lang="en-US" sz="1400" dirty="0">
                        <a:latin typeface="Courier New" charset="0"/>
                        <a:ea typeface="Courier New" charset="0"/>
                        <a:cs typeface="Courier New" charset="0"/>
                      </a:endParaRPr>
                    </a:p>
                  </a:txBody>
                  <a:tcPr marL="109728" marR="109728" marT="45720" marB="45720"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FFFFFF"/>
                    </a:solidFill>
                  </a:tcPr>
                </a:tc>
              </a:tr>
            </a:tbl>
          </a:graphicData>
        </a:graphic>
      </p:graphicFrame>
      <p:sp>
        <p:nvSpPr>
          <p:cNvPr id="17007" name="Text 3"/>
          <p:cNvSpPr txBox="1"/>
          <p:nvPr/>
        </p:nvSpPr>
        <p:spPr>
          <a:xfrm>
            <a:off x="6720840" y="5120640"/>
            <a:ext cx="4937760" cy="914400"/>
          </a:xfrm>
          <a:prstGeom prst="rect">
            <a:avLst/>
          </a:prstGeom>
          <a:noFill/>
          <a:ln/>
        </p:spPr>
        <p:txBody>
          <a:bodyPr wrap="square" lIns="0" tIns="0" rIns="0" bIns="0" rtlCol="0" anchor="t"/>
          <a:lstStyle/>
          <a:p>
            <a:pPr indent="0" marL="0">
              <a:buNone/>
            </a:pPr>
            <a:r>
              <a:rPr lang="en-US" sz="1500" dirty="0">
                <a:solidFill>
                  <a:schemeClr val="accent4"/>
                </a:solidFill>
              </a:rPr>
              <a:t>UTM 32, 33 og 35 med fast sone, slik norske kart bruker. Nøyaktig til omtrent en millimeter (Krüger-rekkene).</a:t>
            </a:r>
            <a:endParaRPr lang="en-US" sz="1500" dirty="0"/>
          </a:p>
        </p:txBody>
      </p:sp>
      <p:sp>
        <p:nvSpPr>
          <p:cNvPr id="1700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8001" name=""/>
        <p:cNvGrpSpPr/>
        <p:nvPr/>
      </p:nvGrpSpPr>
      <p:grpSpPr>
        <a:xfrm>
          <a:off x="0" y="0"/>
          <a:ext cx="0" cy="0"/>
          <a:chOff x="0" y="0"/>
          <a:chExt cx="0" cy="0"/>
        </a:xfrm>
      </p:grpSpPr>
      <p:sp>
        <p:nvSpPr>
          <p:cNvPr id="18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Høyreklikk på en cache – rett til koordinatene</a:t>
            </a:r>
            <a:endParaRPr lang="en-US" sz="3600" dirty="0"/>
          </a:p>
        </p:txBody>
      </p:sp>
      <p:sp>
        <p:nvSpPr>
          <p:cNvPr id="18003" name="Boblen festet til en geocache bakgrunn"/>
          <p:cNvSpPr/>
          <p:nvPr/>
        </p:nvSpPr>
        <p:spPr>
          <a:xfrm>
            <a:off x="6156655" y="1371600"/>
            <a:ext cx="5486400" cy="3566160"/>
          </a:xfrm>
          <a:prstGeom prst="roundRect">
            <a:avLst>
              <a:gd name="adj" fmla="val 3077"/>
            </a:avLst>
          </a:prstGeom>
          <a:solidFill>
            <a:schemeClr val="bg2"/>
          </a:solidFill>
          <a:ln/>
        </p:spPr>
      </p:sp>
      <p:pic>
        <p:nvPicPr>
          <p:cNvPr id="18004" name="Boblen festet til en geocache" descr="Boblen festet til en geocache">    </p:cNvPr>
          <p:cNvPicPr>
            <a:picLocks noChangeAspect="1"/>
          </p:cNvPicPr>
          <p:nvPr/>
        </p:nvPicPr>
        <p:blipFill>
          <a:blip r:embed="rId1"/>
          <a:stretch>
            <a:fillRect/>
          </a:stretch>
        </p:blipFill>
        <p:spPr>
          <a:xfrm>
            <a:off x="6357823" y="1709104"/>
            <a:ext cx="5084064" cy="2891152"/>
          </a:xfrm>
          <a:prstGeom prst="rect">
            <a:avLst/>
          </a:prstGeom>
        </p:spPr>
      </p:pic>
      <p:sp>
        <p:nvSpPr>
          <p:cNvPr id="18005" name="Ikon pin sirkel"/>
          <p:cNvSpPr/>
          <p:nvPr/>
        </p:nvSpPr>
        <p:spPr>
          <a:xfrm>
            <a:off x="548640" y="1499616"/>
            <a:ext cx="512064" cy="512064"/>
          </a:xfrm>
          <a:prstGeom prst="ellipse">
            <a:avLst/>
          </a:prstGeom>
          <a:solidFill>
            <a:schemeClr val="accent1"/>
          </a:solidFill>
          <a:ln/>
        </p:spPr>
      </p:sp>
      <p:pic>
        <p:nvPicPr>
          <p:cNvPr id="18006" name="Ikon pin" descr="pin">    </p:cNvPr>
          <p:cNvPicPr>
            <a:picLocks noChangeAspect="1"/>
          </p:cNvPicPr>
          <p:nvPr/>
        </p:nvPicPr>
        <p:blipFill>
          <a:blip r:embed="rId2"/>
          <a:stretch>
            <a:fillRect/>
          </a:stretch>
        </p:blipFill>
        <p:spPr>
          <a:xfrm>
            <a:off x="661294" y="1612270"/>
            <a:ext cx="286756" cy="286756"/>
          </a:xfrm>
          <a:prstGeom prst="rect">
            <a:avLst/>
          </a:prstGeom>
        </p:spPr>
      </p:pic>
      <p:sp>
        <p:nvSpPr>
          <p:cNvPr id="18007" name="Text 3"/>
          <p:cNvSpPr txBox="1"/>
          <p:nvPr/>
        </p:nvSpPr>
        <p:spPr>
          <a:xfrm>
            <a:off x="1261872" y="142646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Festes til cachen</a:t>
            </a:r>
            <a:endParaRPr lang="en-US" sz="1700" dirty="0"/>
          </a:p>
          <a:p>
            <a:pPr indent="0" marL="0">
              <a:spcAft>
                <a:spcPts val="200"/>
              </a:spcAft>
              <a:buNone/>
            </a:pPr>
            <a:r>
              <a:rPr lang="en-US" sz="1400" dirty="0">
                <a:solidFill>
                  <a:schemeClr val="accent4"/>
                </a:solidFill>
              </a:rPr>
              <a:t>Høyreklikk på eller like ved en geocache, så bruker boblen cachens koordinater</a:t>
            </a:r>
            <a:endParaRPr lang="en-US" sz="1700" dirty="0"/>
          </a:p>
        </p:txBody>
      </p:sp>
      <p:sp>
        <p:nvSpPr>
          <p:cNvPr id="18008" name="Ikon search sirkel"/>
          <p:cNvSpPr/>
          <p:nvPr/>
        </p:nvSpPr>
        <p:spPr>
          <a:xfrm>
            <a:off x="548640" y="2688336"/>
            <a:ext cx="512064" cy="512064"/>
          </a:xfrm>
          <a:prstGeom prst="ellipse">
            <a:avLst/>
          </a:prstGeom>
          <a:solidFill>
            <a:schemeClr val="accent1"/>
          </a:solidFill>
          <a:ln/>
        </p:spPr>
      </p:sp>
      <p:pic>
        <p:nvPicPr>
          <p:cNvPr id="18009" name="Ikon search" descr="search">    </p:cNvPr>
          <p:cNvPicPr>
            <a:picLocks noChangeAspect="1"/>
          </p:cNvPicPr>
          <p:nvPr/>
        </p:nvPicPr>
        <p:blipFill>
          <a:blip r:embed="rId3"/>
          <a:stretch>
            <a:fillRect/>
          </a:stretch>
        </p:blipFill>
        <p:spPr>
          <a:xfrm>
            <a:off x="661294" y="2800990"/>
            <a:ext cx="286756" cy="286756"/>
          </a:xfrm>
          <a:prstGeom prst="rect">
            <a:avLst/>
          </a:prstGeom>
        </p:spPr>
      </p:pic>
      <p:sp>
        <p:nvSpPr>
          <p:cNvPr id="18010" name="Text 5"/>
          <p:cNvSpPr txBox="1"/>
          <p:nvPr/>
        </p:nvSpPr>
        <p:spPr>
          <a:xfrm>
            <a:off x="1261872" y="261518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GC-kode, navn og ♥</a:t>
            </a:r>
            <a:endParaRPr lang="en-US" sz="1700" dirty="0"/>
          </a:p>
          <a:p>
            <a:pPr indent="0" marL="0">
              <a:spcAft>
                <a:spcPts val="200"/>
              </a:spcAft>
              <a:buNone/>
            </a:pPr>
            <a:r>
              <a:rPr lang="en-US" sz="1400" dirty="0">
                <a:solidFill>
                  <a:schemeClr val="accent4"/>
                </a:solidFill>
              </a:rPr>
              <a:t>Favorittpoeng vises; klikk på GC-koden for å åpne cachesiden</a:t>
            </a:r>
            <a:endParaRPr lang="en-US" sz="1700" dirty="0"/>
          </a:p>
        </p:txBody>
      </p:sp>
      <p:sp>
        <p:nvSpPr>
          <p:cNvPr id="18011" name="Ikon compass sirkel"/>
          <p:cNvSpPr/>
          <p:nvPr/>
        </p:nvSpPr>
        <p:spPr>
          <a:xfrm>
            <a:off x="548640" y="3877056"/>
            <a:ext cx="512064" cy="512064"/>
          </a:xfrm>
          <a:prstGeom prst="ellipse">
            <a:avLst/>
          </a:prstGeom>
          <a:solidFill>
            <a:schemeClr val="accent1"/>
          </a:solidFill>
          <a:ln/>
        </p:spPr>
      </p:sp>
      <p:pic>
        <p:nvPicPr>
          <p:cNvPr id="18012" name="Ikon compass" descr="compass">    </p:cNvPr>
          <p:cNvPicPr>
            <a:picLocks noChangeAspect="1"/>
          </p:cNvPicPr>
          <p:nvPr/>
        </p:nvPicPr>
        <p:blipFill>
          <a:blip r:embed="rId4"/>
          <a:stretch>
            <a:fillRect/>
          </a:stretch>
        </p:blipFill>
        <p:spPr>
          <a:xfrm>
            <a:off x="661294" y="3989710"/>
            <a:ext cx="286756" cy="286756"/>
          </a:xfrm>
          <a:prstGeom prst="rect">
            <a:avLst/>
          </a:prstGeom>
        </p:spPr>
      </p:pic>
      <p:sp>
        <p:nvSpPr>
          <p:cNvPr id="18013" name="Text 7"/>
          <p:cNvSpPr txBox="1"/>
          <p:nvPr/>
        </p:nvSpPr>
        <p:spPr>
          <a:xfrm>
            <a:off x="1261872" y="380390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Alle verktøy følger med</a:t>
            </a:r>
            <a:endParaRPr lang="en-US" sz="1700" dirty="0"/>
          </a:p>
          <a:p>
            <a:pPr indent="0" marL="0">
              <a:spcAft>
                <a:spcPts val="200"/>
              </a:spcAft>
              <a:buNone/>
            </a:pPr>
            <a:r>
              <a:rPr lang="en-US" sz="1400" dirty="0">
                <a:solidFill>
                  <a:schemeClr val="accent4"/>
                </a:solidFill>
              </a:rPr>
              <a:t>Merkenål, projisering, måling og 161 m-sirkel tar utgangspunkt i cachen</a:t>
            </a:r>
            <a:endParaRPr lang="en-US" sz="1700" dirty="0"/>
          </a:p>
        </p:txBody>
      </p:sp>
      <p:sp>
        <p:nvSpPr>
          <p:cNvPr id="18014" name="Ikon x sirkel"/>
          <p:cNvSpPr/>
          <p:nvPr/>
        </p:nvSpPr>
        <p:spPr>
          <a:xfrm>
            <a:off x="548640" y="5065776"/>
            <a:ext cx="512064" cy="512064"/>
          </a:xfrm>
          <a:prstGeom prst="ellipse">
            <a:avLst/>
          </a:prstGeom>
          <a:solidFill>
            <a:schemeClr val="accent1"/>
          </a:solidFill>
          <a:ln/>
        </p:spPr>
      </p:sp>
      <p:pic>
        <p:nvPicPr>
          <p:cNvPr id="18015" name="Ikon x" descr="x">    </p:cNvPr>
          <p:cNvPicPr>
            <a:picLocks noChangeAspect="1"/>
          </p:cNvPicPr>
          <p:nvPr/>
        </p:nvPicPr>
        <p:blipFill>
          <a:blip r:embed="rId5"/>
          <a:stretch>
            <a:fillRect/>
          </a:stretch>
        </p:blipFill>
        <p:spPr>
          <a:xfrm>
            <a:off x="661294" y="5178430"/>
            <a:ext cx="286756" cy="286756"/>
          </a:xfrm>
          <a:prstGeom prst="rect">
            <a:avLst/>
          </a:prstGeom>
        </p:spPr>
      </p:pic>
      <p:sp>
        <p:nvSpPr>
          <p:cNvPr id="18016" name="Text 9"/>
          <p:cNvSpPr txBox="1"/>
          <p:nvPr/>
        </p:nvSpPr>
        <p:spPr>
          <a:xfrm>
            <a:off x="1261872" y="4992624"/>
            <a:ext cx="48646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Bruk klikkpunktet</a:t>
            </a:r>
            <a:endParaRPr lang="en-US" sz="1700" dirty="0"/>
          </a:p>
          <a:p>
            <a:pPr indent="0" marL="0">
              <a:spcAft>
                <a:spcPts val="200"/>
              </a:spcAft>
              <a:buNone/>
            </a:pPr>
            <a:r>
              <a:rPr lang="en-US" sz="1400" dirty="0">
                <a:solidFill>
                  <a:schemeClr val="accent4"/>
                </a:solidFill>
              </a:rPr>
              <a:t>Ett klikk bytter til det nøyaktige punktet du klikket på</a:t>
            </a:r>
            <a:endParaRPr lang="en-US" sz="1700" dirty="0"/>
          </a:p>
        </p:txBody>
      </p:sp>
      <p:sp>
        <p:nvSpPr>
          <p:cNvPr id="18017" name="Text 10"/>
          <p:cNvSpPr txBox="1"/>
          <p:nvPr/>
        </p:nvSpPr>
        <p:spPr>
          <a:xfrm>
            <a:off x="6156655" y="5166360"/>
            <a:ext cx="5486400" cy="822960"/>
          </a:xfrm>
          <a:prstGeom prst="rect">
            <a:avLst/>
          </a:prstGeom>
          <a:noFill/>
          <a:ln/>
        </p:spPr>
        <p:txBody>
          <a:bodyPr wrap="square" lIns="0" tIns="0" rIns="0" bIns="0" rtlCol="0" anchor="t"/>
          <a:lstStyle/>
          <a:p>
            <a:pPr indent="0" marL="0">
              <a:buNone/>
            </a:pPr>
            <a:r>
              <a:rPr lang="en-US" sz="1500" dirty="0">
                <a:solidFill>
                  <a:schemeClr val="accent4"/>
                </a:solidFill>
              </a:rPr>
              <a:t>Nøyaktige koordinater fra geocaching.coms cachesøk – også på det gamle kartet. Bare før søket har svart, beregnes posisjonen fra ikonet (≈).</a:t>
            </a:r>
            <a:endParaRPr lang="en-US" sz="1500" dirty="0"/>
          </a:p>
        </p:txBody>
      </p:sp>
      <p:sp>
        <p:nvSpPr>
          <p:cNvPr id="1801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9001" name=""/>
        <p:cNvGrpSpPr/>
        <p:nvPr/>
      </p:nvGrpSpPr>
      <p:grpSpPr>
        <a:xfrm>
          <a:off x="0" y="0"/>
          <a:ext cx="0" cy="0"/>
          <a:chOff x="0" y="0"/>
          <a:chExt cx="0" cy="0"/>
        </a:xfrm>
      </p:grpSpPr>
      <p:sp>
        <p:nvSpPr>
          <p:cNvPr id="19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Projiser veipunkter og mål avstander</a:t>
            </a:r>
            <a:endParaRPr lang="en-US" sz="3600" dirty="0"/>
          </a:p>
        </p:txBody>
      </p:sp>
      <p:sp>
        <p:nvSpPr>
          <p:cNvPr id="19003" name="Projiseringsdialogen bakgrunn"/>
          <p:cNvSpPr/>
          <p:nvPr/>
        </p:nvSpPr>
        <p:spPr>
          <a:xfrm>
            <a:off x="6888175" y="1325880"/>
            <a:ext cx="4754880" cy="4983480"/>
          </a:xfrm>
          <a:prstGeom prst="roundRect">
            <a:avLst>
              <a:gd name="adj" fmla="val 2308"/>
            </a:avLst>
          </a:prstGeom>
          <a:solidFill>
            <a:schemeClr val="bg2"/>
          </a:solidFill>
          <a:ln/>
        </p:spPr>
      </p:sp>
      <p:pic>
        <p:nvPicPr>
          <p:cNvPr id="19004" name="Projiseringsdialogen" descr="Projiseringsdialogen">    </p:cNvPr>
          <p:cNvPicPr>
            <a:picLocks noChangeAspect="1"/>
          </p:cNvPicPr>
          <p:nvPr/>
        </p:nvPicPr>
        <p:blipFill>
          <a:blip r:embed="rId1"/>
          <a:stretch>
            <a:fillRect/>
          </a:stretch>
        </p:blipFill>
        <p:spPr>
          <a:xfrm>
            <a:off x="7089343" y="1548079"/>
            <a:ext cx="4352544" cy="4539082"/>
          </a:xfrm>
          <a:prstGeom prst="rect">
            <a:avLst/>
          </a:prstGeom>
        </p:spPr>
      </p:pic>
      <p:sp>
        <p:nvSpPr>
          <p:cNvPr id="19005" name="Ikon compass sirkel"/>
          <p:cNvSpPr/>
          <p:nvPr/>
        </p:nvSpPr>
        <p:spPr>
          <a:xfrm>
            <a:off x="548640" y="1499616"/>
            <a:ext cx="512064" cy="512064"/>
          </a:xfrm>
          <a:prstGeom prst="ellipse">
            <a:avLst/>
          </a:prstGeom>
          <a:solidFill>
            <a:schemeClr val="accent1"/>
          </a:solidFill>
          <a:ln/>
        </p:spPr>
      </p:sp>
      <p:pic>
        <p:nvPicPr>
          <p:cNvPr id="19006" name="Ikon compass" descr="compass">    </p:cNvPr>
          <p:cNvPicPr>
            <a:picLocks noChangeAspect="1"/>
          </p:cNvPicPr>
          <p:nvPr/>
        </p:nvPicPr>
        <p:blipFill>
          <a:blip r:embed="rId2"/>
          <a:stretch>
            <a:fillRect/>
          </a:stretch>
        </p:blipFill>
        <p:spPr>
          <a:xfrm>
            <a:off x="661294" y="1612270"/>
            <a:ext cx="286756" cy="286756"/>
          </a:xfrm>
          <a:prstGeom prst="rect">
            <a:avLst/>
          </a:prstGeom>
        </p:spPr>
      </p:pic>
      <p:sp>
        <p:nvSpPr>
          <p:cNvPr id="19007" name="Text 3"/>
          <p:cNvSpPr txBox="1"/>
          <p:nvPr/>
        </p:nvSpPr>
        <p:spPr>
          <a:xfrm>
            <a:off x="1261872" y="142646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Projiser fra et punkt</a:t>
            </a:r>
            <a:endParaRPr lang="en-US" sz="1700" dirty="0"/>
          </a:p>
          <a:p>
            <a:pPr indent="0" marL="0">
              <a:spcAft>
                <a:spcPts val="200"/>
              </a:spcAft>
              <a:buNone/>
            </a:pPr>
            <a:r>
              <a:rPr lang="en-US" sz="1400" dirty="0">
                <a:solidFill>
                  <a:schemeClr val="accent4"/>
                </a:solidFill>
              </a:rPr>
              <a:t>Startpunktet fylles ut automatisk. Skriv retning og avstand i m, km eller ft</a:t>
            </a:r>
            <a:endParaRPr lang="en-US" sz="1700" dirty="0"/>
          </a:p>
        </p:txBody>
      </p:sp>
      <p:sp>
        <p:nvSpPr>
          <p:cNvPr id="19008" name="Ikon pin sirkel"/>
          <p:cNvSpPr/>
          <p:nvPr/>
        </p:nvSpPr>
        <p:spPr>
          <a:xfrm>
            <a:off x="548640" y="2688336"/>
            <a:ext cx="512064" cy="512064"/>
          </a:xfrm>
          <a:prstGeom prst="ellipse">
            <a:avLst/>
          </a:prstGeom>
          <a:solidFill>
            <a:schemeClr val="accent1"/>
          </a:solidFill>
          <a:ln/>
        </p:spPr>
      </p:sp>
      <p:pic>
        <p:nvPicPr>
          <p:cNvPr id="19009" name="Ikon pin" descr="pin">    </p:cNvPr>
          <p:cNvPicPr>
            <a:picLocks noChangeAspect="1"/>
          </p:cNvPicPr>
          <p:nvPr/>
        </p:nvPicPr>
        <p:blipFill>
          <a:blip r:embed="rId3"/>
          <a:stretch>
            <a:fillRect/>
          </a:stretch>
        </p:blipFill>
        <p:spPr>
          <a:xfrm>
            <a:off x="661294" y="2800990"/>
            <a:ext cx="286756" cy="286756"/>
          </a:xfrm>
          <a:prstGeom prst="rect">
            <a:avLst/>
          </a:prstGeom>
        </p:spPr>
      </p:pic>
      <p:sp>
        <p:nvSpPr>
          <p:cNvPr id="19010" name="Text 5"/>
          <p:cNvSpPr txBox="1"/>
          <p:nvPr/>
        </p:nvSpPr>
        <p:spPr>
          <a:xfrm>
            <a:off x="1261872" y="261518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Se resultatet med en gang</a:t>
            </a:r>
            <a:endParaRPr lang="en-US" sz="1700" dirty="0"/>
          </a:p>
          <a:p>
            <a:pPr indent="0" marL="0">
              <a:spcAft>
                <a:spcPts val="200"/>
              </a:spcAft>
              <a:buNone/>
            </a:pPr>
            <a:r>
              <a:rPr lang="en-US" sz="1400" dirty="0">
                <a:solidFill>
                  <a:schemeClr val="accent4"/>
                </a:solidFill>
              </a:rPr>
              <a:t>Veipunktet vises mens du skriver, med en stiplet linje på kartet og kopiknapp</a:t>
            </a:r>
            <a:endParaRPr lang="en-US" sz="1700" dirty="0"/>
          </a:p>
        </p:txBody>
      </p:sp>
      <p:sp>
        <p:nvSpPr>
          <p:cNvPr id="19011" name="Ikon ruler sirkel"/>
          <p:cNvSpPr/>
          <p:nvPr/>
        </p:nvSpPr>
        <p:spPr>
          <a:xfrm>
            <a:off x="548640" y="3877056"/>
            <a:ext cx="512064" cy="512064"/>
          </a:xfrm>
          <a:prstGeom prst="ellipse">
            <a:avLst/>
          </a:prstGeom>
          <a:solidFill>
            <a:schemeClr val="accent1"/>
          </a:solidFill>
          <a:ln/>
        </p:spPr>
      </p:sp>
      <p:pic>
        <p:nvPicPr>
          <p:cNvPr id="19012" name="Ikon ruler" descr="ruler">    </p:cNvPr>
          <p:cNvPicPr>
            <a:picLocks noChangeAspect="1"/>
          </p:cNvPicPr>
          <p:nvPr/>
        </p:nvPicPr>
        <p:blipFill>
          <a:blip r:embed="rId4"/>
          <a:stretch>
            <a:fillRect/>
          </a:stretch>
        </p:blipFill>
        <p:spPr>
          <a:xfrm>
            <a:off x="661294" y="3989710"/>
            <a:ext cx="286756" cy="286756"/>
          </a:xfrm>
          <a:prstGeom prst="rect">
            <a:avLst/>
          </a:prstGeom>
        </p:spPr>
      </p:pic>
      <p:sp>
        <p:nvSpPr>
          <p:cNvPr id="19013" name="Text 7"/>
          <p:cNvSpPr txBox="1"/>
          <p:nvPr/>
        </p:nvSpPr>
        <p:spPr>
          <a:xfrm>
            <a:off x="1261872" y="380390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Mål avstand og retning</a:t>
            </a:r>
            <a:endParaRPr lang="en-US" sz="1700" dirty="0"/>
          </a:p>
          <a:p>
            <a:pPr indent="0" marL="0">
              <a:spcAft>
                <a:spcPts val="200"/>
              </a:spcAft>
              <a:buNone/>
            </a:pPr>
            <a:r>
              <a:rPr lang="en-US" sz="1400" dirty="0">
                <a:solidFill>
                  <a:schemeClr val="accent4"/>
                </a:solidFill>
              </a:rPr>
              <a:t>Klikk punkter på kartet – total lengde og siste strekning vises</a:t>
            </a:r>
            <a:endParaRPr lang="en-US" sz="1700" dirty="0"/>
          </a:p>
        </p:txBody>
      </p:sp>
      <p:sp>
        <p:nvSpPr>
          <p:cNvPr id="19014" name="Ikon check sirkel"/>
          <p:cNvSpPr/>
          <p:nvPr/>
        </p:nvSpPr>
        <p:spPr>
          <a:xfrm>
            <a:off x="548640" y="5065776"/>
            <a:ext cx="512064" cy="512064"/>
          </a:xfrm>
          <a:prstGeom prst="ellipse">
            <a:avLst/>
          </a:prstGeom>
          <a:solidFill>
            <a:schemeClr val="accent1"/>
          </a:solidFill>
          <a:ln/>
        </p:spPr>
      </p:sp>
      <p:pic>
        <p:nvPicPr>
          <p:cNvPr id="19015" name="Ikon check" descr="check">    </p:cNvPr>
          <p:cNvPicPr>
            <a:picLocks noChangeAspect="1"/>
          </p:cNvPicPr>
          <p:nvPr/>
        </p:nvPicPr>
        <p:blipFill>
          <a:blip r:embed="rId5"/>
          <a:stretch>
            <a:fillRect/>
          </a:stretch>
        </p:blipFill>
        <p:spPr>
          <a:xfrm>
            <a:off x="661294" y="5178430"/>
            <a:ext cx="286756" cy="286756"/>
          </a:xfrm>
          <a:prstGeom prst="rect">
            <a:avLst/>
          </a:prstGeom>
        </p:spPr>
      </p:pic>
      <p:sp>
        <p:nvSpPr>
          <p:cNvPr id="19016" name="Text 9"/>
          <p:cNvSpPr txBox="1"/>
          <p:nvPr/>
        </p:nvSpPr>
        <p:spPr>
          <a:xfrm>
            <a:off x="1261872" y="4992624"/>
            <a:ext cx="5321808" cy="11430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Godt nok for geocaching</a:t>
            </a:r>
            <a:endParaRPr lang="en-US" sz="1700" dirty="0"/>
          </a:p>
          <a:p>
            <a:pPr indent="0" marL="0">
              <a:spcAft>
                <a:spcPts val="200"/>
              </a:spcAft>
              <a:buNone/>
            </a:pPr>
            <a:r>
              <a:rPr lang="en-US" sz="1400" dirty="0">
                <a:solidFill>
                  <a:schemeClr val="accent4"/>
                </a:solidFill>
              </a:rPr>
              <a:t>Feilen er godt under en meter på vanlige avstander</a:t>
            </a:r>
            <a:endParaRPr lang="en-US" sz="1700" dirty="0"/>
          </a:p>
        </p:txBody>
      </p:sp>
      <p:sp>
        <p:nvSpPr>
          <p:cNvPr id="1901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0001" name=""/>
        <p:cNvGrpSpPr/>
        <p:nvPr/>
      </p:nvGrpSpPr>
      <p:grpSpPr>
        <a:xfrm>
          <a:off x="0" y="0"/>
          <a:ext cx="0" cy="0"/>
          <a:chOff x="0" y="0"/>
          <a:chExt cx="0" cy="0"/>
        </a:xfrm>
      </p:grpSpPr>
      <p:sp>
        <p:nvSpPr>
          <p:cNvPr id="20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161 m-sirkler der noe er utplassert</a:t>
            </a:r>
            <a:endParaRPr lang="en-US" sz="3600" dirty="0"/>
          </a:p>
        </p:txBody>
      </p:sp>
      <p:sp>
        <p:nvSpPr>
          <p:cNvPr id="20003" name="Ikon circles sirkel"/>
          <p:cNvSpPr/>
          <p:nvPr/>
        </p:nvSpPr>
        <p:spPr>
          <a:xfrm>
            <a:off x="548640" y="1499616"/>
            <a:ext cx="512064" cy="512064"/>
          </a:xfrm>
          <a:prstGeom prst="ellipse">
            <a:avLst/>
          </a:prstGeom>
          <a:solidFill>
            <a:schemeClr val="accent1"/>
          </a:solidFill>
          <a:ln/>
        </p:spPr>
      </p:sp>
      <p:pic>
        <p:nvPicPr>
          <p:cNvPr id="20004" name="Ikon circles" descr="circles">    </p:cNvPr>
          <p:cNvPicPr>
            <a:picLocks noChangeAspect="1"/>
          </p:cNvPicPr>
          <p:nvPr/>
        </p:nvPicPr>
        <p:blipFill>
          <a:blip r:embed="rId1"/>
          <a:stretch>
            <a:fillRect/>
          </a:stretch>
        </p:blipFill>
        <p:spPr>
          <a:xfrm>
            <a:off x="661294" y="1612270"/>
            <a:ext cx="286756" cy="286756"/>
          </a:xfrm>
          <a:prstGeom prst="rect">
            <a:avLst/>
          </a:prstGeom>
        </p:spPr>
      </p:pic>
      <p:sp>
        <p:nvSpPr>
          <p:cNvPr id="20005" name="Text 2"/>
          <p:cNvSpPr txBox="1"/>
          <p:nvPr/>
        </p:nvSpPr>
        <p:spPr>
          <a:xfrm>
            <a:off x="1261872" y="1426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Tradisjonelle cacher</a:t>
            </a:r>
            <a:endParaRPr lang="en-US" sz="1700" dirty="0"/>
          </a:p>
          <a:p>
            <a:pPr indent="0" marL="0">
              <a:spcAft>
                <a:spcPts val="200"/>
              </a:spcAft>
              <a:buNone/>
            </a:pPr>
            <a:r>
              <a:rPr lang="en-US" sz="1400" dirty="0">
                <a:solidFill>
                  <a:schemeClr val="accent4"/>
                </a:solidFill>
              </a:rPr>
              <a:t>På de nøyaktige publiserte koordinatene</a:t>
            </a:r>
            <a:endParaRPr lang="en-US" sz="1700" dirty="0"/>
          </a:p>
        </p:txBody>
      </p:sp>
      <p:sp>
        <p:nvSpPr>
          <p:cNvPr id="20006" name="Ikon check sirkel"/>
          <p:cNvSpPr/>
          <p:nvPr/>
        </p:nvSpPr>
        <p:spPr>
          <a:xfrm>
            <a:off x="548640" y="2642616"/>
            <a:ext cx="512064" cy="512064"/>
          </a:xfrm>
          <a:prstGeom prst="ellipse">
            <a:avLst/>
          </a:prstGeom>
          <a:solidFill>
            <a:schemeClr val="accent1"/>
          </a:solidFill>
          <a:ln/>
        </p:spPr>
      </p:sp>
      <p:pic>
        <p:nvPicPr>
          <p:cNvPr id="20007" name="Ikon check" descr="check">    </p:cNvPr>
          <p:cNvPicPr>
            <a:picLocks noChangeAspect="1"/>
          </p:cNvPicPr>
          <p:nvPr/>
        </p:nvPicPr>
        <p:blipFill>
          <a:blip r:embed="rId2"/>
          <a:stretch>
            <a:fillRect/>
          </a:stretch>
        </p:blipFill>
        <p:spPr>
          <a:xfrm>
            <a:off x="661294" y="2755270"/>
            <a:ext cx="286756" cy="286756"/>
          </a:xfrm>
          <a:prstGeom prst="rect">
            <a:avLst/>
          </a:prstGeom>
        </p:spPr>
      </p:pic>
      <p:sp>
        <p:nvSpPr>
          <p:cNvPr id="20008" name="Text 4"/>
          <p:cNvSpPr txBox="1"/>
          <p:nvPr/>
        </p:nvSpPr>
        <p:spPr>
          <a:xfrm>
            <a:off x="1261872" y="2569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Løste cacher</a:t>
            </a:r>
            <a:endParaRPr lang="en-US" sz="1700" dirty="0"/>
          </a:p>
          <a:p>
            <a:pPr indent="0" marL="0">
              <a:spcAft>
                <a:spcPts val="200"/>
              </a:spcAft>
              <a:buNone/>
            </a:pPr>
            <a:r>
              <a:rPr lang="en-US" sz="1400" dirty="0">
                <a:solidFill>
                  <a:schemeClr val="accent4"/>
                </a:solidFill>
              </a:rPr>
              <a:t>På dine korrigerte koordinater – også når ikonet er flyttet tilbake etter funn</a:t>
            </a:r>
            <a:endParaRPr lang="en-US" sz="1700" dirty="0"/>
          </a:p>
        </p:txBody>
      </p:sp>
      <p:sp>
        <p:nvSpPr>
          <p:cNvPr id="20009" name="Ikon pin sirkel"/>
          <p:cNvSpPr/>
          <p:nvPr/>
        </p:nvSpPr>
        <p:spPr>
          <a:xfrm>
            <a:off x="548640" y="3785616"/>
            <a:ext cx="512064" cy="512064"/>
          </a:xfrm>
          <a:prstGeom prst="ellipse">
            <a:avLst/>
          </a:prstGeom>
          <a:solidFill>
            <a:schemeClr val="accent1"/>
          </a:solidFill>
          <a:ln/>
        </p:spPr>
      </p:sp>
      <p:pic>
        <p:nvPicPr>
          <p:cNvPr id="20010" name="Ikon pin" descr="pin">    </p:cNvPr>
          <p:cNvPicPr>
            <a:picLocks noChangeAspect="1"/>
          </p:cNvPicPr>
          <p:nvPr/>
        </p:nvPicPr>
        <p:blipFill>
          <a:blip r:embed="rId3"/>
          <a:stretch>
            <a:fillRect/>
          </a:stretch>
        </p:blipFill>
        <p:spPr>
          <a:xfrm>
            <a:off x="661294" y="3898270"/>
            <a:ext cx="286756" cy="286756"/>
          </a:xfrm>
          <a:prstGeom prst="rect">
            <a:avLst/>
          </a:prstGeom>
        </p:spPr>
      </p:pic>
      <p:sp>
        <p:nvSpPr>
          <p:cNvPr id="20011" name="Text 6"/>
          <p:cNvSpPr txBox="1"/>
          <p:nvPr/>
        </p:nvSpPr>
        <p:spPr>
          <a:xfrm>
            <a:off x="1261872" y="3712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Fysiske steg og final</a:t>
            </a:r>
            <a:endParaRPr lang="en-US" sz="1700" dirty="0"/>
          </a:p>
          <a:p>
            <a:pPr indent="0" marL="0">
              <a:spcAft>
                <a:spcPts val="200"/>
              </a:spcAft>
              <a:buNone/>
            </a:pPr>
            <a:r>
              <a:rPr lang="en-US" sz="1400" dirty="0">
                <a:solidFill>
                  <a:schemeClr val="accent4"/>
                </a:solidFill>
              </a:rPr>
              <a:t>Synlige steg i multier, mysterier, Wherigoer og letterboxer, lest fra cachesiden</a:t>
            </a:r>
            <a:endParaRPr lang="en-US" sz="1700" dirty="0"/>
          </a:p>
        </p:txBody>
      </p:sp>
      <p:sp>
        <p:nvSpPr>
          <p:cNvPr id="20012" name="Ikon ring sirkel"/>
          <p:cNvSpPr/>
          <p:nvPr/>
        </p:nvSpPr>
        <p:spPr>
          <a:xfrm>
            <a:off x="548640" y="4928616"/>
            <a:ext cx="512064" cy="512064"/>
          </a:xfrm>
          <a:prstGeom prst="ellipse">
            <a:avLst/>
          </a:prstGeom>
          <a:solidFill>
            <a:schemeClr val="accent1"/>
          </a:solidFill>
          <a:ln/>
        </p:spPr>
      </p:sp>
      <p:pic>
        <p:nvPicPr>
          <p:cNvPr id="20013" name="Ikon ring" descr="ring">    </p:cNvPr>
          <p:cNvPicPr>
            <a:picLocks noChangeAspect="1"/>
          </p:cNvPicPr>
          <p:nvPr/>
        </p:nvPicPr>
        <p:blipFill>
          <a:blip r:embed="rId4"/>
          <a:stretch>
            <a:fillRect/>
          </a:stretch>
        </p:blipFill>
        <p:spPr>
          <a:xfrm>
            <a:off x="661294" y="5041270"/>
            <a:ext cx="286756" cy="286756"/>
          </a:xfrm>
          <a:prstGeom prst="rect">
            <a:avLst/>
          </a:prstGeom>
        </p:spPr>
      </p:pic>
      <p:sp>
        <p:nvSpPr>
          <p:cNvPr id="20014" name="Text 8"/>
          <p:cNvSpPr txBox="1"/>
          <p:nvPr/>
        </p:nvSpPr>
        <p:spPr>
          <a:xfrm>
            <a:off x="1261872" y="4855464"/>
            <a:ext cx="6053328" cy="109728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Enkeltsirkel</a:t>
            </a:r>
            <a:endParaRPr lang="en-US" sz="1700" dirty="0"/>
          </a:p>
          <a:p>
            <a:pPr indent="0" marL="0">
              <a:spcAft>
                <a:spcPts val="200"/>
              </a:spcAft>
              <a:buNone/>
            </a:pPr>
            <a:r>
              <a:rPr lang="en-US" sz="1400" dirty="0">
                <a:solidFill>
                  <a:schemeClr val="accent4"/>
                </a:solidFill>
              </a:rPr>
              <a:t>Høyreklikk hvor som helst og velg 161 m-sirkel</a:t>
            </a:r>
            <a:endParaRPr lang="en-US" sz="1700" dirty="0"/>
          </a:p>
        </p:txBody>
      </p:sp>
      <p:sp>
        <p:nvSpPr>
          <p:cNvPr id="20015" name="Merke ved en løst cache bakgrunn"/>
          <p:cNvSpPr/>
          <p:nvPr/>
        </p:nvSpPr>
        <p:spPr>
          <a:xfrm>
            <a:off x="7802575" y="1463040"/>
            <a:ext cx="3840480" cy="2834640"/>
          </a:xfrm>
          <a:prstGeom prst="roundRect">
            <a:avLst>
              <a:gd name="adj" fmla="val 3871"/>
            </a:avLst>
          </a:prstGeom>
          <a:solidFill>
            <a:schemeClr val="bg2"/>
          </a:solidFill>
          <a:ln/>
        </p:spPr>
      </p:sp>
      <p:pic>
        <p:nvPicPr>
          <p:cNvPr id="20016" name="Merke ved en løst cache" descr="Merke ved en løst cache">    </p:cNvPr>
          <p:cNvPicPr>
            <a:picLocks noChangeAspect="1"/>
          </p:cNvPicPr>
          <p:nvPr/>
        </p:nvPicPr>
        <p:blipFill>
          <a:blip r:embed="rId5"/>
          <a:stretch>
            <a:fillRect/>
          </a:stretch>
        </p:blipFill>
        <p:spPr>
          <a:xfrm>
            <a:off x="8058607" y="1664208"/>
            <a:ext cx="3328416" cy="2432304"/>
          </a:xfrm>
          <a:prstGeom prst="rect">
            <a:avLst/>
          </a:prstGeom>
        </p:spPr>
      </p:pic>
      <p:sp>
        <p:nvSpPr>
          <p:cNvPr id="20017" name="Text 10"/>
          <p:cNvSpPr txBox="1"/>
          <p:nvPr/>
        </p:nvSpPr>
        <p:spPr>
          <a:xfrm>
            <a:off x="7802575" y="4526280"/>
            <a:ext cx="3840480" cy="1280160"/>
          </a:xfrm>
          <a:prstGeom prst="rect">
            <a:avLst/>
          </a:prstGeom>
          <a:noFill/>
          <a:ln/>
        </p:spPr>
        <p:txBody>
          <a:bodyPr wrap="square" lIns="0" tIns="0" rIns="0" bIns="0" rtlCol="0" anchor="t"/>
          <a:lstStyle/>
          <a:p>
            <a:pPr indent="0" marL="0">
              <a:buNone/>
            </a:pPr>
            <a:r>
              <a:rPr lang="en-US" sz="1500" dirty="0">
                <a:solidFill>
                  <a:schemeClr val="accent4"/>
                </a:solidFill>
              </a:rPr>
              <a:t>Der ikke noe cacheikon viser stedet, står et klikkbart merke midt i sirkelen. Musepekeren over en løst cache viser «Endelig plassering»; høyreklikk gir nøyaktige koordinater.</a:t>
            </a:r>
            <a:endParaRPr lang="en-US" sz="1500" dirty="0"/>
          </a:p>
        </p:txBody>
      </p:sp>
      <p:sp>
        <p:nvSpPr>
          <p:cNvPr id="2001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1001" name=""/>
        <p:cNvGrpSpPr/>
        <p:nvPr/>
      </p:nvGrpSpPr>
      <p:grpSpPr>
        <a:xfrm>
          <a:off x="0" y="0"/>
          <a:ext cx="0" cy="0"/>
          <a:chOff x="0" y="0"/>
          <a:chExt cx="0" cy="0"/>
        </a:xfrm>
      </p:grpSpPr>
      <p:sp>
        <p:nvSpPr>
          <p:cNvPr id="21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161 m-sirkler, cachesider og hjem</a:t>
            </a:r>
            <a:endParaRPr lang="en-US" sz="3600" dirty="0"/>
          </a:p>
        </p:txBody>
      </p:sp>
      <p:sp>
        <p:nvSpPr>
          <p:cNvPr id="21003" name="Kort 161 m-sirkler"/>
          <p:cNvSpPr/>
          <p:nvPr/>
        </p:nvSpPr>
        <p:spPr>
          <a:xfrm>
            <a:off x="548640" y="1508760"/>
            <a:ext cx="3484778" cy="4206240"/>
          </a:xfrm>
          <a:prstGeom prst="roundRect">
            <a:avLst>
              <a:gd name="adj" fmla="val 3149"/>
            </a:avLst>
          </a:prstGeom>
          <a:solidFill>
            <a:schemeClr val="bg2"/>
          </a:solidFill>
          <a:ln/>
        </p:spPr>
      </p:sp>
      <p:sp>
        <p:nvSpPr>
          <p:cNvPr id="21004" name="Ikon circles sirkel"/>
          <p:cNvSpPr/>
          <p:nvPr/>
        </p:nvSpPr>
        <p:spPr>
          <a:xfrm>
            <a:off x="914400" y="1920240"/>
            <a:ext cx="822960" cy="822960"/>
          </a:xfrm>
          <a:prstGeom prst="ellipse">
            <a:avLst/>
          </a:prstGeom>
          <a:solidFill>
            <a:schemeClr val="accent1"/>
          </a:solidFill>
          <a:ln/>
        </p:spPr>
      </p:sp>
      <p:pic>
        <p:nvPicPr>
          <p:cNvPr id="21005" name="Ikon circles" descr="circles">    </p:cNvPr>
          <p:cNvPicPr>
            <a:picLocks noChangeAspect="1"/>
          </p:cNvPicPr>
          <p:nvPr/>
        </p:nvPicPr>
        <p:blipFill>
          <a:blip r:embed="rId1"/>
          <a:stretch>
            <a:fillRect/>
          </a:stretch>
        </p:blipFill>
        <p:spPr>
          <a:xfrm>
            <a:off x="1095451" y="2101291"/>
            <a:ext cx="460858" cy="460858"/>
          </a:xfrm>
          <a:prstGeom prst="rect">
            <a:avLst/>
          </a:prstGeom>
        </p:spPr>
      </p:pic>
      <p:sp>
        <p:nvSpPr>
          <p:cNvPr id="21006" name="Text 3"/>
          <p:cNvSpPr txBox="1"/>
          <p:nvPr/>
        </p:nvSpPr>
        <p:spPr>
          <a:xfrm>
            <a:off x="914400" y="2971800"/>
            <a:ext cx="2753258" cy="502920"/>
          </a:xfrm>
          <a:prstGeom prst="rect">
            <a:avLst/>
          </a:prstGeom>
          <a:noFill/>
          <a:ln/>
        </p:spPr>
        <p:txBody>
          <a:bodyPr wrap="square" lIns="0" tIns="0" rIns="0" bIns="0" rtlCol="0" anchor="ctr"/>
          <a:lstStyle/>
          <a:p>
            <a:pPr indent="0" marL="0">
              <a:buNone/>
            </a:pPr>
            <a:r>
              <a:rPr lang="en-US" sz="2200" b="1" dirty="0">
                <a:solidFill>
                  <a:schemeClr val="tx1"/>
                </a:solidFill>
              </a:rPr>
              <a:t>161 m-sirkler</a:t>
            </a:r>
            <a:endParaRPr lang="en-US" sz="2200" dirty="0"/>
          </a:p>
        </p:txBody>
      </p:sp>
      <p:sp>
        <p:nvSpPr>
          <p:cNvPr id="21007" name="Text 4"/>
          <p:cNvSpPr txBox="1"/>
          <p:nvPr/>
        </p:nvSpPr>
        <p:spPr>
          <a:xfrm>
            <a:off x="914400" y="3611880"/>
            <a:ext cx="2753258"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Der noe er utplassert – se forrige lysbilde</a:t>
            </a:r>
            <a:endParaRPr lang="en-US" sz="1700" dirty="0"/>
          </a:p>
          <a:p>
            <a:pPr marL="228600" indent="-228600">
              <a:spcAft>
                <a:spcPts val="800"/>
              </a:spcAft>
              <a:buSzPct val="100000"/>
              <a:buChar char="•"/>
            </a:pPr>
            <a:r>
              <a:rPr lang="en-US" sz="1700" dirty="0">
                <a:solidFill>
                  <a:schemeClr val="tx1"/>
                </a:solidFill>
              </a:rPr>
              <a:t>Vises fra zoomnivå 15</a:t>
            </a:r>
            <a:endParaRPr lang="en-US" sz="1700" dirty="0"/>
          </a:p>
          <a:p>
            <a:pPr marL="228600" indent="-228600">
              <a:spcAft>
                <a:spcPts val="800"/>
              </a:spcAft>
              <a:buSzPct val="100000"/>
              <a:buChar char="•"/>
            </a:pPr>
            <a:r>
              <a:rPr lang="en-US" sz="1700" dirty="0">
                <a:solidFill>
                  <a:schemeClr val="tx1"/>
                </a:solidFill>
              </a:rPr>
              <a:t>Følger kartet og hindrer aldri klikk</a:t>
            </a:r>
            <a:endParaRPr lang="en-US" sz="1700" dirty="0"/>
          </a:p>
          <a:p>
            <a:pPr marL="228600" indent="-228600">
              <a:spcAft>
                <a:spcPts val="800"/>
              </a:spcAft>
              <a:buSzPct val="100000"/>
              <a:buChar char="•"/>
            </a:pPr>
            <a:r>
              <a:rPr lang="en-US" sz="1700" dirty="0">
                <a:solidFill>
                  <a:schemeClr val="tx1"/>
                </a:solidFill>
              </a:rPr>
              <a:t>Enkeltsirkel: høyreklikk</a:t>
            </a:r>
            <a:endParaRPr lang="en-US" sz="1700" dirty="0"/>
          </a:p>
        </p:txBody>
      </p:sp>
      <p:sp>
        <p:nvSpPr>
          <p:cNvPr id="21008" name="Kort Cachesider"/>
          <p:cNvSpPr/>
          <p:nvPr/>
        </p:nvSpPr>
        <p:spPr>
          <a:xfrm>
            <a:off x="4353458" y="1508760"/>
            <a:ext cx="3484778" cy="4206240"/>
          </a:xfrm>
          <a:prstGeom prst="roundRect">
            <a:avLst>
              <a:gd name="adj" fmla="val 3149"/>
            </a:avLst>
          </a:prstGeom>
          <a:solidFill>
            <a:schemeClr val="bg2"/>
          </a:solidFill>
          <a:ln/>
        </p:spPr>
      </p:sp>
      <p:sp>
        <p:nvSpPr>
          <p:cNvPr id="21009" name="Ikon layers sirkel"/>
          <p:cNvSpPr/>
          <p:nvPr/>
        </p:nvSpPr>
        <p:spPr>
          <a:xfrm>
            <a:off x="4719218" y="1920240"/>
            <a:ext cx="822960" cy="822960"/>
          </a:xfrm>
          <a:prstGeom prst="ellipse">
            <a:avLst/>
          </a:prstGeom>
          <a:solidFill>
            <a:schemeClr val="accent1"/>
          </a:solidFill>
          <a:ln/>
        </p:spPr>
      </p:sp>
      <p:pic>
        <p:nvPicPr>
          <p:cNvPr id="21010" name="Ikon layers" descr="layers">    </p:cNvPr>
          <p:cNvPicPr>
            <a:picLocks noChangeAspect="1"/>
          </p:cNvPicPr>
          <p:nvPr/>
        </p:nvPicPr>
        <p:blipFill>
          <a:blip r:embed="rId2"/>
          <a:stretch>
            <a:fillRect/>
          </a:stretch>
        </p:blipFill>
        <p:spPr>
          <a:xfrm>
            <a:off x="4900270" y="2101291"/>
            <a:ext cx="460858" cy="460858"/>
          </a:xfrm>
          <a:prstGeom prst="rect">
            <a:avLst/>
          </a:prstGeom>
        </p:spPr>
      </p:pic>
      <p:sp>
        <p:nvSpPr>
          <p:cNvPr id="21011" name="Text 7"/>
          <p:cNvSpPr txBox="1"/>
          <p:nvPr/>
        </p:nvSpPr>
        <p:spPr>
          <a:xfrm>
            <a:off x="4719218" y="2971800"/>
            <a:ext cx="2753258" cy="502920"/>
          </a:xfrm>
          <a:prstGeom prst="rect">
            <a:avLst/>
          </a:prstGeom>
          <a:noFill/>
          <a:ln/>
        </p:spPr>
        <p:txBody>
          <a:bodyPr wrap="square" lIns="0" tIns="0" rIns="0" bIns="0" rtlCol="0" anchor="ctr"/>
          <a:lstStyle/>
          <a:p>
            <a:pPr indent="0" marL="0">
              <a:buNone/>
            </a:pPr>
            <a:r>
              <a:rPr lang="en-US" sz="2200" b="1" dirty="0">
                <a:solidFill>
                  <a:schemeClr val="tx1"/>
                </a:solidFill>
              </a:rPr>
              <a:t>Cachesider</a:t>
            </a:r>
            <a:endParaRPr lang="en-US" sz="2200" dirty="0"/>
          </a:p>
        </p:txBody>
      </p:sp>
      <p:sp>
        <p:nvSpPr>
          <p:cNvPr id="21012" name="Text 8"/>
          <p:cNvSpPr txBox="1"/>
          <p:nvPr/>
        </p:nvSpPr>
        <p:spPr>
          <a:xfrm>
            <a:off x="4719218" y="3611880"/>
            <a:ext cx="2753258"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Det lille kartet viser ditt valgte kart</a:t>
            </a:r>
            <a:endParaRPr lang="en-US" sz="1700" dirty="0"/>
          </a:p>
          <a:p>
            <a:pPr marL="228600" indent="-228600">
              <a:spcAft>
                <a:spcPts val="800"/>
              </a:spcAft>
              <a:buSzPct val="100000"/>
              <a:buChar char="•"/>
            </a:pPr>
            <a:r>
              <a:rPr lang="en-US" sz="1700" dirty="0">
                <a:solidFill>
                  <a:schemeClr val="tx1"/>
                </a:solidFill>
              </a:rPr>
              <a:t>Samme demping og overlegg</a:t>
            </a:r>
            <a:endParaRPr lang="en-US" sz="1700" dirty="0"/>
          </a:p>
          <a:p>
            <a:pPr marL="228600" indent="-228600">
              <a:spcAft>
                <a:spcPts val="800"/>
              </a:spcAft>
              <a:buSzPct val="100000"/>
              <a:buChar char="•"/>
            </a:pPr>
            <a:r>
              <a:rPr lang="en-US" sz="1700" dirty="0">
                <a:solidFill>
                  <a:schemeClr val="tx1"/>
                </a:solidFill>
              </a:rPr>
              <a:t>Beholder nettstedets utsnitt</a:t>
            </a:r>
            <a:endParaRPr lang="en-US" sz="1700" dirty="0"/>
          </a:p>
          <a:p>
            <a:pPr marL="228600" indent="-228600">
              <a:spcAft>
                <a:spcPts val="800"/>
              </a:spcAft>
              <a:buSzPct val="100000"/>
              <a:buChar char="•"/>
            </a:pPr>
            <a:r>
              <a:rPr lang="en-US" sz="1700" dirty="0">
                <a:solidFill>
                  <a:schemeClr val="tx1"/>
                </a:solidFill>
              </a:rPr>
              <a:t>Endrer aldri valget ditt</a:t>
            </a:r>
            <a:endParaRPr lang="en-US" sz="1700" dirty="0"/>
          </a:p>
        </p:txBody>
      </p:sp>
      <p:sp>
        <p:nvSpPr>
          <p:cNvPr id="21013" name="Kort Hjem"/>
          <p:cNvSpPr/>
          <p:nvPr/>
        </p:nvSpPr>
        <p:spPr>
          <a:xfrm>
            <a:off x="8158277" y="1508760"/>
            <a:ext cx="3484778" cy="4206240"/>
          </a:xfrm>
          <a:prstGeom prst="roundRect">
            <a:avLst>
              <a:gd name="adj" fmla="val 3149"/>
            </a:avLst>
          </a:prstGeom>
          <a:solidFill>
            <a:schemeClr val="bg2"/>
          </a:solidFill>
          <a:ln/>
        </p:spPr>
      </p:sp>
      <p:sp>
        <p:nvSpPr>
          <p:cNvPr id="21014" name="Ikon home sirkel"/>
          <p:cNvSpPr/>
          <p:nvPr/>
        </p:nvSpPr>
        <p:spPr>
          <a:xfrm>
            <a:off x="8524037" y="1920240"/>
            <a:ext cx="822960" cy="822960"/>
          </a:xfrm>
          <a:prstGeom prst="ellipse">
            <a:avLst/>
          </a:prstGeom>
          <a:solidFill>
            <a:schemeClr val="accent1"/>
          </a:solidFill>
          <a:ln/>
        </p:spPr>
      </p:sp>
      <p:pic>
        <p:nvPicPr>
          <p:cNvPr id="21015" name="Ikon home" descr="home">    </p:cNvPr>
          <p:cNvPicPr>
            <a:picLocks noChangeAspect="1"/>
          </p:cNvPicPr>
          <p:nvPr/>
        </p:nvPicPr>
        <p:blipFill>
          <a:blip r:embed="rId3"/>
          <a:stretch>
            <a:fillRect/>
          </a:stretch>
        </p:blipFill>
        <p:spPr>
          <a:xfrm>
            <a:off x="8705088" y="2101291"/>
            <a:ext cx="460858" cy="460858"/>
          </a:xfrm>
          <a:prstGeom prst="rect">
            <a:avLst/>
          </a:prstGeom>
        </p:spPr>
      </p:pic>
      <p:sp>
        <p:nvSpPr>
          <p:cNvPr id="21016" name="Text 11"/>
          <p:cNvSpPr txBox="1"/>
          <p:nvPr/>
        </p:nvSpPr>
        <p:spPr>
          <a:xfrm>
            <a:off x="8524037" y="2971800"/>
            <a:ext cx="2753258" cy="502920"/>
          </a:xfrm>
          <a:prstGeom prst="rect">
            <a:avLst/>
          </a:prstGeom>
          <a:noFill/>
          <a:ln/>
        </p:spPr>
        <p:txBody>
          <a:bodyPr wrap="square" lIns="0" tIns="0" rIns="0" bIns="0" rtlCol="0" anchor="ctr"/>
          <a:lstStyle/>
          <a:p>
            <a:pPr indent="0" marL="0">
              <a:buNone/>
            </a:pPr>
            <a:r>
              <a:rPr lang="en-US" sz="2200" b="1" dirty="0">
                <a:solidFill>
                  <a:schemeClr val="tx1"/>
                </a:solidFill>
              </a:rPr>
              <a:t>Hjem</a:t>
            </a:r>
            <a:endParaRPr lang="en-US" sz="2200" dirty="0"/>
          </a:p>
        </p:txBody>
      </p:sp>
      <p:sp>
        <p:nvSpPr>
          <p:cNvPr id="21017" name="Text 12"/>
          <p:cNvSpPr txBox="1"/>
          <p:nvPr/>
        </p:nvSpPr>
        <p:spPr>
          <a:xfrm>
            <a:off x="8524037" y="3611880"/>
            <a:ext cx="2753258"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Ett klikk tar deg hjem</a:t>
            </a:r>
            <a:endParaRPr lang="en-US" sz="1700" dirty="0"/>
          </a:p>
          <a:p>
            <a:pPr marL="228600" indent="-228600">
              <a:spcAft>
                <a:spcPts val="800"/>
              </a:spcAft>
              <a:buSzPct val="100000"/>
              <a:buChar char="•"/>
            </a:pPr>
            <a:r>
              <a:rPr lang="en-US" sz="1700" dirty="0">
                <a:solidFill>
                  <a:schemeClr val="tx1"/>
                </a:solidFill>
              </a:rPr>
              <a:t>Første gang søker du opp adressen</a:t>
            </a:r>
            <a:endParaRPr lang="en-US" sz="1700" dirty="0"/>
          </a:p>
          <a:p>
            <a:pPr marL="228600" indent="-228600">
              <a:spcAft>
                <a:spcPts val="800"/>
              </a:spcAft>
              <a:buSzPct val="100000"/>
              <a:buChar char="•"/>
            </a:pPr>
            <a:r>
              <a:rPr lang="en-US" sz="1700" dirty="0">
                <a:solidFill>
                  <a:schemeClr val="tx1"/>
                </a:solidFill>
              </a:rPr>
              <a:t>Lagres bare i nettleseren din</a:t>
            </a:r>
            <a:endParaRPr lang="en-US" sz="1700" dirty="0"/>
          </a:p>
        </p:txBody>
      </p:sp>
      <p:sp>
        <p:nvSpPr>
          <p:cNvPr id="21018"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2001" name=""/>
        <p:cNvGrpSpPr/>
        <p:nvPr/>
      </p:nvGrpSpPr>
      <p:grpSpPr>
        <a:xfrm>
          <a:off x="0" y="0"/>
          <a:ext cx="0" cy="0"/>
          <a:chOff x="0" y="0"/>
          <a:chExt cx="0" cy="0"/>
        </a:xfrm>
      </p:grpSpPr>
      <p:sp>
        <p:nvSpPr>
          <p:cNvPr id="22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Slik ligger kartlagene</a:t>
            </a:r>
            <a:endParaRPr lang="en-US" sz="3600" dirty="0"/>
          </a:p>
        </p:txBody>
      </p:sp>
      <p:sp>
        <p:nvSpPr>
          <p:cNvPr id="22003" name="Text 1"/>
          <p:cNvSpPr txBox="1"/>
          <p:nvPr/>
        </p:nvSpPr>
        <p:spPr>
          <a:xfrm>
            <a:off x="548640" y="1207008"/>
            <a:ext cx="11094415"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OVER KARTFLISENE</a:t>
            </a:r>
            <a:endParaRPr lang="en-US" sz="1100" dirty="0"/>
          </a:p>
        </p:txBody>
      </p:sp>
      <p:sp>
        <p:nvSpPr>
          <p:cNvPr id="22004" name="Lag Kontroller"/>
          <p:cNvSpPr/>
          <p:nvPr/>
        </p:nvSpPr>
        <p:spPr>
          <a:xfrm>
            <a:off x="548640" y="1517904"/>
            <a:ext cx="11094415" cy="384048"/>
          </a:xfrm>
          <a:prstGeom prst="roundRect">
            <a:avLst>
              <a:gd name="adj" fmla="val 16667"/>
            </a:avLst>
          </a:prstGeom>
          <a:solidFill>
            <a:schemeClr val="bg2"/>
          </a:solidFill>
          <a:ln/>
        </p:spPr>
      </p:sp>
      <p:sp>
        <p:nvSpPr>
          <p:cNvPr id="22005" name="Text 3"/>
          <p:cNvSpPr txBox="1"/>
          <p:nvPr/>
        </p:nvSpPr>
        <p:spPr>
          <a:xfrm>
            <a:off x="749808" y="1517904"/>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Kontroller</a:t>
            </a:r>
            <a:endParaRPr lang="en-US" sz="1400" dirty="0"/>
          </a:p>
        </p:txBody>
      </p:sp>
      <p:sp>
        <p:nvSpPr>
          <p:cNvPr id="22006" name="Text 4"/>
          <p:cNvSpPr txBox="1"/>
          <p:nvPr/>
        </p:nvSpPr>
        <p:spPr>
          <a:xfrm>
            <a:off x="3264408" y="1517904"/>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kontroller · 1000</a:t>
            </a:r>
            <a:endParaRPr lang="en-US" sz="1200" dirty="0"/>
          </a:p>
        </p:txBody>
      </p:sp>
      <p:sp>
        <p:nvSpPr>
          <p:cNvPr id="22007" name="Text 5"/>
          <p:cNvSpPr txBox="1"/>
          <p:nvPr/>
        </p:nvSpPr>
        <p:spPr>
          <a:xfrm>
            <a:off x="5138928" y="1517904"/>
            <a:ext cx="6302959" cy="384048"/>
          </a:xfrm>
          <a:prstGeom prst="rect">
            <a:avLst/>
          </a:prstGeom>
          <a:noFill/>
          <a:ln/>
        </p:spPr>
        <p:txBody>
          <a:bodyPr wrap="square" lIns="0" tIns="0" rIns="0" bIns="0" rtlCol="0" anchor="ctr"/>
          <a:lstStyle/>
          <a:p>
            <a:pPr indent="0" marL="0">
              <a:buNone/>
            </a:pPr>
            <a:r>
              <a:rPr lang="en-US" sz="1300" dirty="0">
                <a:solidFill>
                  <a:schemeClr val="tx1"/>
                </a:solidFill>
              </a:rPr>
              <a:t>verktøylinjen, kartlagpanelet, koordinatvisningen og kreditteringen</a:t>
            </a:r>
            <a:endParaRPr lang="en-US" sz="1300" dirty="0"/>
          </a:p>
        </p:txBody>
      </p:sp>
      <p:sp>
        <p:nvSpPr>
          <p:cNvPr id="22008" name="Lag Bobler"/>
          <p:cNvSpPr/>
          <p:nvPr/>
        </p:nvSpPr>
        <p:spPr>
          <a:xfrm>
            <a:off x="548640" y="1947672"/>
            <a:ext cx="11094415" cy="384048"/>
          </a:xfrm>
          <a:prstGeom prst="roundRect">
            <a:avLst>
              <a:gd name="adj" fmla="val 16667"/>
            </a:avLst>
          </a:prstGeom>
          <a:solidFill>
            <a:schemeClr val="bg2"/>
          </a:solidFill>
          <a:ln/>
        </p:spPr>
      </p:sp>
      <p:sp>
        <p:nvSpPr>
          <p:cNvPr id="22009" name="Text 7"/>
          <p:cNvSpPr txBox="1"/>
          <p:nvPr/>
        </p:nvSpPr>
        <p:spPr>
          <a:xfrm>
            <a:off x="749808" y="1947672"/>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Bobler</a:t>
            </a:r>
            <a:endParaRPr lang="en-US" sz="1400" dirty="0"/>
          </a:p>
        </p:txBody>
      </p:sp>
      <p:sp>
        <p:nvSpPr>
          <p:cNvPr id="22010" name="Text 8"/>
          <p:cNvSpPr txBox="1"/>
          <p:nvPr/>
        </p:nvSpPr>
        <p:spPr>
          <a:xfrm>
            <a:off x="3264408" y="1947672"/>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popupPane · 700</a:t>
            </a:r>
            <a:endParaRPr lang="en-US" sz="1200" dirty="0"/>
          </a:p>
        </p:txBody>
      </p:sp>
      <p:sp>
        <p:nvSpPr>
          <p:cNvPr id="22011" name="Text 9"/>
          <p:cNvSpPr txBox="1"/>
          <p:nvPr/>
        </p:nvSpPr>
        <p:spPr>
          <a:xfrm>
            <a:off x="5138928" y="1947672"/>
            <a:ext cx="6302959" cy="384048"/>
          </a:xfrm>
          <a:prstGeom prst="rect">
            <a:avLst/>
          </a:prstGeom>
          <a:noFill/>
          <a:ln/>
        </p:spPr>
        <p:txBody>
          <a:bodyPr wrap="square" lIns="0" tIns="0" rIns="0" bIns="0" rtlCol="0" anchor="ctr"/>
          <a:lstStyle/>
          <a:p>
            <a:pPr indent="0" marL="0">
              <a:buNone/>
            </a:pPr>
            <a:r>
              <a:rPr lang="en-US" sz="1300" dirty="0">
                <a:solidFill>
                  <a:schemeClr val="tx1"/>
                </a:solidFill>
              </a:rPr>
              <a:t>høyreklikkboblen og andre kartbobler</a:t>
            </a:r>
            <a:endParaRPr lang="en-US" sz="1300" dirty="0"/>
          </a:p>
        </p:txBody>
      </p:sp>
      <p:sp>
        <p:nvSpPr>
          <p:cNvPr id="22012" name="Lag Markører"/>
          <p:cNvSpPr/>
          <p:nvPr/>
        </p:nvSpPr>
        <p:spPr>
          <a:xfrm>
            <a:off x="548640" y="2377440"/>
            <a:ext cx="11094415" cy="384048"/>
          </a:xfrm>
          <a:prstGeom prst="roundRect">
            <a:avLst>
              <a:gd name="adj" fmla="val 16667"/>
            </a:avLst>
          </a:prstGeom>
          <a:solidFill>
            <a:schemeClr val="bg2"/>
          </a:solidFill>
          <a:ln/>
        </p:spPr>
      </p:sp>
      <p:sp>
        <p:nvSpPr>
          <p:cNvPr id="22013" name="Text 11"/>
          <p:cNvSpPr txBox="1"/>
          <p:nvPr/>
        </p:nvSpPr>
        <p:spPr>
          <a:xfrm>
            <a:off x="749808" y="2377440"/>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Markører</a:t>
            </a:r>
            <a:endParaRPr lang="en-US" sz="1400" dirty="0"/>
          </a:p>
        </p:txBody>
      </p:sp>
      <p:sp>
        <p:nvSpPr>
          <p:cNvPr id="22014" name="Text 12"/>
          <p:cNvSpPr txBox="1"/>
          <p:nvPr/>
        </p:nvSpPr>
        <p:spPr>
          <a:xfrm>
            <a:off x="3264408" y="2377440"/>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markerPane · 600</a:t>
            </a:r>
            <a:endParaRPr lang="en-US" sz="1200" dirty="0"/>
          </a:p>
        </p:txBody>
      </p:sp>
      <p:sp>
        <p:nvSpPr>
          <p:cNvPr id="22015" name="Text 13"/>
          <p:cNvSpPr txBox="1"/>
          <p:nvPr/>
        </p:nvSpPr>
        <p:spPr>
          <a:xfrm>
            <a:off x="5138928" y="2377440"/>
            <a:ext cx="6302959" cy="384048"/>
          </a:xfrm>
          <a:prstGeom prst="rect">
            <a:avLst/>
          </a:prstGeom>
          <a:noFill/>
          <a:ln/>
        </p:spPr>
        <p:txBody>
          <a:bodyPr wrap="square" lIns="0" tIns="0" rIns="0" bIns="0" rtlCol="0" anchor="ctr"/>
          <a:lstStyle/>
          <a:p>
            <a:pPr indent="0" marL="0">
              <a:buNone/>
            </a:pPr>
            <a:r>
              <a:rPr lang="en-US" sz="1300" dirty="0">
                <a:solidFill>
                  <a:schemeClr val="tx1"/>
                </a:solidFill>
              </a:rPr>
              <a:t>cacheikonene på /play/map, merkenåler, etiketter og posisjonen din</a:t>
            </a:r>
            <a:endParaRPr lang="en-US" sz="1300" dirty="0"/>
          </a:p>
        </p:txBody>
      </p:sp>
      <p:sp>
        <p:nvSpPr>
          <p:cNvPr id="22016" name="Lag Tegninger"/>
          <p:cNvSpPr/>
          <p:nvPr/>
        </p:nvSpPr>
        <p:spPr>
          <a:xfrm>
            <a:off x="548640" y="2807208"/>
            <a:ext cx="11094415" cy="384048"/>
          </a:xfrm>
          <a:prstGeom prst="roundRect">
            <a:avLst>
              <a:gd name="adj" fmla="val 16667"/>
            </a:avLst>
          </a:prstGeom>
          <a:solidFill>
            <a:schemeClr val="bg2"/>
          </a:solidFill>
          <a:ln/>
        </p:spPr>
      </p:sp>
      <p:sp>
        <p:nvSpPr>
          <p:cNvPr id="22017" name="Text 15"/>
          <p:cNvSpPr txBox="1"/>
          <p:nvPr/>
        </p:nvSpPr>
        <p:spPr>
          <a:xfrm>
            <a:off x="749808" y="2807208"/>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Tegninger</a:t>
            </a:r>
            <a:endParaRPr lang="en-US" sz="1400" dirty="0"/>
          </a:p>
        </p:txBody>
      </p:sp>
      <p:sp>
        <p:nvSpPr>
          <p:cNvPr id="22018" name="Text 16"/>
          <p:cNvSpPr txBox="1"/>
          <p:nvPr/>
        </p:nvSpPr>
        <p:spPr>
          <a:xfrm>
            <a:off x="3264408" y="2807208"/>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overlayPane · 400</a:t>
            </a:r>
            <a:endParaRPr lang="en-US" sz="1200" dirty="0"/>
          </a:p>
        </p:txBody>
      </p:sp>
      <p:sp>
        <p:nvSpPr>
          <p:cNvPr id="22019" name="Text 17"/>
          <p:cNvSpPr txBox="1"/>
          <p:nvPr/>
        </p:nvSpPr>
        <p:spPr>
          <a:xfrm>
            <a:off x="5138928" y="2807208"/>
            <a:ext cx="6302959" cy="384048"/>
          </a:xfrm>
          <a:prstGeom prst="rect">
            <a:avLst/>
          </a:prstGeom>
          <a:noFill/>
          <a:ln/>
        </p:spPr>
        <p:txBody>
          <a:bodyPr wrap="square" lIns="0" tIns="0" rIns="0" bIns="0" rtlCol="0" anchor="ctr"/>
          <a:lstStyle/>
          <a:p>
            <a:pPr indent="0" marL="0">
              <a:buNone/>
            </a:pPr>
            <a:r>
              <a:rPr lang="en-US" sz="1300" dirty="0">
                <a:solidFill>
                  <a:schemeClr val="tx1"/>
                </a:solidFill>
              </a:rPr>
              <a:t>161 m-sirkler, målelinjer, projiseringslinjer og nøyaktighetssirkelen</a:t>
            </a:r>
            <a:endParaRPr lang="en-US" sz="1300" dirty="0"/>
          </a:p>
        </p:txBody>
      </p:sp>
      <p:sp>
        <p:nvSpPr>
          <p:cNvPr id="22020" name="Text 18"/>
          <p:cNvSpPr txBox="1"/>
          <p:nvPr/>
        </p:nvSpPr>
        <p:spPr>
          <a:xfrm>
            <a:off x="548640" y="3328416"/>
            <a:ext cx="11094415"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KARTFLISENE (TILEPANE · 200) – SORTERT ETTER Z-INDEKS</a:t>
            </a:r>
            <a:endParaRPr lang="en-US" sz="1100" dirty="0"/>
          </a:p>
        </p:txBody>
      </p:sp>
      <p:sp>
        <p:nvSpPr>
          <p:cNvPr id="22021" name="Lag Nettstedets øvrige fliser"/>
          <p:cNvSpPr/>
          <p:nvPr/>
        </p:nvSpPr>
        <p:spPr>
          <a:xfrm>
            <a:off x="548640" y="3639312"/>
            <a:ext cx="11094415" cy="384048"/>
          </a:xfrm>
          <a:prstGeom prst="roundRect">
            <a:avLst>
              <a:gd name="adj" fmla="val 16667"/>
            </a:avLst>
          </a:prstGeom>
          <a:solidFill>
            <a:schemeClr val="accent2"/>
          </a:solidFill>
          <a:ln/>
        </p:spPr>
      </p:sp>
      <p:sp>
        <p:nvSpPr>
          <p:cNvPr id="22022" name="Text 20"/>
          <p:cNvSpPr txBox="1"/>
          <p:nvPr/>
        </p:nvSpPr>
        <p:spPr>
          <a:xfrm>
            <a:off x="749808" y="3639312"/>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Nettstedets øvrige fliser</a:t>
            </a:r>
            <a:endParaRPr lang="en-US" sz="1400" dirty="0"/>
          </a:p>
        </p:txBody>
      </p:sp>
      <p:sp>
        <p:nvSpPr>
          <p:cNvPr id="22023" name="Text 21"/>
          <p:cNvSpPr txBox="1"/>
          <p:nvPr/>
        </p:nvSpPr>
        <p:spPr>
          <a:xfrm>
            <a:off x="3264408" y="3639312"/>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+ 10</a:t>
            </a:r>
            <a:endParaRPr lang="en-US" sz="1200" dirty="0"/>
          </a:p>
        </p:txBody>
      </p:sp>
      <p:sp>
        <p:nvSpPr>
          <p:cNvPr id="22024" name="Text 22"/>
          <p:cNvSpPr txBox="1"/>
          <p:nvPr/>
        </p:nvSpPr>
        <p:spPr>
          <a:xfrm>
            <a:off x="5138928" y="3639312"/>
            <a:ext cx="6302959" cy="384048"/>
          </a:xfrm>
          <a:prstGeom prst="rect">
            <a:avLst/>
          </a:prstGeom>
          <a:noFill/>
          <a:ln/>
        </p:spPr>
        <p:txBody>
          <a:bodyPr wrap="square" lIns="0" tIns="0" rIns="0" bIns="0" rtlCol="0" anchor="ctr"/>
          <a:lstStyle/>
          <a:p>
            <a:pPr indent="0" marL="0">
              <a:buNone/>
            </a:pPr>
            <a:r>
              <a:rPr lang="en-US" sz="1300" dirty="0">
                <a:solidFill>
                  <a:schemeClr val="bg1"/>
                </a:solidFill>
              </a:rPr>
              <a:t>cacheikonene på /map – løftes alltid over dine lag</a:t>
            </a:r>
            <a:endParaRPr lang="en-US" sz="1300" dirty="0"/>
          </a:p>
        </p:txBody>
      </p:sp>
      <p:sp>
        <p:nvSpPr>
          <p:cNvPr id="22025" name="Lag Forhåndsvisning"/>
          <p:cNvSpPr/>
          <p:nvPr/>
        </p:nvSpPr>
        <p:spPr>
          <a:xfrm>
            <a:off x="548640" y="4069080"/>
            <a:ext cx="11094415" cy="384048"/>
          </a:xfrm>
          <a:prstGeom prst="roundRect">
            <a:avLst>
              <a:gd name="adj" fmla="val 16667"/>
            </a:avLst>
          </a:prstGeom>
          <a:solidFill>
            <a:schemeClr val="accent3"/>
          </a:solidFill>
          <a:ln/>
        </p:spPr>
      </p:sp>
      <p:sp>
        <p:nvSpPr>
          <p:cNvPr id="22026" name="Text 24"/>
          <p:cNvSpPr txBox="1"/>
          <p:nvPr/>
        </p:nvSpPr>
        <p:spPr>
          <a:xfrm>
            <a:off x="749808" y="4069080"/>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Forhåndsvisning</a:t>
            </a:r>
            <a:endParaRPr lang="en-US" sz="1400" dirty="0"/>
          </a:p>
        </p:txBody>
      </p:sp>
      <p:sp>
        <p:nvSpPr>
          <p:cNvPr id="22027" name="Text 25"/>
          <p:cNvSpPr txBox="1"/>
          <p:nvPr/>
        </p:nvSpPr>
        <p:spPr>
          <a:xfrm>
            <a:off x="3264408" y="4069080"/>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+ 3</a:t>
            </a:r>
            <a:endParaRPr lang="en-US" sz="1200" dirty="0"/>
          </a:p>
        </p:txBody>
      </p:sp>
      <p:sp>
        <p:nvSpPr>
          <p:cNvPr id="22028" name="Text 26"/>
          <p:cNvSpPr txBox="1"/>
          <p:nvPr/>
        </p:nvSpPr>
        <p:spPr>
          <a:xfrm>
            <a:off x="5138928" y="4069080"/>
            <a:ext cx="6302959" cy="384048"/>
          </a:xfrm>
          <a:prstGeom prst="rect">
            <a:avLst/>
          </a:prstGeom>
          <a:noFill/>
          <a:ln/>
        </p:spPr>
        <p:txBody>
          <a:bodyPr wrap="square" lIns="0" tIns="0" rIns="0" bIns="0" rtlCol="0" anchor="ctr"/>
          <a:lstStyle/>
          <a:p>
            <a:pPr indent="0" marL="0">
              <a:buNone/>
            </a:pPr>
            <a:r>
              <a:rPr lang="en-US" sz="1300" dirty="0">
                <a:solidFill>
                  <a:schemeClr val="bg1"/>
                </a:solidFill>
              </a:rPr>
              <a:t>laget du prøver i redigeringsdialogen</a:t>
            </a:r>
            <a:endParaRPr lang="en-US" sz="1300" dirty="0"/>
          </a:p>
        </p:txBody>
      </p:sp>
      <p:sp>
        <p:nvSpPr>
          <p:cNvPr id="22029" name="Lag Dine overlegg"/>
          <p:cNvSpPr/>
          <p:nvPr/>
        </p:nvSpPr>
        <p:spPr>
          <a:xfrm>
            <a:off x="548640" y="4498848"/>
            <a:ext cx="11094415" cy="384048"/>
          </a:xfrm>
          <a:prstGeom prst="roundRect">
            <a:avLst>
              <a:gd name="adj" fmla="val 16667"/>
            </a:avLst>
          </a:prstGeom>
          <a:solidFill>
            <a:schemeClr val="accent1"/>
          </a:solidFill>
          <a:ln/>
        </p:spPr>
      </p:sp>
      <p:sp>
        <p:nvSpPr>
          <p:cNvPr id="22030" name="Text 28"/>
          <p:cNvSpPr txBox="1"/>
          <p:nvPr/>
        </p:nvSpPr>
        <p:spPr>
          <a:xfrm>
            <a:off x="749808" y="4498848"/>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Dine overlegg</a:t>
            </a:r>
            <a:endParaRPr lang="en-US" sz="1400" dirty="0"/>
          </a:p>
        </p:txBody>
      </p:sp>
      <p:sp>
        <p:nvSpPr>
          <p:cNvPr id="22031" name="Text 29"/>
          <p:cNvSpPr txBox="1"/>
          <p:nvPr/>
        </p:nvSpPr>
        <p:spPr>
          <a:xfrm>
            <a:off x="3264408" y="4498848"/>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+ 2</a:t>
            </a:r>
            <a:endParaRPr lang="en-US" sz="1200" dirty="0"/>
          </a:p>
        </p:txBody>
      </p:sp>
      <p:sp>
        <p:nvSpPr>
          <p:cNvPr id="22032" name="Text 30"/>
          <p:cNvSpPr txBox="1"/>
          <p:nvPr/>
        </p:nvSpPr>
        <p:spPr>
          <a:xfrm>
            <a:off x="5138928" y="4498848"/>
            <a:ext cx="6302959" cy="384048"/>
          </a:xfrm>
          <a:prstGeom prst="rect">
            <a:avLst/>
          </a:prstGeom>
          <a:noFill/>
          <a:ln/>
        </p:spPr>
        <p:txBody>
          <a:bodyPr wrap="square" lIns="0" tIns="0" rIns="0" bIns="0" rtlCol="0" anchor="ctr"/>
          <a:lstStyle/>
          <a:p>
            <a:pPr indent="0" marL="0">
              <a:buNone/>
            </a:pPr>
            <a:r>
              <a:rPr lang="en-US" sz="1300" dirty="0">
                <a:solidFill>
                  <a:schemeClr val="bg1"/>
                </a:solidFill>
              </a:rPr>
              <a:t>turruter, eiendomsgrenser, terrengskygge – egen glidebryter for synlighet</a:t>
            </a:r>
            <a:endParaRPr lang="en-US" sz="1300" dirty="0"/>
          </a:p>
        </p:txBody>
      </p:sp>
      <p:sp>
        <p:nvSpPr>
          <p:cNvPr id="22033" name="Lag Ditt bakgrunnskart"/>
          <p:cNvSpPr/>
          <p:nvPr/>
        </p:nvSpPr>
        <p:spPr>
          <a:xfrm>
            <a:off x="548640" y="4928616"/>
            <a:ext cx="11094415" cy="384048"/>
          </a:xfrm>
          <a:prstGeom prst="roundRect">
            <a:avLst>
              <a:gd name="adj" fmla="val 16667"/>
            </a:avLst>
          </a:prstGeom>
          <a:solidFill>
            <a:schemeClr val="tx2"/>
          </a:solidFill>
          <a:ln/>
        </p:spPr>
      </p:sp>
      <p:sp>
        <p:nvSpPr>
          <p:cNvPr id="22034" name="Text 32"/>
          <p:cNvSpPr txBox="1"/>
          <p:nvPr/>
        </p:nvSpPr>
        <p:spPr>
          <a:xfrm>
            <a:off x="749808" y="4928616"/>
            <a:ext cx="2240280" cy="384048"/>
          </a:xfrm>
          <a:prstGeom prst="rect">
            <a:avLst/>
          </a:prstGeom>
          <a:noFill/>
          <a:ln/>
        </p:spPr>
        <p:txBody>
          <a:bodyPr wrap="square" lIns="0" tIns="0" rIns="0" bIns="0" rtlCol="0" anchor="ctr"/>
          <a:lstStyle/>
          <a:p>
            <a:pPr indent="0" marL="0">
              <a:buNone/>
            </a:pPr>
            <a:r>
              <a:rPr lang="en-US" sz="1400" b="1" dirty="0">
                <a:solidFill>
                  <a:schemeClr val="bg1"/>
                </a:solidFill>
              </a:rPr>
              <a:t>Ditt bakgrunnskart</a:t>
            </a:r>
            <a:endParaRPr lang="en-US" sz="1400" dirty="0"/>
          </a:p>
        </p:txBody>
      </p:sp>
      <p:sp>
        <p:nvSpPr>
          <p:cNvPr id="22035" name="Text 33"/>
          <p:cNvSpPr txBox="1"/>
          <p:nvPr/>
        </p:nvSpPr>
        <p:spPr>
          <a:xfrm>
            <a:off x="3264408" y="4928616"/>
            <a:ext cx="1783080" cy="384048"/>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z = bz + 1</a:t>
            </a:r>
            <a:endParaRPr lang="en-US" sz="1200" dirty="0"/>
          </a:p>
        </p:txBody>
      </p:sp>
      <p:sp>
        <p:nvSpPr>
          <p:cNvPr id="22036" name="Text 34"/>
          <p:cNvSpPr txBox="1"/>
          <p:nvPr/>
        </p:nvSpPr>
        <p:spPr>
          <a:xfrm>
            <a:off x="5138928" y="4928616"/>
            <a:ext cx="6302959" cy="384048"/>
          </a:xfrm>
          <a:prstGeom prst="rect">
            <a:avLst/>
          </a:prstGeom>
          <a:noFill/>
          <a:ln/>
        </p:spPr>
        <p:txBody>
          <a:bodyPr wrap="square" lIns="0" tIns="0" rIns="0" bIns="0" rtlCol="0" anchor="ctr"/>
          <a:lstStyle/>
          <a:p>
            <a:pPr indent="0" marL="0">
              <a:buNone/>
            </a:pPr>
            <a:r>
              <a:rPr lang="en-US" sz="1300" dirty="0">
                <a:solidFill>
                  <a:schemeClr val="bg1"/>
                </a:solidFill>
              </a:rPr>
              <a:t>helt dekkende – dempes mot hvitt med fargefilter, høyst 50 %</a:t>
            </a:r>
            <a:endParaRPr lang="en-US" sz="1300" dirty="0"/>
          </a:p>
        </p:txBody>
      </p:sp>
      <p:sp>
        <p:nvSpPr>
          <p:cNvPr id="22037" name="Lag geocaching.com-kartet"/>
          <p:cNvSpPr/>
          <p:nvPr/>
        </p:nvSpPr>
        <p:spPr>
          <a:xfrm>
            <a:off x="548640" y="5358384"/>
            <a:ext cx="11094415" cy="384048"/>
          </a:xfrm>
          <a:prstGeom prst="roundRect">
            <a:avLst>
              <a:gd name="adj" fmla="val 16667"/>
            </a:avLst>
          </a:prstGeom>
          <a:solidFill>
            <a:schemeClr val="accent5"/>
          </a:solidFill>
          <a:ln/>
        </p:spPr>
      </p:sp>
      <p:sp>
        <p:nvSpPr>
          <p:cNvPr id="22038" name="Text 36"/>
          <p:cNvSpPr txBox="1"/>
          <p:nvPr/>
        </p:nvSpPr>
        <p:spPr>
          <a:xfrm>
            <a:off x="749808" y="5358384"/>
            <a:ext cx="2240280" cy="384048"/>
          </a:xfrm>
          <a:prstGeom prst="rect">
            <a:avLst/>
          </a:prstGeom>
          <a:noFill/>
          <a:ln/>
        </p:spPr>
        <p:txBody>
          <a:bodyPr wrap="square" lIns="0" tIns="0" rIns="0" bIns="0" rtlCol="0" anchor="ctr"/>
          <a:lstStyle/>
          <a:p>
            <a:pPr indent="0" marL="0">
              <a:buNone/>
            </a:pPr>
            <a:r>
              <a:rPr lang="en-US" sz="1400" b="1" dirty="0">
                <a:solidFill>
                  <a:schemeClr val="tx1"/>
                </a:solidFill>
              </a:rPr>
              <a:t>geocaching.com-kartet</a:t>
            </a:r>
            <a:endParaRPr lang="en-US" sz="1400" dirty="0"/>
          </a:p>
        </p:txBody>
      </p:sp>
      <p:sp>
        <p:nvSpPr>
          <p:cNvPr id="22039" name="Text 37"/>
          <p:cNvSpPr txBox="1"/>
          <p:nvPr/>
        </p:nvSpPr>
        <p:spPr>
          <a:xfrm>
            <a:off x="3264408" y="5358384"/>
            <a:ext cx="1783080" cy="384048"/>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z = bz</a:t>
            </a:r>
            <a:endParaRPr lang="en-US" sz="1200" dirty="0"/>
          </a:p>
        </p:txBody>
      </p:sp>
      <p:sp>
        <p:nvSpPr>
          <p:cNvPr id="22040" name="Text 38"/>
          <p:cNvSpPr txBox="1"/>
          <p:nvPr/>
        </p:nvSpPr>
        <p:spPr>
          <a:xfrm>
            <a:off x="5138928" y="5358384"/>
            <a:ext cx="6302959" cy="384048"/>
          </a:xfrm>
          <a:prstGeom prst="rect">
            <a:avLst/>
          </a:prstGeom>
          <a:noFill/>
          <a:ln/>
        </p:spPr>
        <p:txBody>
          <a:bodyPr wrap="square" lIns="0" tIns="0" rIns="0" bIns="0" rtlCol="0" anchor="ctr"/>
          <a:lstStyle/>
          <a:p>
            <a:pPr indent="0" marL="0">
              <a:buNone/>
            </a:pPr>
            <a:r>
              <a:rPr lang="en-US" sz="1300" dirty="0">
                <a:solidFill>
                  <a:schemeClr val="tx1"/>
                </a:solidFill>
              </a:rPr>
              <a:t>nettstedets bakgrunn – dekkes av ditt kart, dempes når det selv er valgt</a:t>
            </a:r>
            <a:endParaRPr lang="en-US" sz="1300" dirty="0"/>
          </a:p>
        </p:txBody>
      </p:sp>
      <p:sp>
        <p:nvSpPr>
          <p:cNvPr id="22041" name="Text 39"/>
          <p:cNvSpPr txBox="1"/>
          <p:nvPr/>
        </p:nvSpPr>
        <p:spPr>
          <a:xfrm>
            <a:off x="548640" y="5861304"/>
            <a:ext cx="11094415" cy="457200"/>
          </a:xfrm>
          <a:prstGeom prst="rect">
            <a:avLst/>
          </a:prstGeom>
          <a:noFill/>
          <a:ln/>
        </p:spPr>
        <p:txBody>
          <a:bodyPr wrap="square" lIns="0" tIns="0" rIns="0" bIns="0" rtlCol="0" anchor="t"/>
          <a:lstStyle/>
          <a:p>
            <a:pPr indent="0" marL="0">
              <a:buNone/>
            </a:pPr>
            <a:r>
              <a:rPr lang="en-US" sz="1150" dirty="0">
                <a:solidFill>
                  <a:schemeClr val="accent4"/>
                </a:solidFill>
              </a:rPr>
              <a:t>bz = z-indeksen til nettstedets bakgrunn. På /play/map er nettstedets bakgrunn et vektorkart (WebGL). På /map lastes i tillegg et usynlig cacherutenett (UTFGrid) som brukes til 161 m-sirklene og til å feste høyreklikkboblen til cacher.</a:t>
            </a:r>
            <a:endParaRPr lang="en-US" sz="1150" dirty="0"/>
          </a:p>
        </p:txBody>
      </p:sp>
      <p:sp>
        <p:nvSpPr>
          <p:cNvPr id="22042"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3001" name=""/>
        <p:cNvGrpSpPr/>
        <p:nvPr/>
      </p:nvGrpSpPr>
      <p:grpSpPr>
        <a:xfrm>
          <a:off x="0" y="0"/>
          <a:ext cx="0" cy="0"/>
          <a:chOff x="0" y="0"/>
          <a:chExt cx="0" cy="0"/>
        </a:xfrm>
      </p:grpSpPr>
      <p:sp>
        <p:nvSpPr>
          <p:cNvPr id="23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Under panseret</a:t>
            </a:r>
            <a:endParaRPr lang="en-US" sz="3600" dirty="0"/>
          </a:p>
        </p:txBody>
      </p:sp>
      <p:sp>
        <p:nvSpPr>
          <p:cNvPr id="23003" name="Ikon layers sirkel"/>
          <p:cNvSpPr/>
          <p:nvPr/>
        </p:nvSpPr>
        <p:spPr>
          <a:xfrm>
            <a:off x="548640" y="1591056"/>
            <a:ext cx="512064" cy="512064"/>
          </a:xfrm>
          <a:prstGeom prst="ellipse">
            <a:avLst/>
          </a:prstGeom>
          <a:solidFill>
            <a:schemeClr val="accent1"/>
          </a:solidFill>
          <a:ln/>
        </p:spPr>
      </p:sp>
      <p:pic>
        <p:nvPicPr>
          <p:cNvPr id="23004" name="Ikon layers" descr="layers">    </p:cNvPr>
          <p:cNvPicPr>
            <a:picLocks noChangeAspect="1"/>
          </p:cNvPicPr>
          <p:nvPr/>
        </p:nvPicPr>
        <p:blipFill>
          <a:blip r:embed="rId1"/>
          <a:stretch>
            <a:fillRect/>
          </a:stretch>
        </p:blipFill>
        <p:spPr>
          <a:xfrm>
            <a:off x="661294" y="1703710"/>
            <a:ext cx="286756" cy="286756"/>
          </a:xfrm>
          <a:prstGeom prst="rect">
            <a:avLst/>
          </a:prstGeom>
        </p:spPr>
      </p:pic>
      <p:sp>
        <p:nvSpPr>
          <p:cNvPr id="23005" name="Text 2"/>
          <p:cNvSpPr txBox="1"/>
          <p:nvPr/>
        </p:nvSpPr>
        <p:spPr>
          <a:xfrm>
            <a:off x="1261872" y="151790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Fjerner aldri nettstedets lag</a:t>
            </a:r>
            <a:endParaRPr lang="en-US" sz="1700" dirty="0"/>
          </a:p>
          <a:p>
            <a:pPr indent="0" marL="0">
              <a:spcAft>
                <a:spcPts val="200"/>
              </a:spcAft>
              <a:buNone/>
            </a:pPr>
            <a:r>
              <a:rPr lang="en-US" sz="1400" dirty="0">
                <a:solidFill>
                  <a:schemeClr val="accent4"/>
                </a:solidFill>
              </a:rPr>
              <a:t>Skriptet legger sine egne lag inn mellom, sortert etter z-indeks</a:t>
            </a:r>
            <a:endParaRPr lang="en-US" sz="1700" dirty="0"/>
          </a:p>
        </p:txBody>
      </p:sp>
      <p:sp>
        <p:nvSpPr>
          <p:cNvPr id="23006" name="Ikon eraser sirkel"/>
          <p:cNvSpPr/>
          <p:nvPr/>
        </p:nvSpPr>
        <p:spPr>
          <a:xfrm>
            <a:off x="548640" y="2916936"/>
            <a:ext cx="512064" cy="512064"/>
          </a:xfrm>
          <a:prstGeom prst="ellipse">
            <a:avLst/>
          </a:prstGeom>
          <a:solidFill>
            <a:schemeClr val="accent1"/>
          </a:solidFill>
          <a:ln/>
        </p:spPr>
      </p:sp>
      <p:pic>
        <p:nvPicPr>
          <p:cNvPr id="23007" name="Ikon eraser" descr="eraser">    </p:cNvPr>
          <p:cNvPicPr>
            <a:picLocks noChangeAspect="1"/>
          </p:cNvPicPr>
          <p:nvPr/>
        </p:nvPicPr>
        <p:blipFill>
          <a:blip r:embed="rId2"/>
          <a:stretch>
            <a:fillRect/>
          </a:stretch>
        </p:blipFill>
        <p:spPr>
          <a:xfrm>
            <a:off x="661294" y="3029590"/>
            <a:ext cx="286756" cy="286756"/>
          </a:xfrm>
          <a:prstGeom prst="rect">
            <a:avLst/>
          </a:prstGeom>
        </p:spPr>
      </p:pic>
      <p:sp>
        <p:nvSpPr>
          <p:cNvPr id="23008" name="Text 4"/>
          <p:cNvSpPr txBox="1"/>
          <p:nvPr/>
        </p:nvSpPr>
        <p:spPr>
          <a:xfrm>
            <a:off x="1261872" y="284378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Ingen skjøter mellom flisene</a:t>
            </a:r>
            <a:endParaRPr lang="en-US" sz="1700" dirty="0"/>
          </a:p>
          <a:p>
            <a:pPr indent="0" marL="0">
              <a:spcAft>
                <a:spcPts val="200"/>
              </a:spcAft>
              <a:buNone/>
            </a:pPr>
            <a:r>
              <a:rPr lang="en-US" sz="1400" dirty="0">
                <a:solidFill>
                  <a:schemeClr val="accent4"/>
                </a:solidFill>
              </a:rPr>
              <a:t>Flisene tegnes 1 piksel større, også ved 110 og 125 % skjermskalering</a:t>
            </a:r>
            <a:endParaRPr lang="en-US" sz="1700" dirty="0"/>
          </a:p>
        </p:txBody>
      </p:sp>
      <p:sp>
        <p:nvSpPr>
          <p:cNvPr id="23009" name="Ikon ring sirkel"/>
          <p:cNvSpPr/>
          <p:nvPr/>
        </p:nvSpPr>
        <p:spPr>
          <a:xfrm>
            <a:off x="548640" y="4242816"/>
            <a:ext cx="512064" cy="512064"/>
          </a:xfrm>
          <a:prstGeom prst="ellipse">
            <a:avLst/>
          </a:prstGeom>
          <a:solidFill>
            <a:schemeClr val="accent1"/>
          </a:solidFill>
          <a:ln/>
        </p:spPr>
      </p:sp>
      <p:pic>
        <p:nvPicPr>
          <p:cNvPr id="23010" name="Ikon ring" descr="ring">    </p:cNvPr>
          <p:cNvPicPr>
            <a:picLocks noChangeAspect="1"/>
          </p:cNvPicPr>
          <p:nvPr/>
        </p:nvPicPr>
        <p:blipFill>
          <a:blip r:embed="rId3"/>
          <a:stretch>
            <a:fillRect/>
          </a:stretch>
        </p:blipFill>
        <p:spPr>
          <a:xfrm>
            <a:off x="661294" y="4355470"/>
            <a:ext cx="286756" cy="286756"/>
          </a:xfrm>
          <a:prstGeom prst="rect">
            <a:avLst/>
          </a:prstGeom>
        </p:spPr>
      </p:pic>
      <p:sp>
        <p:nvSpPr>
          <p:cNvPr id="23011" name="Text 6"/>
          <p:cNvSpPr txBox="1"/>
          <p:nvPr/>
        </p:nvSpPr>
        <p:spPr>
          <a:xfrm>
            <a:off x="1261872" y="416966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Demping uten gjennomskinn</a:t>
            </a:r>
            <a:endParaRPr lang="en-US" sz="1700" dirty="0"/>
          </a:p>
          <a:p>
            <a:pPr indent="0" marL="0">
              <a:spcAft>
                <a:spcPts val="200"/>
              </a:spcAft>
              <a:buNone/>
            </a:pPr>
            <a:r>
              <a:rPr lang="en-US" sz="1400" dirty="0">
                <a:solidFill>
                  <a:schemeClr val="accent4"/>
                </a:solidFill>
              </a:rPr>
              <a:t>Et fargefilter bleker kartet mot hvitt – nettstedets kart skinner aldri gjennom</a:t>
            </a:r>
            <a:endParaRPr lang="en-US" sz="1700" dirty="0"/>
          </a:p>
        </p:txBody>
      </p:sp>
      <p:sp>
        <p:nvSpPr>
          <p:cNvPr id="23012" name="Ikon locate sirkel"/>
          <p:cNvSpPr/>
          <p:nvPr/>
        </p:nvSpPr>
        <p:spPr>
          <a:xfrm>
            <a:off x="6355080" y="1591056"/>
            <a:ext cx="512064" cy="512064"/>
          </a:xfrm>
          <a:prstGeom prst="ellipse">
            <a:avLst/>
          </a:prstGeom>
          <a:solidFill>
            <a:schemeClr val="accent1"/>
          </a:solidFill>
          <a:ln/>
        </p:spPr>
      </p:sp>
      <p:pic>
        <p:nvPicPr>
          <p:cNvPr id="23013" name="Ikon locate" descr="locate">    </p:cNvPr>
          <p:cNvPicPr>
            <a:picLocks noChangeAspect="1"/>
          </p:cNvPicPr>
          <p:nvPr/>
        </p:nvPicPr>
        <p:blipFill>
          <a:blip r:embed="rId4"/>
          <a:stretch>
            <a:fillRect/>
          </a:stretch>
        </p:blipFill>
        <p:spPr>
          <a:xfrm>
            <a:off x="6467734" y="1703710"/>
            <a:ext cx="286756" cy="286756"/>
          </a:xfrm>
          <a:prstGeom prst="rect">
            <a:avLst/>
          </a:prstGeom>
        </p:spPr>
      </p:pic>
      <p:sp>
        <p:nvSpPr>
          <p:cNvPr id="23014" name="Text 8"/>
          <p:cNvSpPr txBox="1"/>
          <p:nvPr/>
        </p:nvSpPr>
        <p:spPr>
          <a:xfrm>
            <a:off x="7068312" y="151790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Finner kartet selv</a:t>
            </a:r>
            <a:endParaRPr lang="en-US" sz="1700" dirty="0"/>
          </a:p>
          <a:p>
            <a:pPr indent="0" marL="0">
              <a:spcAft>
                <a:spcPts val="200"/>
              </a:spcAft>
              <a:buNone/>
            </a:pPr>
            <a:r>
              <a:rPr lang="en-US" sz="1400" dirty="0">
                <a:solidFill>
                  <a:schemeClr val="accent4"/>
                </a:solidFill>
              </a:rPr>
              <a:t>Fanger opp Leaflet når siden laster, også på /play/map og cachesidene</a:t>
            </a:r>
            <a:endParaRPr lang="en-US" sz="1700" dirty="0"/>
          </a:p>
        </p:txBody>
      </p:sp>
      <p:sp>
        <p:nvSpPr>
          <p:cNvPr id="23015" name="Ikon check sirkel"/>
          <p:cNvSpPr/>
          <p:nvPr/>
        </p:nvSpPr>
        <p:spPr>
          <a:xfrm>
            <a:off x="6355080" y="2916936"/>
            <a:ext cx="512064" cy="512064"/>
          </a:xfrm>
          <a:prstGeom prst="ellipse">
            <a:avLst/>
          </a:prstGeom>
          <a:solidFill>
            <a:schemeClr val="accent1"/>
          </a:solidFill>
          <a:ln/>
        </p:spPr>
      </p:sp>
      <p:pic>
        <p:nvPicPr>
          <p:cNvPr id="23016" name="Ikon check" descr="check">    </p:cNvPr>
          <p:cNvPicPr>
            <a:picLocks noChangeAspect="1"/>
          </p:cNvPicPr>
          <p:nvPr/>
        </p:nvPicPr>
        <p:blipFill>
          <a:blip r:embed="rId5"/>
          <a:stretch>
            <a:fillRect/>
          </a:stretch>
        </p:blipFill>
        <p:spPr>
          <a:xfrm>
            <a:off x="6467734" y="3029590"/>
            <a:ext cx="286756" cy="286756"/>
          </a:xfrm>
          <a:prstGeom prst="rect">
            <a:avLst/>
          </a:prstGeom>
        </p:spPr>
      </p:pic>
      <p:sp>
        <p:nvSpPr>
          <p:cNvPr id="23017" name="Text 10"/>
          <p:cNvSpPr txBox="1"/>
          <p:nvPr/>
        </p:nvSpPr>
        <p:spPr>
          <a:xfrm>
            <a:off x="7068312" y="284378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Rører ikke skjemaet</a:t>
            </a:r>
            <a:endParaRPr lang="en-US" sz="1700" dirty="0"/>
          </a:p>
          <a:p>
            <a:pPr indent="0" marL="0">
              <a:spcAft>
                <a:spcPts val="200"/>
              </a:spcAft>
              <a:buNone/>
            </a:pPr>
            <a:r>
              <a:rPr lang="en-US" sz="1400" dirty="0">
                <a:solidFill>
                  <a:schemeClr val="accent4"/>
                </a:solidFill>
              </a:rPr>
              <a:t>Ingen knapp kan sende inn sidens ASP.NET-skjema, så siden lastes aldri på nytt</a:t>
            </a:r>
            <a:endParaRPr lang="en-US" sz="1700" dirty="0"/>
          </a:p>
        </p:txBody>
      </p:sp>
      <p:sp>
        <p:nvSpPr>
          <p:cNvPr id="23018" name="Ikon search sirkel"/>
          <p:cNvSpPr/>
          <p:nvPr/>
        </p:nvSpPr>
        <p:spPr>
          <a:xfrm>
            <a:off x="6355080" y="4242816"/>
            <a:ext cx="512064" cy="512064"/>
          </a:xfrm>
          <a:prstGeom prst="ellipse">
            <a:avLst/>
          </a:prstGeom>
          <a:solidFill>
            <a:schemeClr val="accent1"/>
          </a:solidFill>
          <a:ln/>
        </p:spPr>
      </p:sp>
      <p:pic>
        <p:nvPicPr>
          <p:cNvPr id="23019" name="Ikon search" descr="search">    </p:cNvPr>
          <p:cNvPicPr>
            <a:picLocks noChangeAspect="1"/>
          </p:cNvPicPr>
          <p:nvPr/>
        </p:nvPicPr>
        <p:blipFill>
          <a:blip r:embed="rId6"/>
          <a:stretch>
            <a:fillRect/>
          </a:stretch>
        </p:blipFill>
        <p:spPr>
          <a:xfrm>
            <a:off x="6467734" y="4355470"/>
            <a:ext cx="286756" cy="286756"/>
          </a:xfrm>
          <a:prstGeom prst="rect">
            <a:avLst/>
          </a:prstGeom>
        </p:spPr>
      </p:pic>
      <p:sp>
        <p:nvSpPr>
          <p:cNvPr id="23020" name="Text 12"/>
          <p:cNvSpPr txBox="1"/>
          <p:nvPr/>
        </p:nvSpPr>
        <p:spPr>
          <a:xfrm>
            <a:off x="7068312" y="4169664"/>
            <a:ext cx="4590288" cy="12801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Feilsøking innebygd</a:t>
            </a:r>
            <a:endParaRPr lang="en-US" sz="1700" dirty="0"/>
          </a:p>
          <a:p>
            <a:pPr indent="0" marL="0">
              <a:spcAft>
                <a:spcPts val="200"/>
              </a:spcAft>
              <a:buNone/>
            </a:pPr>
            <a:r>
              <a:rPr lang="en-US" sz="1400" dirty="0">
                <a:solidFill>
                  <a:schemeClr val="accent4"/>
                </a:solidFill>
              </a:rPr>
              <a:t>gcctReport(), gcctCacheDebug(), gcctStageTest() og gcctSnapTest() i konsollen gir korte rapporter uten personopplysninger</a:t>
            </a:r>
            <a:endParaRPr lang="en-US" sz="1700" dirty="0"/>
          </a:p>
        </p:txBody>
      </p:sp>
      <p:sp>
        <p:nvSpPr>
          <p:cNvPr id="23021"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4001" name=""/>
        <p:cNvGrpSpPr/>
        <p:nvPr/>
      </p:nvGrpSpPr>
      <p:grpSpPr>
        <a:xfrm>
          <a:off x="0" y="0"/>
          <a:ext cx="0" cy="0"/>
          <a:chOff x="0" y="0"/>
          <a:chExt cx="0" cy="0"/>
        </a:xfrm>
      </p:grpSpPr>
      <p:sp>
        <p:nvSpPr>
          <p:cNvPr id="2400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Kom i gang på tre minutter</a:t>
            </a:r>
            <a:endParaRPr lang="en-US" sz="3600" dirty="0"/>
          </a:p>
        </p:txBody>
      </p:sp>
      <p:sp>
        <p:nvSpPr>
          <p:cNvPr id="24003" name="Steg 1"/>
          <p:cNvSpPr/>
          <p:nvPr/>
        </p:nvSpPr>
        <p:spPr>
          <a:xfrm>
            <a:off x="548640" y="1463040"/>
            <a:ext cx="731520" cy="731520"/>
          </a:xfrm>
          <a:prstGeom prst="ellipse">
            <a:avLst/>
          </a:prstGeom>
          <a:solidFill>
            <a:schemeClr val="accent1"/>
          </a:solidFill>
          <a:ln/>
        </p:spPr>
      </p:sp>
      <p:sp>
        <p:nvSpPr>
          <p:cNvPr id="24004" name="Text 2"/>
          <p:cNvSpPr txBox="1"/>
          <p:nvPr/>
        </p:nvSpPr>
        <p:spPr>
          <a:xfrm>
            <a:off x="548640" y="1463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24005" name="Text 3"/>
          <p:cNvSpPr txBox="1"/>
          <p:nvPr/>
        </p:nvSpPr>
        <p:spPr>
          <a:xfrm>
            <a:off x="548640" y="2377440"/>
            <a:ext cx="3301898" cy="14630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Installer en skriptbehandler</a:t>
            </a:r>
            <a:endParaRPr lang="en-US" sz="1900" dirty="0"/>
          </a:p>
          <a:p>
            <a:pPr indent="0" marL="0">
              <a:spcAft>
                <a:spcPts val="400"/>
              </a:spcAft>
              <a:buNone/>
            </a:pPr>
            <a:r>
              <a:rPr lang="en-US" sz="1400" dirty="0">
                <a:solidFill>
                  <a:schemeClr val="accent4"/>
                </a:solidFill>
              </a:rPr>
              <a:t>Tampermonkey eller Violentmonkey i Chrome, Edge, Firefox eller Safari</a:t>
            </a:r>
            <a:endParaRPr lang="en-US" sz="1900" dirty="0"/>
          </a:p>
        </p:txBody>
      </p:sp>
      <p:sp>
        <p:nvSpPr>
          <p:cNvPr id="24006" name="Steg 2"/>
          <p:cNvSpPr/>
          <p:nvPr/>
        </p:nvSpPr>
        <p:spPr>
          <a:xfrm>
            <a:off x="4353458" y="1463040"/>
            <a:ext cx="731520" cy="731520"/>
          </a:xfrm>
          <a:prstGeom prst="ellipse">
            <a:avLst/>
          </a:prstGeom>
          <a:solidFill>
            <a:schemeClr val="accent1"/>
          </a:solidFill>
          <a:ln/>
        </p:spPr>
      </p:sp>
      <p:sp>
        <p:nvSpPr>
          <p:cNvPr id="24007" name="Text 5"/>
          <p:cNvSpPr txBox="1"/>
          <p:nvPr/>
        </p:nvSpPr>
        <p:spPr>
          <a:xfrm>
            <a:off x="4353458" y="1463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24008" name="Text 6"/>
          <p:cNvSpPr txBox="1"/>
          <p:nvPr/>
        </p:nvSpPr>
        <p:spPr>
          <a:xfrm>
            <a:off x="4353458" y="2377440"/>
            <a:ext cx="3301898" cy="14630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Legg til skriptet</a:t>
            </a:r>
            <a:endParaRPr lang="en-US" sz="1900" dirty="0"/>
          </a:p>
          <a:p>
            <a:pPr indent="0" marL="0">
              <a:spcAft>
                <a:spcPts val="400"/>
              </a:spcAft>
              <a:buNone/>
            </a:pPr>
            <a:r>
              <a:rPr lang="en-US" sz="1400" dirty="0">
                <a:solidFill>
                  <a:schemeClr val="accent4"/>
                </a:solidFill>
              </a:rPr>
              <a:t>Åpne geocaching-custom-tiles.user.js og lagre det i behandleren</a:t>
            </a:r>
            <a:endParaRPr lang="en-US" sz="1900" dirty="0"/>
          </a:p>
        </p:txBody>
      </p:sp>
      <p:sp>
        <p:nvSpPr>
          <p:cNvPr id="24009" name="Steg 3"/>
          <p:cNvSpPr/>
          <p:nvPr/>
        </p:nvSpPr>
        <p:spPr>
          <a:xfrm>
            <a:off x="8158277" y="1463040"/>
            <a:ext cx="731520" cy="731520"/>
          </a:xfrm>
          <a:prstGeom prst="ellipse">
            <a:avLst/>
          </a:prstGeom>
          <a:solidFill>
            <a:schemeClr val="accent1"/>
          </a:solidFill>
          <a:ln/>
        </p:spPr>
      </p:sp>
      <p:sp>
        <p:nvSpPr>
          <p:cNvPr id="24010" name="Text 8"/>
          <p:cNvSpPr txBox="1"/>
          <p:nvPr/>
        </p:nvSpPr>
        <p:spPr>
          <a:xfrm>
            <a:off x="8158277" y="14630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24011" name="Text 9"/>
          <p:cNvSpPr txBox="1"/>
          <p:nvPr/>
        </p:nvSpPr>
        <p:spPr>
          <a:xfrm>
            <a:off x="8158277" y="2377440"/>
            <a:ext cx="3301898" cy="14630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Åpne et kart</a:t>
            </a:r>
            <a:endParaRPr lang="en-US" sz="1900" dirty="0"/>
          </a:p>
          <a:p>
            <a:pPr indent="0" marL="0">
              <a:spcAft>
                <a:spcPts val="400"/>
              </a:spcAft>
              <a:buNone/>
            </a:pPr>
            <a:r>
              <a:rPr lang="en-US" sz="1400" dirty="0">
                <a:solidFill>
                  <a:schemeClr val="accent4"/>
                </a:solidFill>
              </a:rPr>
              <a:t>geocaching.com/map eller /play/map – verktøylinjen dukker opp til høyre</a:t>
            </a:r>
            <a:endParaRPr lang="en-US" sz="1900" dirty="0"/>
          </a:p>
        </p:txBody>
      </p:sp>
      <p:sp>
        <p:nvSpPr>
          <p:cNvPr id="24012" name="Personvern"/>
          <p:cNvSpPr/>
          <p:nvPr/>
        </p:nvSpPr>
        <p:spPr>
          <a:xfrm>
            <a:off x="548640" y="3977640"/>
            <a:ext cx="11094415" cy="1783080"/>
          </a:xfrm>
          <a:prstGeom prst="roundRect">
            <a:avLst>
              <a:gd name="adj" fmla="val 6154"/>
            </a:avLst>
          </a:prstGeom>
          <a:solidFill>
            <a:schemeClr val="bg2"/>
          </a:solidFill>
          <a:ln/>
        </p:spPr>
      </p:sp>
      <p:sp>
        <p:nvSpPr>
          <p:cNvPr id="24013" name="Ikon check sirkel"/>
          <p:cNvSpPr/>
          <p:nvPr/>
        </p:nvSpPr>
        <p:spPr>
          <a:xfrm>
            <a:off x="868680" y="4251960"/>
            <a:ext cx="640080" cy="640080"/>
          </a:xfrm>
          <a:prstGeom prst="ellipse">
            <a:avLst/>
          </a:prstGeom>
          <a:solidFill>
            <a:schemeClr val="accent1"/>
          </a:solidFill>
          <a:ln/>
        </p:spPr>
      </p:sp>
      <p:pic>
        <p:nvPicPr>
          <p:cNvPr id="24014" name="Ikon check" descr="check">    </p:cNvPr>
          <p:cNvPicPr>
            <a:picLocks noChangeAspect="1"/>
          </p:cNvPicPr>
          <p:nvPr/>
        </p:nvPicPr>
        <p:blipFill>
          <a:blip r:embed="rId1"/>
          <a:stretch>
            <a:fillRect/>
          </a:stretch>
        </p:blipFill>
        <p:spPr>
          <a:xfrm>
            <a:off x="1009498" y="4392778"/>
            <a:ext cx="358445" cy="358445"/>
          </a:xfrm>
          <a:prstGeom prst="rect">
            <a:avLst/>
          </a:prstGeom>
        </p:spPr>
      </p:pic>
      <p:sp>
        <p:nvSpPr>
          <p:cNvPr id="24015" name="Text 12"/>
          <p:cNvSpPr txBox="1"/>
          <p:nvPr/>
        </p:nvSpPr>
        <p:spPr>
          <a:xfrm>
            <a:off x="1737360" y="4206240"/>
            <a:ext cx="9585655" cy="141732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Personvern</a:t>
            </a:r>
            <a:endParaRPr lang="en-US" sz="1900" dirty="0"/>
          </a:p>
          <a:p>
            <a:pPr indent="0" marL="0">
              <a:spcAft>
                <a:spcPts val="400"/>
              </a:spcAft>
              <a:buNone/>
            </a:pPr>
            <a:r>
              <a:rPr lang="en-US" sz="1500" dirty="0">
                <a:solidFill>
                  <a:schemeClr val="tx1"/>
                </a:solidFill>
              </a:rPr>
              <a:t>Skriptet samler ikke inn eller sender personopplysninger og har ingen egen server. Det kontakter bare kartserverne du slår på, Kartverket og Photon når du søker, og geocaching.coms eget cachesøk og cachesider når 161 m-sirklene er på. Posisjonen din hentes bare når du ber om den. Alle innstillinger lagres i nettleseren.</a:t>
            </a:r>
            <a:endParaRPr lang="en-US" sz="1900" dirty="0"/>
          </a:p>
        </p:txBody>
      </p:sp>
      <p:sp>
        <p:nvSpPr>
          <p:cNvPr id="24016"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5001" name=""/>
        <p:cNvGrpSpPr/>
        <p:nvPr/>
      </p:nvGrpSpPr>
      <p:grpSpPr>
        <a:xfrm>
          <a:off x="0" y="0"/>
          <a:ext cx="0" cy="0"/>
          <a:chOff x="0" y="0"/>
          <a:chExt cx="0" cy="0"/>
        </a:xfrm>
      </p:grpSpPr>
      <p:sp>
        <p:nvSpPr>
          <p:cNvPr id="25002" name="Text 0"/>
          <p:cNvSpPr/>
          <p:nvPr>
            <p:ph idx="100" type="title" hasCustomPrompt="1"/>
          </p:nvPr>
        </p:nvSpPr>
        <p:spPr>
          <a:xfrm>
            <a:off x="548640" y="182880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Bedre kart for</a:t>
            </a:r>
            <a:endParaRPr lang="en-US" sz="4400" dirty="0"/>
          </a:p>
          <a:p>
            <a:pPr algn="l" indent="0" marL="0">
              <a:buNone/>
            </a:pPr>
            <a:r>
              <a:rPr lang="en-US" sz="4400" b="1" dirty="0">
                <a:solidFill>
                  <a:schemeClr val="bg1"/>
                </a:solidFill>
              </a:rPr>
              <a:t>bedre turer</a:t>
            </a:r>
            <a:endParaRPr lang="en-US" sz="4400" dirty="0"/>
          </a:p>
        </p:txBody>
      </p:sp>
      <p:sp>
        <p:nvSpPr>
          <p:cNvPr id="25003" name="Text 0"/>
          <p:cNvSpPr/>
          <p:nvPr>
            <p:ph idx="101" type="body" hasCustomPrompt="1"/>
          </p:nvPr>
        </p:nvSpPr>
        <p:spPr>
          <a:xfrm>
            <a:off x="548640" y="3703320"/>
            <a:ext cx="5852160" cy="1188720"/>
          </a:xfrm>
          <a:prstGeom prst="rect">
            <a:avLst/>
          </a:prstGeom>
          <a:noFill/>
          <a:ln/>
        </p:spPr>
        <p:txBody>
          <a:bodyPr wrap="square" lIns="0" tIns="0" rIns="0" bIns="0" rtlCol="0" anchor="t"/>
          <a:lstStyle/>
          <a:p>
            <a:pPr algn="l" indent="0" marL="0">
              <a:buNone/>
            </a:pPr>
            <a:r>
              <a:rPr lang="en-US" sz="1800" dirty="0">
                <a:solidFill>
                  <a:schemeClr val="accent5"/>
                </a:solidFill>
              </a:rPr>
              <a:t>Brukerveiledning på norsk og engelsk følger med. Bruk gcctReport() i nettleserkonsollen hvis noe ikke virker.</a:t>
            </a:r>
            <a:endParaRPr lang="en-US" sz="1800" dirty="0"/>
          </a:p>
        </p:txBody>
      </p:sp>
      <p:pic>
        <p:nvPicPr>
          <p:cNvPr id="25004" name="Høyreklikkboblen" descr="Høyreklikkboblen">    </p:cNvPr>
          <p:cNvPicPr>
            <a:picLocks noChangeAspect="1"/>
          </p:cNvPicPr>
          <p:nvPr/>
        </p:nvPicPr>
        <p:blipFill>
          <a:blip r:embed="rId1"/>
          <a:stretch>
            <a:fillRect/>
          </a:stretch>
        </p:blipFill>
        <p:spPr>
          <a:xfrm>
            <a:off x="6705295" y="1371600"/>
            <a:ext cx="4754880" cy="2300748"/>
          </a:xfrm>
          <a:prstGeom prst="rect">
            <a:avLst/>
          </a:prstGeom>
          <a:effectLst>
            <a:outerShdw sx="100000" sy="100000" kx="0" ky="0" algn="bl" rotWithShape="0" blurRad="127000" dist="38100" dir="5400000">
              <a:srgbClr val="000000">
                <a:alpha val="18000"/>
              </a:srgbClr>
            </a:outerShdw>
          </a:effectLst>
        </p:spPr>
      </p:pic>
      <p:pic>
        <p:nvPicPr>
          <p:cNvPr id="25005" name="Bekreftelsesdialog" descr="Bekreftelsesdialog">    </p:cNvPr>
          <p:cNvPicPr>
            <a:picLocks noChangeAspect="1"/>
          </p:cNvPicPr>
          <p:nvPr/>
        </p:nvPicPr>
        <p:blipFill>
          <a:blip r:embed="rId2"/>
          <a:stretch>
            <a:fillRect/>
          </a:stretch>
        </p:blipFill>
        <p:spPr>
          <a:xfrm>
            <a:off x="6796735" y="4083828"/>
            <a:ext cx="4023360" cy="1973362"/>
          </a:xfrm>
          <a:prstGeom prst="rect">
            <a:avLst/>
          </a:prstGeom>
          <a:effectLst>
            <a:outerShdw sx="100000" sy="100000" kx="0" ky="0" algn="bl" rotWithShape="0" blurRad="127000" dist="38100" dir="5400000">
              <a:srgbClr val="000000">
                <a:alpha val="18000"/>
              </a:srgbClr>
            </a:outerShdw>
          </a:effectLst>
        </p:spPr>
      </p:pic>
    </p:spTree>
  </p:cSld>
  <p:clrMapOvr>
    <a:masterClrMapping/>
  </p:clrMapOvr>
</p:sld>
</file>

<file path=ppt/theme/theme1.xml><?xml version="1.0" encoding="utf-8"?>
<a:theme xmlns:a="http://schemas.openxmlformats.org/drawingml/2006/main" name="Geocaching Kartlag">
  <a:themeElements>
    <a:clrScheme name="Geocaching Kartlag">
      <a:dk1>
        <a:srgbClr val="1B2A24"/>
      </a:dk1>
      <a:lt1>
        <a:srgbClr val="FFFFFF"/>
      </a:lt1>
      <a:dk2>
        <a:srgbClr val="163A2B"/>
      </a:dk2>
      <a:lt2>
        <a:srgbClr val="EEF3EF"/>
      </a:lt2>
      <a:accent1>
        <a:srgbClr val="1F7A34"/>
      </a:accent1>
      <a:accent2>
        <a:srgbClr val="E6007E"/>
      </a:accent2>
      <a:accent3>
        <a:srgbClr val="0969DA"/>
      </a:accent3>
      <a:accent4>
        <a:srgbClr val="6B7F75"/>
      </a:accent4>
      <a:accent5>
        <a:srgbClr val="BFD8C4"/>
      </a:accent5>
      <a:accent6>
        <a:srgbClr val="F2B705"/>
      </a:accent6>
      <a:hlink>
        <a:srgbClr val="0969DA"/>
      </a:hlink>
      <a:folHlink>
        <a:srgbClr val="6639BA"/>
      </a:folHlink>
    </a:clrScheme>
    <a:fontScheme name="Geocaching Kartla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Geocaching Map – Custom Tile Layers</dc:title>
  <dc:subject>PptxGenJS Presentation</dc:subject>
  <dc:creator>Knut Olav Sunde</dc:creator>
  <cp:lastModifiedBy>Knut Olav Sunde</cp:lastModifiedBy>
  <cp:revision>1</cp:revision>
  <dcterms:created xsi:type="dcterms:W3CDTF">2026-10-25T09:00:14Z</dcterms:created>
  <dcterms:modified xsi:type="dcterms:W3CDTF">2026-10-25T09:00:14Z</dcterms:modified>
</cp:coreProperties>
</file>