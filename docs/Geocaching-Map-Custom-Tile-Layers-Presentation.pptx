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561172a-468c-7212-99c3-6881f0083193}">
          <p14:sldIdLst>
            <p14:sldId id="256"/>
            <p14:sldId id="257"/>
          </p14:sldIdLst>
        </p14:section>
        <p14:section name="Features" id="{f2197339-5de3-8757-f0d0-4db0fa8b1716}">
          <p14:sldIdLst>
            <p14:sldId id="258"/>
            <p14:sldId id="259"/>
            <p14:sldId id="260"/>
            <p14:sldId id="261"/>
            <p14:sldId id="262"/>
            <p14:sldId id="263"/>
            <p14:sldId id="264"/>
            <p14:sldId id="265"/>
            <p14:sldId id="266"/>
            <p14:sldId id="267"/>
            <p14:sldId id="268"/>
          </p14:sldIdLst>
        </p14:section>
        <p14:section name="Technical" id="{64251560-4595-3f2b-753b-d02ed6798843}">
          <p14:sldIdLst>
            <p14:sldId id="269"/>
            <p14:sldId id="270"/>
            <p14:sldId id="271"/>
          </p14:sldIdLst>
        </p14:section>
        <p14:section name="Wrap-up" id="{49e29b36-4702-9f93-a9c0-31f195bdba8c}">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501001" name=""/>
        <p:cNvGrpSpPr/>
        <p:nvPr/>
      </p:nvGrpSpPr>
      <p:grpSpPr>
        <a:xfrm>
          <a:off x="0" y="0"/>
          <a:ext cx="0" cy="0"/>
          <a:chOff x="0" y="0"/>
          <a:chExt cx="0" cy="0"/>
        </a:xfrm>
      </p:grpSpPr>
      <p:sp>
        <p:nvSpPr>
          <p:cNvPr id="50100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50100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50100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0100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0100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0100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401001" name=""/>
        <p:cNvGrpSpPr/>
        <p:nvPr/>
      </p:nvGrpSpPr>
      <p:grpSpPr>
        <a:xfrm>
          <a:off x="0" y="0"/>
          <a:ext cx="0" cy="0"/>
          <a:chOff x="0" y="0"/>
          <a:chExt cx="0" cy="0"/>
        </a:xfrm>
      </p:grpSpPr>
      <p:sp>
        <p:nvSpPr>
          <p:cNvPr id="401002" name="Slide Image Placeholder 1"/>
          <p:cNvSpPr>
            <a:spLocks noGrp="1" noRot="1" noChangeAspect="1"/>
          </p:cNvSpPr>
          <p:nvPr>
            <p:ph type="sldImg"/>
          </p:nvPr>
        </p:nvSpPr>
        <p:spPr/>
      </p:sp>
      <p:sp>
        <p:nvSpPr>
          <p:cNvPr id="401003" name="Notes Placeholder 2"/>
          <p:cNvSpPr>
            <a:spLocks noGrp="1"/>
          </p:cNvSpPr>
          <p:nvPr>
            <p:ph type="body" idx="1"/>
          </p:nvPr>
        </p:nvSpPr>
        <p:spPr/>
        <p:txBody>
          <a:bodyPr/>
          <a:lstStyle/>
          <a:p>
            <a:r>
              <a:rPr lang="en-US" dirty="0"/>
              <a:t>This userscript turns the geocaching.com maps into a flexible map workbench: your own background maps and overlays, place search, coordinates, measuring, projecting and 161 m circles – gathered in one toolbar.</a:t>
            </a:r>
            <a:endParaRPr lang="en-US" dirty="0"/>
          </a:p>
        </p:txBody>
      </p:sp>
      <p:sp>
        <p:nvSpPr>
          <p:cNvPr id="40100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402001" name=""/>
        <p:cNvGrpSpPr/>
        <p:nvPr/>
      </p:nvGrpSpPr>
      <p:grpSpPr>
        <a:xfrm>
          <a:off x="0" y="0"/>
          <a:ext cx="0" cy="0"/>
          <a:chOff x="0" y="0"/>
          <a:chExt cx="0" cy="0"/>
        </a:xfrm>
      </p:grpSpPr>
      <p:sp>
        <p:nvSpPr>
          <p:cNvPr id="402002" name="Slide Image Placeholder 1"/>
          <p:cNvSpPr>
            <a:spLocks noGrp="1" noRot="1" noChangeAspect="1"/>
          </p:cNvSpPr>
          <p:nvPr>
            <p:ph type="sldImg"/>
          </p:nvPr>
        </p:nvSpPr>
        <p:spPr/>
      </p:sp>
      <p:sp>
        <p:nvSpPr>
          <p:cNvPr id="402003" name="Notes Placeholder 2"/>
          <p:cNvSpPr>
            <a:spLocks noGrp="1"/>
          </p:cNvSpPr>
          <p:nvPr>
            <p:ph type="body" idx="1"/>
          </p:nvPr>
        </p:nvSpPr>
        <p:spPr/>
        <p:txBody>
          <a:bodyPr/>
          <a:lstStyle/>
          <a:p>
            <a:r>
              <a:rPr lang="en-US" dirty="0"/>
              <a:t>Six main areas. The site's own zoom, location and map buttons are folded into the same toolbar, so there are no duplicate buttons.</a:t>
            </a:r>
            <a:endParaRPr lang="en-US" dirty="0"/>
          </a:p>
        </p:txBody>
      </p:sp>
      <p:sp>
        <p:nvSpPr>
          <p:cNvPr id="40200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403001" name=""/>
        <p:cNvGrpSpPr/>
        <p:nvPr/>
      </p:nvGrpSpPr>
      <p:grpSpPr>
        <a:xfrm>
          <a:off x="0" y="0"/>
          <a:ext cx="0" cy="0"/>
          <a:chOff x="0" y="0"/>
          <a:chExt cx="0" cy="0"/>
        </a:xfrm>
      </p:grpSpPr>
      <p:sp>
        <p:nvSpPr>
          <p:cNvPr id="403002" name="Slide Image Placeholder 1"/>
          <p:cNvSpPr>
            <a:spLocks noGrp="1" noRot="1" noChangeAspect="1"/>
          </p:cNvSpPr>
          <p:nvPr>
            <p:ph type="sldImg"/>
          </p:nvPr>
        </p:nvSpPr>
        <p:spPr/>
      </p:sp>
      <p:sp>
        <p:nvSpPr>
          <p:cNvPr id="403003" name="Notes Placeholder 2"/>
          <p:cNvSpPr>
            <a:spLocks noGrp="1"/>
          </p:cNvSpPr>
          <p:nvPr>
            <p:ph type="body" idx="1"/>
          </p:nvPr>
        </p:nvSpPr>
        <p:spPr/>
        <p:txBody>
          <a:bodyPr/>
          <a:lstStyle/>
          <a:p>
            <a:r>
              <a:rPr lang="en-US" dirty="0"/>
              <a:t>The toolbar can sit on the right (default), left, top or bottom, in one or two rows. Choose in Settings, or drag it by its handle to another edge. It keeps clear of the site's search panel and moves below buttons such as “Create Route” when needed. The layer panel and the dialogs open beside the toolbar, and the site's own zoom buttons are always hidden.</a:t>
            </a:r>
            <a:endParaRPr lang="en-US" dirty="0"/>
          </a:p>
        </p:txBody>
      </p:sp>
      <p:sp>
        <p:nvSpPr>
          <p:cNvPr id="40300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404001" name=""/>
        <p:cNvGrpSpPr/>
        <p:nvPr/>
      </p:nvGrpSpPr>
      <p:grpSpPr>
        <a:xfrm>
          <a:off x="0" y="0"/>
          <a:ext cx="0" cy="0"/>
          <a:chOff x="0" y="0"/>
          <a:chExt cx="0" cy="0"/>
        </a:xfrm>
      </p:grpSpPr>
      <p:sp>
        <p:nvSpPr>
          <p:cNvPr id="404002" name="Slide Image Placeholder 1"/>
          <p:cNvSpPr>
            <a:spLocks noGrp="1" noRot="1" noChangeAspect="1"/>
          </p:cNvSpPr>
          <p:nvPr>
            <p:ph type="sldImg"/>
          </p:nvPr>
        </p:nvSpPr>
        <p:spPr/>
      </p:sp>
      <p:sp>
        <p:nvSpPr>
          <p:cNvPr id="404003" name="Notes Placeholder 2"/>
          <p:cNvSpPr>
            <a:spLocks noGrp="1"/>
          </p:cNvSpPr>
          <p:nvPr>
            <p:ph type="body" idx="1"/>
          </p:nvPr>
        </p:nvSpPr>
        <p:spPr/>
        <p:txBody>
          <a:bodyPr/>
          <a:lstStyle/>
          <a:p>
            <a:r>
              <a:rPr lang="en-US" dirty="0"/>
              <a:t>The chosen map is marked in blue, and the tabs show where the background map and the overlays in use are. Change the order by dragging the handle on the left of the row, or with the arrow keys. The background map is always drawn fully opaque, so the geocaching.com map never shows through. The cache icons are always on top.</a:t>
            </a:r>
            <a:endParaRPr lang="en-US" dirty="0"/>
          </a:p>
        </p:txBody>
      </p:sp>
      <p:sp>
        <p:nvSpPr>
          <p:cNvPr id="40400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405001" name=""/>
        <p:cNvGrpSpPr/>
        <p:nvPr/>
      </p:nvGrpSpPr>
      <p:grpSpPr>
        <a:xfrm>
          <a:off x="0" y="0"/>
          <a:ext cx="0" cy="0"/>
          <a:chOff x="0" y="0"/>
          <a:chExt cx="0" cy="0"/>
        </a:xfrm>
      </p:grpSpPr>
      <p:sp>
        <p:nvSpPr>
          <p:cNvPr id="405002" name="Slide Image Placeholder 1"/>
          <p:cNvSpPr>
            <a:spLocks noGrp="1" noRot="1" noChangeAspect="1"/>
          </p:cNvSpPr>
          <p:nvPr>
            <p:ph type="sldImg"/>
          </p:nvPr>
        </p:nvSpPr>
        <p:spPr/>
      </p:sp>
      <p:sp>
        <p:nvSpPr>
          <p:cNvPr id="405003" name="Notes Placeholder 2"/>
          <p:cNvSpPr>
            <a:spLocks noGrp="1"/>
          </p:cNvSpPr>
          <p:nvPr>
            <p:ph type="body" idx="1"/>
          </p:nvPr>
        </p:nvSpPr>
        <p:spPr/>
        <p:txBody>
          <a:bodyPr/>
          <a:lstStyle/>
          <a:p>
            <a:r>
              <a:rPr lang="en-US" dirty="0"/>
              <a:t>The layer editor recognises the address and fetches the list of layers from WMS and WMTS services. Only services in Web Mercator can be shown, as the geocaching.com map uses that projection.</a:t>
            </a:r>
            <a:endParaRPr lang="en-US" dirty="0"/>
          </a:p>
        </p:txBody>
      </p:sp>
      <p:sp>
        <p:nvSpPr>
          <p:cNvPr id="40500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406001" name=""/>
        <p:cNvGrpSpPr/>
        <p:nvPr/>
      </p:nvGrpSpPr>
      <p:grpSpPr>
        <a:xfrm>
          <a:off x="0" y="0"/>
          <a:ext cx="0" cy="0"/>
          <a:chOff x="0" y="0"/>
          <a:chExt cx="0" cy="0"/>
        </a:xfrm>
      </p:grpSpPr>
      <p:sp>
        <p:nvSpPr>
          <p:cNvPr id="406002" name="Slide Image Placeholder 1"/>
          <p:cNvSpPr>
            <a:spLocks noGrp="1" noRot="1" noChangeAspect="1"/>
          </p:cNvSpPr>
          <p:nvPr>
            <p:ph type="sldImg"/>
          </p:nvPr>
        </p:nvSpPr>
        <p:spPr/>
      </p:sp>
      <p:sp>
        <p:nvSpPr>
          <p:cNvPr id="406003" name="Notes Placeholder 2"/>
          <p:cNvSpPr>
            <a:spLocks noGrp="1"/>
          </p:cNvSpPr>
          <p:nvPr>
            <p:ph type="body" idx="1"/>
          </p:nvPr>
        </p:nvSpPr>
        <p:spPr/>
        <p:txBody>
          <a:bodyPr/>
          <a:lstStyle/>
          <a:p>
            <a:r>
              <a:rPr lang="en-US" dirty="0"/>
              <a:t>Use the arrow keys and Enter to pick one. The map zooms to a level that suits the hit: county, municipality, town or address.</a:t>
            </a:r>
            <a:endParaRPr lang="en-US" dirty="0"/>
          </a:p>
        </p:txBody>
      </p:sp>
      <p:sp>
        <p:nvSpPr>
          <p:cNvPr id="40600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407001" name=""/>
        <p:cNvGrpSpPr/>
        <p:nvPr/>
      </p:nvGrpSpPr>
      <p:grpSpPr>
        <a:xfrm>
          <a:off x="0" y="0"/>
          <a:ext cx="0" cy="0"/>
          <a:chOff x="0" y="0"/>
          <a:chExt cx="0" cy="0"/>
        </a:xfrm>
      </p:grpSpPr>
      <p:sp>
        <p:nvSpPr>
          <p:cNvPr id="407002" name="Slide Image Placeholder 1"/>
          <p:cNvSpPr>
            <a:spLocks noGrp="1" noRot="1" noChangeAspect="1"/>
          </p:cNvSpPr>
          <p:nvPr>
            <p:ph type="sldImg"/>
          </p:nvPr>
        </p:nvSpPr>
        <p:spPr/>
      </p:sp>
      <p:sp>
        <p:nvSpPr>
          <p:cNvPr id="407003" name="Notes Placeholder 2"/>
          <p:cNvSpPr>
            <a:spLocks noGrp="1"/>
          </p:cNvSpPr>
          <p:nvPr>
            <p:ph type="body" idx="1"/>
          </p:nvPr>
        </p:nvSpPr>
        <p:spPr/>
        <p:txBody>
          <a:bodyPr/>
          <a:lstStyle/>
          <a:p>
            <a:r>
              <a:rPr lang="en-US" dirty="0"/>
              <a:t>The coordinates under the mouse are also shown at the bottom right. Click the display to switch format; the choice is remembered.</a:t>
            </a:r>
            <a:endParaRPr lang="en-US" dirty="0"/>
          </a:p>
        </p:txBody>
      </p:sp>
      <p:sp>
        <p:nvSpPr>
          <p:cNvPr id="40700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408001" name=""/>
        <p:cNvGrpSpPr/>
        <p:nvPr/>
      </p:nvGrpSpPr>
      <p:grpSpPr>
        <a:xfrm>
          <a:off x="0" y="0"/>
          <a:ext cx="0" cy="0"/>
          <a:chOff x="0" y="0"/>
          <a:chExt cx="0" cy="0"/>
        </a:xfrm>
      </p:grpSpPr>
      <p:sp>
        <p:nvSpPr>
          <p:cNvPr id="408002" name="Slide Image Placeholder 1"/>
          <p:cNvSpPr>
            <a:spLocks noGrp="1" noRot="1" noChangeAspect="1"/>
          </p:cNvSpPr>
          <p:nvPr>
            <p:ph type="sldImg"/>
          </p:nvPr>
        </p:nvSpPr>
        <p:spPr/>
      </p:sp>
      <p:sp>
        <p:nvSpPr>
          <p:cNvPr id="408003" name="Notes Placeholder 2"/>
          <p:cNvSpPr>
            <a:spLocks noGrp="1"/>
          </p:cNvSpPr>
          <p:nvPr>
            <p:ph type="body" idx="1"/>
          </p:nvPr>
        </p:nvSpPr>
        <p:spPr/>
        <p:txBody>
          <a:bodyPr/>
          <a:lstStyle/>
          <a:p>
            <a:r>
              <a:rPr lang="en-US" dirty="0"/>
              <a:t>The popup snaps when you right-click within about 12 pixels of the cache – the size of the icon. Right-click further away and you get the clicked spot as before.</a:t>
            </a:r>
            <a:endParaRPr lang="en-US" dirty="0"/>
          </a:p>
        </p:txBody>
      </p:sp>
      <p:sp>
        <p:nvSpPr>
          <p:cNvPr id="40800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409001" name=""/>
        <p:cNvGrpSpPr/>
        <p:nvPr/>
      </p:nvGrpSpPr>
      <p:grpSpPr>
        <a:xfrm>
          <a:off x="0" y="0"/>
          <a:ext cx="0" cy="0"/>
          <a:chOff x="0" y="0"/>
          <a:chExt cx="0" cy="0"/>
        </a:xfrm>
      </p:grpSpPr>
      <p:sp>
        <p:nvSpPr>
          <p:cNvPr id="409002" name="Slide Image Placeholder 1"/>
          <p:cNvSpPr>
            <a:spLocks noGrp="1" noRot="1" noChangeAspect="1"/>
          </p:cNvSpPr>
          <p:nvPr>
            <p:ph type="sldImg"/>
          </p:nvPr>
        </p:nvSpPr>
        <p:spPr/>
      </p:sp>
      <p:sp>
        <p:nvSpPr>
          <p:cNvPr id="409003" name="Notes Placeholder 2"/>
          <p:cNvSpPr>
            <a:spLocks noGrp="1"/>
          </p:cNvSpPr>
          <p:nvPr>
            <p:ph type="body" idx="1"/>
          </p:nvPr>
        </p:nvSpPr>
        <p:spPr/>
        <p:txBody>
          <a:bodyPr/>
          <a:lstStyle/>
          <a:p>
            <a:r>
              <a:rPr lang="en-US" dirty="0"/>
              <a:t>Enter or Project places the point with a pin, a line and a label with bearing and distance. Cancel removes the preview.</a:t>
            </a:r>
            <a:endParaRPr lang="en-US" dirty="0"/>
          </a:p>
        </p:txBody>
      </p:sp>
      <p:sp>
        <p:nvSpPr>
          <p:cNvPr id="40900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410001" name=""/>
        <p:cNvGrpSpPr/>
        <p:nvPr/>
      </p:nvGrpSpPr>
      <p:grpSpPr>
        <a:xfrm>
          <a:off x="0" y="0"/>
          <a:ext cx="0" cy="0"/>
          <a:chOff x="0" y="0"/>
          <a:chExt cx="0" cy="0"/>
        </a:xfrm>
      </p:grpSpPr>
      <p:sp>
        <p:nvSpPr>
          <p:cNvPr id="410002" name="Slide Image Placeholder 1"/>
          <p:cNvSpPr>
            <a:spLocks noGrp="1" noRot="1" noChangeAspect="1"/>
          </p:cNvSpPr>
          <p:nvPr>
            <p:ph type="sldImg"/>
          </p:nvPr>
        </p:nvSpPr>
        <p:spPr/>
      </p:sp>
      <p:sp>
        <p:nvSpPr>
          <p:cNvPr id="410003" name="Notes Placeholder 2"/>
          <p:cNvSpPr>
            <a:spLocks noGrp="1"/>
          </p:cNvSpPr>
          <p:nvPr>
            <p:ph type="body" idx="1"/>
          </p:nvPr>
        </p:nvSpPr>
        <p:spPr/>
        <p:txBody>
          <a:bodyPr/>
          <a:lstStyle/>
          <a:p>
            <a:r>
              <a:rPr lang="en-US" dirty="0"/>
              <a:t>The route window opens with the route button in the toolbar. The preview shows exactly what the GPX file contains: name in the GPS, description, coordinates and legs. Caches get Garmin's Geocache symbol (Geocache Found when found), pins the blue pin.</a:t>
            </a:r>
            <a:endParaRPr lang="en-US" dirty="0"/>
          </a:p>
        </p:txBody>
      </p:sp>
      <p:sp>
        <p:nvSpPr>
          <p:cNvPr id="41000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411001" name=""/>
        <p:cNvGrpSpPr/>
        <p:nvPr/>
      </p:nvGrpSpPr>
      <p:grpSpPr>
        <a:xfrm>
          <a:off x="0" y="0"/>
          <a:ext cx="0" cy="0"/>
          <a:chOff x="0" y="0"/>
          <a:chExt cx="0" cy="0"/>
        </a:xfrm>
      </p:grpSpPr>
      <p:sp>
        <p:nvSpPr>
          <p:cNvPr id="411002" name="Slide Image Placeholder 1"/>
          <p:cNvSpPr>
            <a:spLocks noGrp="1" noRot="1" noChangeAspect="1"/>
          </p:cNvSpPr>
          <p:nvPr>
            <p:ph type="sldImg"/>
          </p:nvPr>
        </p:nvSpPr>
        <p:spPr/>
      </p:sp>
      <p:sp>
        <p:nvSpPr>
          <p:cNvPr id="411003" name="Notes Placeholder 2"/>
          <p:cNvSpPr>
            <a:spLocks noGrp="1"/>
          </p:cNvSpPr>
          <p:nvPr>
            <p:ph type="body" idx="1"/>
          </p:nvPr>
        </p:nvSpPr>
        <p:spPr/>
        <p:txBody>
          <a:bodyPr/>
          <a:lstStyle/>
          <a:p>
            <a:r>
              <a:rPr lang="en-US" dirty="0"/>
              <a:t>The cache list is on /map; /play/map has a list of its own. The list and the route window sit at the top right or left of the map (Settings), clear of the site's side panel, and the two buttons switch between them.</a:t>
            </a:r>
            <a:endParaRPr lang="en-US" dirty="0"/>
          </a:p>
        </p:txBody>
      </p:sp>
      <p:sp>
        <p:nvSpPr>
          <p:cNvPr id="41100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412001" name=""/>
        <p:cNvGrpSpPr/>
        <p:nvPr/>
      </p:nvGrpSpPr>
      <p:grpSpPr>
        <a:xfrm>
          <a:off x="0" y="0"/>
          <a:ext cx="0" cy="0"/>
          <a:chOff x="0" y="0"/>
          <a:chExt cx="0" cy="0"/>
        </a:xfrm>
      </p:grpSpPr>
      <p:sp>
        <p:nvSpPr>
          <p:cNvPr id="412002" name="Slide Image Placeholder 1"/>
          <p:cNvSpPr>
            <a:spLocks noGrp="1" noRot="1" noChangeAspect="1"/>
          </p:cNvSpPr>
          <p:nvPr>
            <p:ph type="sldImg"/>
          </p:nvPr>
        </p:nvSpPr>
        <p:spPr/>
      </p:sp>
      <p:sp>
        <p:nvSpPr>
          <p:cNvPr id="412003" name="Notes Placeholder 2"/>
          <p:cNvSpPr>
            <a:spLocks noGrp="1"/>
          </p:cNvSpPr>
          <p:nvPr>
            <p:ph type="body" idx="1"/>
          </p:nvPr>
        </p:nvSpPr>
        <p:spPr/>
        <p:txBody>
          <a:bodyPr/>
          <a:lstStyle/>
          <a:p>
            <a:r>
              <a:rPr lang="en-US" dirty="0"/>
              <a:t>The circles show from zoom level 15. The cache types, the exact coordinates and your solved coordinates come from geocaching.com's own cache search. Physical stages are read from the list of additional waypoints on the cache page – only those the owner has made visible. Blue mark with a question mark and a green tick: a solved cache you have found. Small blue dot: physical stage. Small green dot: final location. Your own caches, which the cache search leaves out, are read from the cache pages; there the site's icon and popup are kept, but the hover text becomes “Final location”.</a:t>
            </a:r>
            <a:endParaRPr lang="en-US" dirty="0"/>
          </a:p>
        </p:txBody>
      </p:sp>
      <p:sp>
        <p:nvSpPr>
          <p:cNvPr id="41200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413001" name=""/>
        <p:cNvGrpSpPr/>
        <p:nvPr/>
      </p:nvGrpSpPr>
      <p:grpSpPr>
        <a:xfrm>
          <a:off x="0" y="0"/>
          <a:ext cx="0" cy="0"/>
          <a:chOff x="0" y="0"/>
          <a:chExt cx="0" cy="0"/>
        </a:xfrm>
      </p:grpSpPr>
      <p:sp>
        <p:nvSpPr>
          <p:cNvPr id="413002" name="Slide Image Placeholder 1"/>
          <p:cNvSpPr>
            <a:spLocks noGrp="1" noRot="1" noChangeAspect="1"/>
          </p:cNvSpPr>
          <p:nvPr>
            <p:ph type="sldImg"/>
          </p:nvPr>
        </p:nvSpPr>
        <p:spPr/>
      </p:sp>
      <p:sp>
        <p:nvSpPr>
          <p:cNvPr id="413003" name="Notes Placeholder 2"/>
          <p:cNvSpPr>
            <a:spLocks noGrp="1"/>
          </p:cNvSpPr>
          <p:nvPr>
            <p:ph type="body" idx="1"/>
          </p:nvPr>
        </p:nvSpPr>
        <p:spPr/>
        <p:txBody>
          <a:bodyPr/>
          <a:lstStyle/>
          <a:p>
            <a:r>
              <a:rPr lang="en-US" dirty="0"/>
              <a:t>161 m is the minimum distance between caches in the guidelines. On /map the script finds the positions from a hidden grid the site loads; on /play/map the exact positions are used.</a:t>
            </a:r>
            <a:endParaRPr lang="en-US" dirty="0"/>
          </a:p>
        </p:txBody>
      </p:sp>
      <p:sp>
        <p:nvSpPr>
          <p:cNvPr id="41300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414001" name=""/>
        <p:cNvGrpSpPr/>
        <p:nvPr/>
      </p:nvGrpSpPr>
      <p:grpSpPr>
        <a:xfrm>
          <a:off x="0" y="0"/>
          <a:ext cx="0" cy="0"/>
          <a:chOff x="0" y="0"/>
          <a:chExt cx="0" cy="0"/>
        </a:xfrm>
      </p:grpSpPr>
      <p:sp>
        <p:nvSpPr>
          <p:cNvPr id="414002" name="Slide Image Placeholder 1"/>
          <p:cNvSpPr>
            <a:spLocks noGrp="1" noRot="1" noChangeAspect="1"/>
          </p:cNvSpPr>
          <p:nvPr>
            <p:ph type="sldImg"/>
          </p:nvPr>
        </p:nvSpPr>
        <p:spPr/>
      </p:sp>
      <p:sp>
        <p:nvSpPr>
          <p:cNvPr id="414003" name="Notes Placeholder 2"/>
          <p:cNvSpPr>
            <a:spLocks noGrp="1"/>
          </p:cNvSpPr>
          <p:nvPr>
            <p:ph type="body" idx="1"/>
          </p:nvPr>
        </p:nvSpPr>
        <p:spPr/>
        <p:txBody>
          <a:bodyPr/>
          <a:lstStyle/>
          <a:p>
            <a:r>
              <a:rPr lang="en-US" dirty="0"/>
              <a:t>The browser draws Leaflet's controls on top, then the popups, markers and drawings, and the map tiles at the bottom. Among the tiles the script sorts by z-index: the site's background at the bottom, then your background map, the overlays and the preview, and on top the site's other tiles – on /map those are the cache icons. The site's background is found from the site's layer switcher, otherwise as the lowest tile layer. The dialogs sit outside the map, attached to the page, so the side panel doesn't cover them.</a:t>
            </a:r>
            <a:endParaRPr lang="en-US" dirty="0"/>
          </a:p>
        </p:txBody>
      </p:sp>
      <p:sp>
        <p:nvSpPr>
          <p:cNvPr id="41400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415001" name=""/>
        <p:cNvGrpSpPr/>
        <p:nvPr/>
      </p:nvGrpSpPr>
      <p:grpSpPr>
        <a:xfrm>
          <a:off x="0" y="0"/>
          <a:ext cx="0" cy="0"/>
          <a:chOff x="0" y="0"/>
          <a:chExt cx="0" cy="0"/>
        </a:xfrm>
      </p:grpSpPr>
      <p:sp>
        <p:nvSpPr>
          <p:cNvPr id="415002" name="Slide Image Placeholder 1"/>
          <p:cNvSpPr>
            <a:spLocks noGrp="1" noRot="1" noChangeAspect="1"/>
          </p:cNvSpPr>
          <p:nvPr>
            <p:ph type="sldImg"/>
          </p:nvPr>
        </p:nvSpPr>
        <p:spPr/>
      </p:sp>
      <p:sp>
        <p:nvSpPr>
          <p:cNvPr id="415003" name="Notes Placeholder 2"/>
          <p:cNvSpPr>
            <a:spLocks noGrp="1"/>
          </p:cNvSpPr>
          <p:nvPr>
            <p:ph type="body" idx="1"/>
          </p:nvPr>
        </p:nvSpPr>
        <p:spPr/>
        <p:txBody>
          <a:bodyPr/>
          <a:lstStyle/>
          <a:p>
            <a:r>
              <a:rPr lang="en-US" dirty="0"/>
              <a:t>The script starts before the page and catches Leaflet the moment the page defines it. Its own errors never reach the site's code.</a:t>
            </a:r>
            <a:endParaRPr lang="en-US" dirty="0"/>
          </a:p>
        </p:txBody>
      </p:sp>
      <p:sp>
        <p:nvSpPr>
          <p:cNvPr id="41500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416001" name=""/>
        <p:cNvGrpSpPr/>
        <p:nvPr/>
      </p:nvGrpSpPr>
      <p:grpSpPr>
        <a:xfrm>
          <a:off x="0" y="0"/>
          <a:ext cx="0" cy="0"/>
          <a:chOff x="0" y="0"/>
          <a:chExt cx="0" cy="0"/>
        </a:xfrm>
      </p:grpSpPr>
      <p:sp>
        <p:nvSpPr>
          <p:cNvPr id="416002" name="Slide Image Placeholder 1"/>
          <p:cNvSpPr>
            <a:spLocks noGrp="1" noRot="1" noChangeAspect="1"/>
          </p:cNvSpPr>
          <p:nvPr>
            <p:ph type="sldImg"/>
          </p:nvPr>
        </p:nvSpPr>
        <p:spPr/>
      </p:sp>
      <p:sp>
        <p:nvSpPr>
          <p:cNvPr id="416003" name="Notes Placeholder 2"/>
          <p:cNvSpPr>
            <a:spLocks noGrp="1"/>
          </p:cNvSpPr>
          <p:nvPr>
            <p:ph type="body" idx="1"/>
          </p:nvPr>
        </p:nvSpPr>
        <p:spPr/>
        <p:txBody>
          <a:bodyPr/>
          <a:lstStyle/>
          <a:p>
            <a:r>
              <a:rPr lang="en-US" dirty="0"/>
              <a:t>The script needs no special permissions (@grant none). The settings are shared between the map pages and the cache pages.</a:t>
            </a:r>
            <a:endParaRPr lang="en-US" dirty="0"/>
          </a:p>
        </p:txBody>
      </p:sp>
      <p:sp>
        <p:nvSpPr>
          <p:cNvPr id="41600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417001" name=""/>
        <p:cNvGrpSpPr/>
        <p:nvPr/>
      </p:nvGrpSpPr>
      <p:grpSpPr>
        <a:xfrm>
          <a:off x="0" y="0"/>
          <a:ext cx="0" cy="0"/>
          <a:chOff x="0" y="0"/>
          <a:chExt cx="0" cy="0"/>
        </a:xfrm>
      </p:grpSpPr>
      <p:sp>
        <p:nvSpPr>
          <p:cNvPr id="417002" name="Slide Image Placeholder 1"/>
          <p:cNvSpPr>
            <a:spLocks noGrp="1" noRot="1" noChangeAspect="1"/>
          </p:cNvSpPr>
          <p:nvPr>
            <p:ph type="sldImg"/>
          </p:nvPr>
        </p:nvSpPr>
        <p:spPr/>
      </p:sp>
      <p:sp>
        <p:nvSpPr>
          <p:cNvPr id="417003" name="Notes Placeholder 2"/>
          <p:cNvSpPr>
            <a:spLocks noGrp="1"/>
          </p:cNvSpPr>
          <p:nvPr>
            <p:ph type="body" idx="1"/>
          </p:nvPr>
        </p:nvSpPr>
        <p:spPr/>
        <p:txBody>
          <a:bodyPr/>
          <a:lstStyle/>
          <a:p>
            <a:r>
              <a:rPr lang="en-US" dirty="0"/>
              <a:t>Thank you for your attention. Questions?</a:t>
            </a:r>
            <a:endParaRPr lang="en-US" dirty="0"/>
          </a:p>
        </p:txBody>
      </p:sp>
      <p:sp>
        <p:nvSpPr>
          <p:cNvPr id="41700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20100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tel mørk">
    <p:bg>
      <p:bgPr>
        <a:solidFill>
          <a:srgbClr val="163A2B"/>
        </a:solidFill>
      </p:bgPr>
    </p:bg>
    <p:spTree>
      <p:nvGrpSpPr>
        <p:cNvPr id="202001" name=""/>
        <p:cNvGrpSpPr/>
        <p:nvPr/>
      </p:nvGrpSpPr>
      <p:grpSpPr>
        <a:xfrm>
          <a:off x="0" y="0"/>
          <a:ext cx="0" cy="0"/>
          <a:chOff x="0" y="0"/>
          <a:chExt cx="0" cy="0"/>
        </a:xfrm>
      </p:grpSpPr>
      <p:sp>
        <p:nvSpPr>
          <p:cNvPr id="202002" name="Text 0"/>
          <p:cNvSpPr/>
          <p:nvPr>
            <p:ph idx="100" type="title" hasCustomPrompt="1"/>
          </p:nvPr>
        </p:nvSpPr>
        <p:spPr>
          <a:xfrm>
            <a:off x="548640" y="1828800"/>
            <a:ext cx="603504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202003" name="Text 0"/>
          <p:cNvSpPr/>
          <p:nvPr>
            <p:ph idx="101" type="body" hasCustomPrompt="1"/>
          </p:nvPr>
        </p:nvSpPr>
        <p:spPr>
          <a:xfrm>
            <a:off x="548640" y="3703320"/>
            <a:ext cx="5852160" cy="1188720"/>
          </a:xfrm>
          <a:prstGeom prst="rect">
            <a:avLst/>
          </a:prstGeom>
          <a:noFill/>
          <a:ln/>
        </p:spPr>
        <p:txBody>
          <a:bodyPr wrap="square" rtlCol="0"/>
          <a:lstStyle>
            <a:lvl1pPr algn="l" indent="0" marL="0">
              <a:buNone/>
              <a:defRPr lang="en-US" sz="1800" dirty="0">
                <a:solidFill>
                  <a:schemeClr val="accent5"/>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nhold">
    <p:bg>
      <p:bgPr>
        <a:solidFill>
          <a:srgbClr val="FFFFFF"/>
        </a:solidFill>
      </p:bgPr>
    </p:bg>
    <p:spTree>
      <p:nvGrpSpPr>
        <p:cNvPr id="203001" name=""/>
        <p:cNvGrpSpPr/>
        <p:nvPr/>
      </p:nvGrpSpPr>
      <p:grpSpPr>
        <a:xfrm>
          <a:off x="0" y="0"/>
          <a:ext cx="0" cy="0"/>
          <a:chOff x="0" y="0"/>
          <a:chExt cx="0" cy="0"/>
        </a:xfrm>
      </p:grpSpPr>
      <p:sp>
        <p:nvSpPr>
          <p:cNvPr id="203002" name="Text 0"/>
          <p:cNvSpPr/>
          <p:nvPr>
            <p:ph idx="100" type="title" hasCustomPrompt="1"/>
          </p:nvPr>
        </p:nvSpPr>
        <p:spPr>
          <a:xfrm>
            <a:off x="548640" y="384048"/>
            <a:ext cx="11094415"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203003" name="Text 0"/>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Geocaching Map – Custom Tile Layers · v1.53.0</a:t>
            </a:r>
            <a:endParaRPr lang="en-US" sz="1000" dirty="0"/>
          </a:p>
        </p:txBody>
      </p:sp>
      <p:sp>
        <p:nvSpPr>
          <p:cNvPr id="203004"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301001" name=""/>
        <p:cNvGrpSpPr/>
        <p:nvPr/>
      </p:nvGrpSpPr>
      <p:grpSpPr>
        <a:xfrm>
          <a:off x="0" y="0"/>
          <a:ext cx="0" cy="0"/>
          <a:chOff x="0" y="0"/>
          <a:chExt cx="0" cy="0"/>
        </a:xfrm>
      </p:grpSpPr>
      <p:sp>
        <p:nvSpPr>
          <p:cNvPr id="301002"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slideLayout" Target="../slideLayouts/slideLayout3.xml"/><Relationship Id="rId1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1001" name=""/>
        <p:cNvGrpSpPr/>
        <p:nvPr/>
      </p:nvGrpSpPr>
      <p:grpSpPr>
        <a:xfrm>
          <a:off x="0" y="0"/>
          <a:ext cx="0" cy="0"/>
          <a:chOff x="0" y="0"/>
          <a:chExt cx="0" cy="0"/>
        </a:xfrm>
      </p:grpSpPr>
      <p:sp>
        <p:nvSpPr>
          <p:cNvPr id="11002" name="Text 0"/>
          <p:cNvSpPr/>
          <p:nvPr>
            <p:ph idx="100" type="title" hasCustomPrompt="1"/>
          </p:nvPr>
        </p:nvSpPr>
        <p:spPr>
          <a:xfrm>
            <a:off x="548640" y="1828800"/>
            <a:ext cx="6035040" cy="1737360"/>
          </a:xfrm>
          <a:prstGeom prst="rect">
            <a:avLst/>
          </a:prstGeom>
          <a:noFill/>
          <a:ln/>
        </p:spPr>
        <p:txBody>
          <a:bodyPr wrap="square" lIns="0" tIns="0" rIns="0" bIns="0" rtlCol="0" anchor="b"/>
          <a:lstStyle/>
          <a:p>
            <a:pPr algn="l" indent="0" marL="0">
              <a:buNone/>
            </a:pPr>
            <a:r>
              <a:rPr lang="en-US" sz="4400" b="1" dirty="0">
                <a:solidFill>
                  <a:schemeClr val="bg1"/>
                </a:solidFill>
              </a:rPr>
              <a:t>Geocaching Map –</a:t>
            </a:r>
            <a:endParaRPr lang="en-US" sz="4400" dirty="0"/>
          </a:p>
          <a:p>
            <a:pPr algn="l" indent="0" marL="0">
              <a:buNone/>
            </a:pPr>
            <a:r>
              <a:rPr lang="en-US" sz="4400" b="1" dirty="0">
                <a:solidFill>
                  <a:schemeClr val="bg1"/>
                </a:solidFill>
              </a:rPr>
              <a:t>Custom Tile Layers</a:t>
            </a:r>
            <a:endParaRPr lang="en-US" sz="4400" dirty="0"/>
          </a:p>
        </p:txBody>
      </p:sp>
      <p:sp>
        <p:nvSpPr>
          <p:cNvPr id="11003" name="Text 0"/>
          <p:cNvSpPr/>
          <p:nvPr>
            <p:ph idx="101" type="body" hasCustomPrompt="1"/>
          </p:nvPr>
        </p:nvSpPr>
        <p:spPr>
          <a:xfrm>
            <a:off x="548640" y="3703320"/>
            <a:ext cx="5852160" cy="1188720"/>
          </a:xfrm>
          <a:prstGeom prst="rect">
            <a:avLst/>
          </a:prstGeom>
          <a:noFill/>
          <a:ln/>
        </p:spPr>
        <p:txBody>
          <a:bodyPr wrap="square" lIns="0" tIns="0" rIns="0" bIns="0" rtlCol="0" anchor="t"/>
          <a:lstStyle/>
          <a:p>
            <a:pPr algn="l" indent="0" marL="0">
              <a:buNone/>
            </a:pPr>
            <a:r>
              <a:rPr lang="en-US" sz="1800" dirty="0">
                <a:solidFill>
                  <a:schemeClr val="accent5"/>
                </a:solidFill>
              </a:rPr>
              <a:t>Your own maps and handy tools right in the geocaching.com maps</a:t>
            </a:r>
            <a:endParaRPr lang="en-US" sz="1800" dirty="0"/>
          </a:p>
        </p:txBody>
      </p:sp>
      <p:sp>
        <p:nvSpPr>
          <p:cNvPr id="11004" name="Text 2"/>
          <p:cNvSpPr txBox="1"/>
          <p:nvPr/>
        </p:nvSpPr>
        <p:spPr>
          <a:xfrm>
            <a:off x="548640" y="5120640"/>
            <a:ext cx="5852160" cy="365760"/>
          </a:xfrm>
          <a:prstGeom prst="rect">
            <a:avLst/>
          </a:prstGeom>
          <a:noFill/>
          <a:ln/>
        </p:spPr>
        <p:txBody>
          <a:bodyPr wrap="square" lIns="0" tIns="0" rIns="0" bIns="0" rtlCol="0" anchor="ctr"/>
          <a:lstStyle/>
          <a:p>
            <a:pPr indent="0" marL="0">
              <a:buNone/>
            </a:pPr>
            <a:r>
              <a:rPr lang="en-US" sz="1400" dirty="0">
                <a:solidFill>
                  <a:schemeClr val="accent5"/>
                </a:solidFill>
              </a:rPr>
              <a:t>Userscript · version 1.53.0 · English and Norwegian</a:t>
            </a:r>
            <a:endParaRPr lang="en-US" sz="1400" dirty="0"/>
          </a:p>
        </p:txBody>
      </p:sp>
      <p:pic>
        <p:nvPicPr>
          <p:cNvPr id="11005" name="Kartlagpanelet" descr="The layer panel">    </p:cNvPr>
          <p:cNvPicPr>
            <a:picLocks noChangeAspect="1"/>
          </p:cNvPicPr>
          <p:nvPr/>
        </p:nvPicPr>
        <p:blipFill>
          <a:blip r:embed="rId1"/>
          <a:stretch>
            <a:fillRect/>
          </a:stretch>
        </p:blipFill>
        <p:spPr>
          <a:xfrm>
            <a:off x="8742823" y="548640"/>
            <a:ext cx="2534472" cy="5760720"/>
          </a:xfrm>
          <a:prstGeom prst="rect">
            <a:avLst/>
          </a:prstGeom>
          <a:effectLst>
            <a:outerShdw sx="100000" sy="100000" kx="0" ky="0" algn="bl" rotWithShape="0" blurRad="127000" dist="38100" dir="5400000">
              <a:srgbClr val="000000">
                <a:alpha val="1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2001" name=""/>
        <p:cNvGrpSpPr/>
        <p:nvPr/>
      </p:nvGrpSpPr>
      <p:grpSpPr>
        <a:xfrm>
          <a:off x="0" y="0"/>
          <a:ext cx="0" cy="0"/>
          <a:chOff x="0" y="0"/>
          <a:chExt cx="0" cy="0"/>
        </a:xfrm>
      </p:grpSpPr>
      <p:sp>
        <p:nvSpPr>
          <p:cNvPr id="1200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Everything you need on the map, in one toolbar</a:t>
            </a:r>
            <a:endParaRPr lang="en-US" sz="3600" dirty="0"/>
          </a:p>
        </p:txBody>
      </p:sp>
      <p:sp>
        <p:nvSpPr>
          <p:cNvPr id="12003" name="Kort Hvilket kart som helst"/>
          <p:cNvSpPr/>
          <p:nvPr/>
        </p:nvSpPr>
        <p:spPr>
          <a:xfrm>
            <a:off x="548640" y="1417320"/>
            <a:ext cx="3484778" cy="2240280"/>
          </a:xfrm>
          <a:prstGeom prst="roundRect">
            <a:avLst>
              <a:gd name="adj" fmla="val 4898"/>
            </a:avLst>
          </a:prstGeom>
          <a:solidFill>
            <a:schemeClr val="bg2"/>
          </a:solidFill>
          <a:ln/>
        </p:spPr>
      </p:sp>
      <p:sp>
        <p:nvSpPr>
          <p:cNvPr id="12004" name="Ikon layers sirkel"/>
          <p:cNvSpPr/>
          <p:nvPr/>
        </p:nvSpPr>
        <p:spPr>
          <a:xfrm>
            <a:off x="868680" y="1737360"/>
            <a:ext cx="566928" cy="566928"/>
          </a:xfrm>
          <a:prstGeom prst="ellipse">
            <a:avLst/>
          </a:prstGeom>
          <a:solidFill>
            <a:schemeClr val="accent1"/>
          </a:solidFill>
          <a:ln/>
        </p:spPr>
      </p:sp>
      <p:pic>
        <p:nvPicPr>
          <p:cNvPr id="12005" name="Ikon layers" descr="layers">    </p:cNvPr>
          <p:cNvPicPr>
            <a:picLocks noChangeAspect="1"/>
          </p:cNvPicPr>
          <p:nvPr/>
        </p:nvPicPr>
        <p:blipFill>
          <a:blip r:embed="rId1"/>
          <a:stretch>
            <a:fillRect/>
          </a:stretch>
        </p:blipFill>
        <p:spPr>
          <a:xfrm>
            <a:off x="993404" y="1862084"/>
            <a:ext cx="317480" cy="317480"/>
          </a:xfrm>
          <a:prstGeom prst="rect">
            <a:avLst/>
          </a:prstGeom>
        </p:spPr>
      </p:pic>
      <p:sp>
        <p:nvSpPr>
          <p:cNvPr id="12006" name="Text 3"/>
          <p:cNvSpPr txBox="1"/>
          <p:nvPr/>
        </p:nvSpPr>
        <p:spPr>
          <a:xfrm>
            <a:off x="868680" y="2441448"/>
            <a:ext cx="2844698" cy="105156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Any map</a:t>
            </a:r>
            <a:endParaRPr lang="en-US" sz="1900" dirty="0"/>
          </a:p>
          <a:p>
            <a:pPr indent="0" marL="0">
              <a:spcAft>
                <a:spcPts val="400"/>
              </a:spcAft>
              <a:buNone/>
            </a:pPr>
            <a:r>
              <a:rPr lang="en-US" sz="1400" dirty="0">
                <a:solidFill>
                  <a:schemeClr val="accent4"/>
                </a:solidFill>
              </a:rPr>
              <a:t>Kartverket, OpenStreetMap, aerial photos – or your own XYZ, WMTS, WMS and ArcGIS services</a:t>
            </a:r>
            <a:endParaRPr lang="en-US" sz="1900" dirty="0"/>
          </a:p>
        </p:txBody>
      </p:sp>
      <p:sp>
        <p:nvSpPr>
          <p:cNvPr id="12007" name="Kort Stedssøk"/>
          <p:cNvSpPr/>
          <p:nvPr/>
        </p:nvSpPr>
        <p:spPr>
          <a:xfrm>
            <a:off x="4353458" y="1417320"/>
            <a:ext cx="3484778" cy="2240280"/>
          </a:xfrm>
          <a:prstGeom prst="roundRect">
            <a:avLst>
              <a:gd name="adj" fmla="val 4898"/>
            </a:avLst>
          </a:prstGeom>
          <a:solidFill>
            <a:schemeClr val="bg2"/>
          </a:solidFill>
          <a:ln/>
        </p:spPr>
      </p:sp>
      <p:sp>
        <p:nvSpPr>
          <p:cNvPr id="12008" name="Ikon search sirkel"/>
          <p:cNvSpPr/>
          <p:nvPr/>
        </p:nvSpPr>
        <p:spPr>
          <a:xfrm>
            <a:off x="4673498" y="1737360"/>
            <a:ext cx="566928" cy="566928"/>
          </a:xfrm>
          <a:prstGeom prst="ellipse">
            <a:avLst/>
          </a:prstGeom>
          <a:solidFill>
            <a:schemeClr val="accent1"/>
          </a:solidFill>
          <a:ln/>
        </p:spPr>
      </p:sp>
      <p:pic>
        <p:nvPicPr>
          <p:cNvPr id="12009" name="Ikon search" descr="search">    </p:cNvPr>
          <p:cNvPicPr>
            <a:picLocks noChangeAspect="1"/>
          </p:cNvPicPr>
          <p:nvPr/>
        </p:nvPicPr>
        <p:blipFill>
          <a:blip r:embed="rId2"/>
          <a:stretch>
            <a:fillRect/>
          </a:stretch>
        </p:blipFill>
        <p:spPr>
          <a:xfrm>
            <a:off x="4798223" y="1862084"/>
            <a:ext cx="317480" cy="317480"/>
          </a:xfrm>
          <a:prstGeom prst="rect">
            <a:avLst/>
          </a:prstGeom>
        </p:spPr>
      </p:pic>
      <p:sp>
        <p:nvSpPr>
          <p:cNvPr id="12010" name="Text 6"/>
          <p:cNvSpPr txBox="1"/>
          <p:nvPr/>
        </p:nvSpPr>
        <p:spPr>
          <a:xfrm>
            <a:off x="4673498" y="2441448"/>
            <a:ext cx="2844698" cy="105156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Place search</a:t>
            </a:r>
            <a:endParaRPr lang="en-US" sz="1900" dirty="0"/>
          </a:p>
          <a:p>
            <a:pPr indent="0" marL="0">
              <a:spcAft>
                <a:spcPts val="400"/>
              </a:spcAft>
              <a:buNone/>
            </a:pPr>
            <a:r>
              <a:rPr lang="en-US" sz="1400" dirty="0">
                <a:solidFill>
                  <a:schemeClr val="accent4"/>
                </a:solidFill>
              </a:rPr>
              <a:t>Place names and addresses from Kartverket, places abroad and coordinates – in one list</a:t>
            </a:r>
            <a:endParaRPr lang="en-US" sz="1900" dirty="0"/>
          </a:p>
        </p:txBody>
      </p:sp>
      <p:sp>
        <p:nvSpPr>
          <p:cNvPr id="12011" name="Kort Koordinater og projisering"/>
          <p:cNvSpPr/>
          <p:nvPr/>
        </p:nvSpPr>
        <p:spPr>
          <a:xfrm>
            <a:off x="8158277" y="1417320"/>
            <a:ext cx="3484778" cy="2240280"/>
          </a:xfrm>
          <a:prstGeom prst="roundRect">
            <a:avLst>
              <a:gd name="adj" fmla="val 4898"/>
            </a:avLst>
          </a:prstGeom>
          <a:solidFill>
            <a:schemeClr val="bg2"/>
          </a:solidFill>
          <a:ln/>
        </p:spPr>
      </p:sp>
      <p:sp>
        <p:nvSpPr>
          <p:cNvPr id="12012" name="Ikon compass sirkel"/>
          <p:cNvSpPr/>
          <p:nvPr/>
        </p:nvSpPr>
        <p:spPr>
          <a:xfrm>
            <a:off x="8478317" y="1737360"/>
            <a:ext cx="566928" cy="566928"/>
          </a:xfrm>
          <a:prstGeom prst="ellipse">
            <a:avLst/>
          </a:prstGeom>
          <a:solidFill>
            <a:schemeClr val="accent1"/>
          </a:solidFill>
          <a:ln/>
        </p:spPr>
      </p:sp>
      <p:pic>
        <p:nvPicPr>
          <p:cNvPr id="12013" name="Ikon compass" descr="compass">    </p:cNvPr>
          <p:cNvPicPr>
            <a:picLocks noChangeAspect="1"/>
          </p:cNvPicPr>
          <p:nvPr/>
        </p:nvPicPr>
        <p:blipFill>
          <a:blip r:embed="rId3"/>
          <a:stretch>
            <a:fillRect/>
          </a:stretch>
        </p:blipFill>
        <p:spPr>
          <a:xfrm>
            <a:off x="8603041" y="1862084"/>
            <a:ext cx="317480" cy="317480"/>
          </a:xfrm>
          <a:prstGeom prst="rect">
            <a:avLst/>
          </a:prstGeom>
        </p:spPr>
      </p:pic>
      <p:sp>
        <p:nvSpPr>
          <p:cNvPr id="12014" name="Text 9"/>
          <p:cNvSpPr txBox="1"/>
          <p:nvPr/>
        </p:nvSpPr>
        <p:spPr>
          <a:xfrm>
            <a:off x="8478317" y="2441448"/>
            <a:ext cx="2844698" cy="105156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Coordinates and projecting</a:t>
            </a:r>
            <a:endParaRPr lang="en-US" sz="1900" dirty="0"/>
          </a:p>
          <a:p>
            <a:pPr indent="0" marL="0">
              <a:spcAft>
                <a:spcPts val="400"/>
              </a:spcAft>
              <a:buNone/>
            </a:pPr>
            <a:r>
              <a:rPr lang="en-US" sz="1400" dirty="0">
                <a:solidFill>
                  <a:schemeClr val="accent4"/>
                </a:solidFill>
              </a:rPr>
              <a:t>DMM, DD, DMS and UTM (32, 33, 35), projecting, and measuring distance and bearing</a:t>
            </a:r>
            <a:endParaRPr lang="en-US" sz="1900" dirty="0"/>
          </a:p>
        </p:txBody>
      </p:sp>
      <p:sp>
        <p:nvSpPr>
          <p:cNvPr id="12015" name="Kort 161 m-sirkler"/>
          <p:cNvSpPr/>
          <p:nvPr/>
        </p:nvSpPr>
        <p:spPr>
          <a:xfrm>
            <a:off x="548640" y="3931920"/>
            <a:ext cx="3484778" cy="2240280"/>
          </a:xfrm>
          <a:prstGeom prst="roundRect">
            <a:avLst>
              <a:gd name="adj" fmla="val 4898"/>
            </a:avLst>
          </a:prstGeom>
          <a:solidFill>
            <a:schemeClr val="bg2"/>
          </a:solidFill>
          <a:ln/>
        </p:spPr>
      </p:sp>
      <p:sp>
        <p:nvSpPr>
          <p:cNvPr id="12016" name="Ikon circles sirkel"/>
          <p:cNvSpPr/>
          <p:nvPr/>
        </p:nvSpPr>
        <p:spPr>
          <a:xfrm>
            <a:off x="868680" y="4251960"/>
            <a:ext cx="566928" cy="566928"/>
          </a:xfrm>
          <a:prstGeom prst="ellipse">
            <a:avLst/>
          </a:prstGeom>
          <a:solidFill>
            <a:schemeClr val="accent1"/>
          </a:solidFill>
          <a:ln/>
        </p:spPr>
      </p:sp>
      <p:pic>
        <p:nvPicPr>
          <p:cNvPr id="12017" name="Ikon circles" descr="circles">    </p:cNvPr>
          <p:cNvPicPr>
            <a:picLocks noChangeAspect="1"/>
          </p:cNvPicPr>
          <p:nvPr/>
        </p:nvPicPr>
        <p:blipFill>
          <a:blip r:embed="rId4"/>
          <a:stretch>
            <a:fillRect/>
          </a:stretch>
        </p:blipFill>
        <p:spPr>
          <a:xfrm>
            <a:off x="993404" y="4376684"/>
            <a:ext cx="317480" cy="317480"/>
          </a:xfrm>
          <a:prstGeom prst="rect">
            <a:avLst/>
          </a:prstGeom>
        </p:spPr>
      </p:pic>
      <p:sp>
        <p:nvSpPr>
          <p:cNvPr id="12018" name="Text 12"/>
          <p:cNvSpPr txBox="1"/>
          <p:nvPr/>
        </p:nvSpPr>
        <p:spPr>
          <a:xfrm>
            <a:off x="868680" y="4956048"/>
            <a:ext cx="2844698" cy="105156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161 m circles</a:t>
            </a:r>
            <a:endParaRPr lang="en-US" sz="1900" dirty="0"/>
          </a:p>
          <a:p>
            <a:pPr indent="0" marL="0">
              <a:spcAft>
                <a:spcPts val="400"/>
              </a:spcAft>
              <a:buNone/>
            </a:pPr>
            <a:r>
              <a:rPr lang="en-US" sz="1400" dirty="0">
                <a:solidFill>
                  <a:schemeClr val="accent4"/>
                </a:solidFill>
              </a:rPr>
              <a:t>Around traditional and solved caches and visible physical stages – with clickable marks</a:t>
            </a:r>
            <a:endParaRPr lang="en-US" sz="1900" dirty="0"/>
          </a:p>
        </p:txBody>
      </p:sp>
      <p:sp>
        <p:nvSpPr>
          <p:cNvPr id="12019" name="Kort Hjem, posisjon og Street View"/>
          <p:cNvSpPr/>
          <p:nvPr/>
        </p:nvSpPr>
        <p:spPr>
          <a:xfrm>
            <a:off x="4353458" y="3931920"/>
            <a:ext cx="3484778" cy="2240280"/>
          </a:xfrm>
          <a:prstGeom prst="roundRect">
            <a:avLst>
              <a:gd name="adj" fmla="val 4898"/>
            </a:avLst>
          </a:prstGeom>
          <a:solidFill>
            <a:schemeClr val="bg2"/>
          </a:solidFill>
          <a:ln/>
        </p:spPr>
      </p:sp>
      <p:sp>
        <p:nvSpPr>
          <p:cNvPr id="12020" name="Ikon home sirkel"/>
          <p:cNvSpPr/>
          <p:nvPr/>
        </p:nvSpPr>
        <p:spPr>
          <a:xfrm>
            <a:off x="4673498" y="4251960"/>
            <a:ext cx="566928" cy="566928"/>
          </a:xfrm>
          <a:prstGeom prst="ellipse">
            <a:avLst/>
          </a:prstGeom>
          <a:solidFill>
            <a:schemeClr val="accent1"/>
          </a:solidFill>
          <a:ln/>
        </p:spPr>
      </p:sp>
      <p:pic>
        <p:nvPicPr>
          <p:cNvPr id="12021" name="Ikon home" descr="home">    </p:cNvPr>
          <p:cNvPicPr>
            <a:picLocks noChangeAspect="1"/>
          </p:cNvPicPr>
          <p:nvPr/>
        </p:nvPicPr>
        <p:blipFill>
          <a:blip r:embed="rId5"/>
          <a:stretch>
            <a:fillRect/>
          </a:stretch>
        </p:blipFill>
        <p:spPr>
          <a:xfrm>
            <a:off x="4798223" y="4376684"/>
            <a:ext cx="317480" cy="317480"/>
          </a:xfrm>
          <a:prstGeom prst="rect">
            <a:avLst/>
          </a:prstGeom>
        </p:spPr>
      </p:pic>
      <p:sp>
        <p:nvSpPr>
          <p:cNvPr id="12022" name="Text 15"/>
          <p:cNvSpPr txBox="1"/>
          <p:nvPr/>
        </p:nvSpPr>
        <p:spPr>
          <a:xfrm>
            <a:off x="4673498" y="4956048"/>
            <a:ext cx="2844698" cy="105156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Home, location, Street View</a:t>
            </a:r>
            <a:endParaRPr lang="en-US" sz="1900" dirty="0"/>
          </a:p>
          <a:p>
            <a:pPr indent="0" marL="0">
              <a:spcAft>
                <a:spcPts val="400"/>
              </a:spcAft>
              <a:buNone/>
            </a:pPr>
            <a:r>
              <a:rPr lang="en-US" sz="1400" dirty="0">
                <a:solidFill>
                  <a:schemeClr val="accent4"/>
                </a:solidFill>
              </a:rPr>
              <a:t>Go home or to your location, and open Street View from the right-click menu</a:t>
            </a:r>
            <a:endParaRPr lang="en-US" sz="1900" dirty="0"/>
          </a:p>
        </p:txBody>
      </p:sp>
      <p:sp>
        <p:nvSpPr>
          <p:cNvPr id="12023" name="Kort Nyhet: ruter til GPS'en"/>
          <p:cNvSpPr/>
          <p:nvPr/>
        </p:nvSpPr>
        <p:spPr>
          <a:xfrm>
            <a:off x="8158277" y="3931920"/>
            <a:ext cx="3484778" cy="2240280"/>
          </a:xfrm>
          <a:prstGeom prst="roundRect">
            <a:avLst>
              <a:gd name="adj" fmla="val 4898"/>
            </a:avLst>
          </a:prstGeom>
          <a:solidFill>
            <a:schemeClr val="bg2"/>
          </a:solidFill>
          <a:ln/>
        </p:spPr>
      </p:sp>
      <p:sp>
        <p:nvSpPr>
          <p:cNvPr id="12024" name="Ikon route sirkel"/>
          <p:cNvSpPr/>
          <p:nvPr/>
        </p:nvSpPr>
        <p:spPr>
          <a:xfrm>
            <a:off x="8478317" y="4251960"/>
            <a:ext cx="566928" cy="566928"/>
          </a:xfrm>
          <a:prstGeom prst="ellipse">
            <a:avLst/>
          </a:prstGeom>
          <a:solidFill>
            <a:schemeClr val="accent1"/>
          </a:solidFill>
          <a:ln/>
        </p:spPr>
      </p:sp>
      <p:pic>
        <p:nvPicPr>
          <p:cNvPr id="12025" name="Ikon route" descr="route">    </p:cNvPr>
          <p:cNvPicPr>
            <a:picLocks noChangeAspect="1"/>
          </p:cNvPicPr>
          <p:nvPr/>
        </p:nvPicPr>
        <p:blipFill>
          <a:blip r:embed="rId6"/>
          <a:stretch>
            <a:fillRect/>
          </a:stretch>
        </p:blipFill>
        <p:spPr>
          <a:xfrm>
            <a:off x="8603041" y="4376684"/>
            <a:ext cx="317480" cy="317480"/>
          </a:xfrm>
          <a:prstGeom prst="rect">
            <a:avLst/>
          </a:prstGeom>
        </p:spPr>
      </p:pic>
      <p:sp>
        <p:nvSpPr>
          <p:cNvPr id="12026" name="Text 18"/>
          <p:cNvSpPr txBox="1"/>
          <p:nvPr/>
        </p:nvSpPr>
        <p:spPr>
          <a:xfrm>
            <a:off x="8478317" y="4956048"/>
            <a:ext cx="2844698" cy="105156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New: routes for your GPS</a:t>
            </a:r>
            <a:endParaRPr lang="en-US" sz="1900" dirty="0"/>
          </a:p>
          <a:p>
            <a:pPr indent="0" marL="0">
              <a:spcAft>
                <a:spcPts val="400"/>
              </a:spcAft>
              <a:buNone/>
            </a:pPr>
            <a:r>
              <a:rPr lang="en-US" sz="1400" dirty="0">
                <a:solidFill>
                  <a:schemeClr val="accent4"/>
                </a:solidFill>
              </a:rPr>
              <a:t>Pick caches and pins from a list or on the map, preview and download as a GPX route</a:t>
            </a:r>
            <a:endParaRPr lang="en-US" sz="1900" dirty="0"/>
          </a:p>
        </p:txBody>
      </p:sp>
      <p:sp>
        <p:nvSpPr>
          <p:cNvPr id="1202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3001" name=""/>
        <p:cNvGrpSpPr/>
        <p:nvPr/>
      </p:nvGrpSpPr>
      <p:grpSpPr>
        <a:xfrm>
          <a:off x="0" y="0"/>
          <a:ext cx="0" cy="0"/>
          <a:chOff x="0" y="0"/>
          <a:chExt cx="0" cy="0"/>
        </a:xfrm>
      </p:grpSpPr>
      <p:sp>
        <p:nvSpPr>
          <p:cNvPr id="1300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One toolbar instead of many buttons</a:t>
            </a:r>
            <a:endParaRPr lang="en-US" sz="3600" dirty="0"/>
          </a:p>
        </p:txBody>
      </p:sp>
      <p:sp>
        <p:nvSpPr>
          <p:cNvPr id="13003" name="Verktøylinjen bakgrunn"/>
          <p:cNvSpPr/>
          <p:nvPr/>
        </p:nvSpPr>
        <p:spPr>
          <a:xfrm>
            <a:off x="548640" y="1371600"/>
            <a:ext cx="1463040" cy="4846320"/>
          </a:xfrm>
          <a:prstGeom prst="roundRect">
            <a:avLst>
              <a:gd name="adj" fmla="val 7500"/>
            </a:avLst>
          </a:prstGeom>
          <a:solidFill>
            <a:schemeClr val="bg2"/>
          </a:solidFill>
          <a:ln/>
        </p:spPr>
      </p:sp>
      <p:pic>
        <p:nvPicPr>
          <p:cNvPr id="13004" name="Verktøylinjen" descr="The toolbar">    </p:cNvPr>
          <p:cNvPicPr>
            <a:picLocks noChangeAspect="1"/>
          </p:cNvPicPr>
          <p:nvPr/>
        </p:nvPicPr>
        <p:blipFill>
          <a:blip r:embed="rId1"/>
          <a:stretch>
            <a:fillRect/>
          </a:stretch>
        </p:blipFill>
        <p:spPr>
          <a:xfrm>
            <a:off x="1115568" y="1572768"/>
            <a:ext cx="329184" cy="4443984"/>
          </a:xfrm>
          <a:prstGeom prst="rect">
            <a:avLst/>
          </a:prstGeom>
        </p:spPr>
      </p:pic>
      <p:sp>
        <p:nvSpPr>
          <p:cNvPr id="13005" name="Ikon layers sirkel"/>
          <p:cNvSpPr/>
          <p:nvPr/>
        </p:nvSpPr>
        <p:spPr>
          <a:xfrm>
            <a:off x="2514600" y="1408176"/>
            <a:ext cx="512064" cy="512064"/>
          </a:xfrm>
          <a:prstGeom prst="ellipse">
            <a:avLst/>
          </a:prstGeom>
          <a:solidFill>
            <a:schemeClr val="accent1"/>
          </a:solidFill>
          <a:ln/>
        </p:spPr>
      </p:sp>
      <p:pic>
        <p:nvPicPr>
          <p:cNvPr id="13006" name="Ikon layers" descr="layers">    </p:cNvPr>
          <p:cNvPicPr>
            <a:picLocks noChangeAspect="1"/>
          </p:cNvPicPr>
          <p:nvPr/>
        </p:nvPicPr>
        <p:blipFill>
          <a:blip r:embed="rId2"/>
          <a:stretch>
            <a:fillRect/>
          </a:stretch>
        </p:blipFill>
        <p:spPr>
          <a:xfrm>
            <a:off x="2627254" y="1520830"/>
            <a:ext cx="286756" cy="286756"/>
          </a:xfrm>
          <a:prstGeom prst="rect">
            <a:avLst/>
          </a:prstGeom>
        </p:spPr>
      </p:pic>
      <p:sp>
        <p:nvSpPr>
          <p:cNvPr id="13007" name="Text 3"/>
          <p:cNvSpPr txBox="1"/>
          <p:nvPr/>
        </p:nvSpPr>
        <p:spPr>
          <a:xfrm>
            <a:off x="3227832" y="1335024"/>
            <a:ext cx="3493008" cy="57607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Map layers</a:t>
            </a:r>
            <a:endParaRPr lang="en-US" sz="1700" dirty="0"/>
          </a:p>
          <a:p>
            <a:pPr indent="0" marL="0">
              <a:spcAft>
                <a:spcPts val="200"/>
              </a:spcAft>
              <a:buNone/>
            </a:pPr>
            <a:r>
              <a:rPr lang="en-US" sz="1400" dirty="0">
                <a:solidFill>
                  <a:schemeClr val="accent4"/>
                </a:solidFill>
              </a:rPr>
              <a:t>Choose background map and overlays</a:t>
            </a:r>
            <a:endParaRPr lang="en-US" sz="1700" dirty="0"/>
          </a:p>
        </p:txBody>
      </p:sp>
      <p:sp>
        <p:nvSpPr>
          <p:cNvPr id="13008" name="Ikon search sirkel"/>
          <p:cNvSpPr/>
          <p:nvPr/>
        </p:nvSpPr>
        <p:spPr>
          <a:xfrm>
            <a:off x="2514600" y="2029968"/>
            <a:ext cx="512064" cy="512064"/>
          </a:xfrm>
          <a:prstGeom prst="ellipse">
            <a:avLst/>
          </a:prstGeom>
          <a:solidFill>
            <a:schemeClr val="accent1"/>
          </a:solidFill>
          <a:ln/>
        </p:spPr>
      </p:sp>
      <p:pic>
        <p:nvPicPr>
          <p:cNvPr id="13009" name="Ikon search" descr="search">    </p:cNvPr>
          <p:cNvPicPr>
            <a:picLocks noChangeAspect="1"/>
          </p:cNvPicPr>
          <p:nvPr/>
        </p:nvPicPr>
        <p:blipFill>
          <a:blip r:embed="rId3"/>
          <a:stretch>
            <a:fillRect/>
          </a:stretch>
        </p:blipFill>
        <p:spPr>
          <a:xfrm>
            <a:off x="2627254" y="2142622"/>
            <a:ext cx="286756" cy="286756"/>
          </a:xfrm>
          <a:prstGeom prst="rect">
            <a:avLst/>
          </a:prstGeom>
        </p:spPr>
      </p:pic>
      <p:sp>
        <p:nvSpPr>
          <p:cNvPr id="13010" name="Text 5"/>
          <p:cNvSpPr txBox="1"/>
          <p:nvPr/>
        </p:nvSpPr>
        <p:spPr>
          <a:xfrm>
            <a:off x="3227832" y="1956816"/>
            <a:ext cx="3493008" cy="57607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Find a place</a:t>
            </a:r>
            <a:endParaRPr lang="en-US" sz="1700" dirty="0"/>
          </a:p>
          <a:p>
            <a:pPr indent="0" marL="0">
              <a:spcAft>
                <a:spcPts val="200"/>
              </a:spcAft>
              <a:buNone/>
            </a:pPr>
            <a:r>
              <a:rPr lang="en-US" sz="1400" dirty="0">
                <a:solidFill>
                  <a:schemeClr val="accent4"/>
                </a:solidFill>
              </a:rPr>
              <a:t>Shortcut: press / on the map</a:t>
            </a:r>
            <a:endParaRPr lang="en-US" sz="1700" dirty="0"/>
          </a:p>
        </p:txBody>
      </p:sp>
      <p:sp>
        <p:nvSpPr>
          <p:cNvPr id="13011" name="Ikon ruler sirkel"/>
          <p:cNvSpPr/>
          <p:nvPr/>
        </p:nvSpPr>
        <p:spPr>
          <a:xfrm>
            <a:off x="2514600" y="2651760"/>
            <a:ext cx="512064" cy="512064"/>
          </a:xfrm>
          <a:prstGeom prst="ellipse">
            <a:avLst/>
          </a:prstGeom>
          <a:solidFill>
            <a:schemeClr val="accent1"/>
          </a:solidFill>
          <a:ln/>
        </p:spPr>
      </p:sp>
      <p:pic>
        <p:nvPicPr>
          <p:cNvPr id="13012" name="Ikon ruler" descr="ruler">    </p:cNvPr>
          <p:cNvPicPr>
            <a:picLocks noChangeAspect="1"/>
          </p:cNvPicPr>
          <p:nvPr/>
        </p:nvPicPr>
        <p:blipFill>
          <a:blip r:embed="rId4"/>
          <a:stretch>
            <a:fillRect/>
          </a:stretch>
        </p:blipFill>
        <p:spPr>
          <a:xfrm>
            <a:off x="2627254" y="2764414"/>
            <a:ext cx="286756" cy="286756"/>
          </a:xfrm>
          <a:prstGeom prst="rect">
            <a:avLst/>
          </a:prstGeom>
        </p:spPr>
      </p:pic>
      <p:sp>
        <p:nvSpPr>
          <p:cNvPr id="13013" name="Text 7"/>
          <p:cNvSpPr txBox="1"/>
          <p:nvPr/>
        </p:nvSpPr>
        <p:spPr>
          <a:xfrm>
            <a:off x="3227832" y="2578608"/>
            <a:ext cx="3493008" cy="57607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Measure</a:t>
            </a:r>
            <a:endParaRPr lang="en-US" sz="1700" dirty="0"/>
          </a:p>
          <a:p>
            <a:pPr indent="0" marL="0">
              <a:spcAft>
                <a:spcPts val="200"/>
              </a:spcAft>
              <a:buNone/>
            </a:pPr>
            <a:r>
              <a:rPr lang="en-US" sz="1400" dirty="0">
                <a:solidFill>
                  <a:schemeClr val="accent4"/>
                </a:solidFill>
              </a:rPr>
              <a:t>Distance and bearing between points</a:t>
            </a:r>
            <a:endParaRPr lang="en-US" sz="1700" dirty="0"/>
          </a:p>
        </p:txBody>
      </p:sp>
      <p:sp>
        <p:nvSpPr>
          <p:cNvPr id="13014" name="Ikon route sirkel"/>
          <p:cNvSpPr/>
          <p:nvPr/>
        </p:nvSpPr>
        <p:spPr>
          <a:xfrm>
            <a:off x="2514600" y="3273552"/>
            <a:ext cx="512064" cy="512064"/>
          </a:xfrm>
          <a:prstGeom prst="ellipse">
            <a:avLst/>
          </a:prstGeom>
          <a:solidFill>
            <a:schemeClr val="accent1"/>
          </a:solidFill>
          <a:ln/>
        </p:spPr>
      </p:sp>
      <p:pic>
        <p:nvPicPr>
          <p:cNvPr id="13015" name="Ikon route" descr="route">    </p:cNvPr>
          <p:cNvPicPr>
            <a:picLocks noChangeAspect="1"/>
          </p:cNvPicPr>
          <p:nvPr/>
        </p:nvPicPr>
        <p:blipFill>
          <a:blip r:embed="rId5"/>
          <a:stretch>
            <a:fillRect/>
          </a:stretch>
        </p:blipFill>
        <p:spPr>
          <a:xfrm>
            <a:off x="2627254" y="3386206"/>
            <a:ext cx="286756" cy="286756"/>
          </a:xfrm>
          <a:prstGeom prst="rect">
            <a:avLst/>
          </a:prstGeom>
        </p:spPr>
      </p:pic>
      <p:sp>
        <p:nvSpPr>
          <p:cNvPr id="13016" name="Text 9"/>
          <p:cNvSpPr txBox="1"/>
          <p:nvPr/>
        </p:nvSpPr>
        <p:spPr>
          <a:xfrm>
            <a:off x="3227832" y="3200400"/>
            <a:ext cx="3493008" cy="57607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Route</a:t>
            </a:r>
            <a:endParaRPr lang="en-US" sz="1700" dirty="0"/>
          </a:p>
          <a:p>
            <a:pPr indent="0" marL="0">
              <a:spcAft>
                <a:spcPts val="200"/>
              </a:spcAft>
              <a:buNone/>
            </a:pPr>
            <a:r>
              <a:rPr lang="en-US" sz="1400" dirty="0">
                <a:solidFill>
                  <a:schemeClr val="accent4"/>
                </a:solidFill>
              </a:rPr>
              <a:t>Build a route and download it as GPX</a:t>
            </a:r>
            <a:endParaRPr lang="en-US" sz="1700" dirty="0"/>
          </a:p>
        </p:txBody>
      </p:sp>
      <p:sp>
        <p:nvSpPr>
          <p:cNvPr id="13017" name="Ikon list sirkel"/>
          <p:cNvSpPr/>
          <p:nvPr/>
        </p:nvSpPr>
        <p:spPr>
          <a:xfrm>
            <a:off x="2514600" y="3895344"/>
            <a:ext cx="512064" cy="512064"/>
          </a:xfrm>
          <a:prstGeom prst="ellipse">
            <a:avLst/>
          </a:prstGeom>
          <a:solidFill>
            <a:schemeClr val="accent1"/>
          </a:solidFill>
          <a:ln/>
        </p:spPr>
      </p:sp>
      <p:pic>
        <p:nvPicPr>
          <p:cNvPr id="13018" name="Ikon list" descr="list">    </p:cNvPr>
          <p:cNvPicPr>
            <a:picLocks noChangeAspect="1"/>
          </p:cNvPicPr>
          <p:nvPr/>
        </p:nvPicPr>
        <p:blipFill>
          <a:blip r:embed="rId6"/>
          <a:stretch>
            <a:fillRect/>
          </a:stretch>
        </p:blipFill>
        <p:spPr>
          <a:xfrm>
            <a:off x="2627254" y="4007998"/>
            <a:ext cx="286756" cy="286756"/>
          </a:xfrm>
          <a:prstGeom prst="rect">
            <a:avLst/>
          </a:prstGeom>
        </p:spPr>
      </p:pic>
      <p:sp>
        <p:nvSpPr>
          <p:cNvPr id="13019" name="Text 11"/>
          <p:cNvSpPr txBox="1"/>
          <p:nvPr/>
        </p:nvSpPr>
        <p:spPr>
          <a:xfrm>
            <a:off x="3227832" y="3822192"/>
            <a:ext cx="3493008" cy="57607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Geocaches on the map</a:t>
            </a:r>
            <a:endParaRPr lang="en-US" sz="1700" dirty="0"/>
          </a:p>
          <a:p>
            <a:pPr indent="0" marL="0">
              <a:spcAft>
                <a:spcPts val="200"/>
              </a:spcAft>
              <a:buNone/>
            </a:pPr>
            <a:r>
              <a:rPr lang="en-US" sz="1400" dirty="0">
                <a:solidFill>
                  <a:schemeClr val="accent4"/>
                </a:solidFill>
              </a:rPr>
              <a:t>A list that follows the map (/map)</a:t>
            </a:r>
            <a:endParaRPr lang="en-US" sz="1700" dirty="0"/>
          </a:p>
        </p:txBody>
      </p:sp>
      <p:sp>
        <p:nvSpPr>
          <p:cNvPr id="13020" name="Ikon circles sirkel"/>
          <p:cNvSpPr/>
          <p:nvPr/>
        </p:nvSpPr>
        <p:spPr>
          <a:xfrm>
            <a:off x="2514600" y="4517136"/>
            <a:ext cx="512064" cy="512064"/>
          </a:xfrm>
          <a:prstGeom prst="ellipse">
            <a:avLst/>
          </a:prstGeom>
          <a:solidFill>
            <a:schemeClr val="accent1"/>
          </a:solidFill>
          <a:ln/>
        </p:spPr>
      </p:sp>
      <p:pic>
        <p:nvPicPr>
          <p:cNvPr id="13021" name="Ikon circles" descr="circles">    </p:cNvPr>
          <p:cNvPicPr>
            <a:picLocks noChangeAspect="1"/>
          </p:cNvPicPr>
          <p:nvPr/>
        </p:nvPicPr>
        <p:blipFill>
          <a:blip r:embed="rId7"/>
          <a:stretch>
            <a:fillRect/>
          </a:stretch>
        </p:blipFill>
        <p:spPr>
          <a:xfrm>
            <a:off x="2627254" y="4629790"/>
            <a:ext cx="286756" cy="286756"/>
          </a:xfrm>
          <a:prstGeom prst="rect">
            <a:avLst/>
          </a:prstGeom>
        </p:spPr>
      </p:pic>
      <p:sp>
        <p:nvSpPr>
          <p:cNvPr id="13022" name="Text 13"/>
          <p:cNvSpPr txBox="1"/>
          <p:nvPr/>
        </p:nvSpPr>
        <p:spPr>
          <a:xfrm>
            <a:off x="3227832" y="4443984"/>
            <a:ext cx="3493008" cy="57607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161 m circles</a:t>
            </a:r>
            <a:endParaRPr lang="en-US" sz="1700" dirty="0"/>
          </a:p>
          <a:p>
            <a:pPr indent="0" marL="0">
              <a:spcAft>
                <a:spcPts val="200"/>
              </a:spcAft>
              <a:buNone/>
            </a:pPr>
            <a:r>
              <a:rPr lang="en-US" sz="1400" dirty="0">
                <a:solidFill>
                  <a:schemeClr val="accent4"/>
                </a:solidFill>
              </a:rPr>
              <a:t>Where something is placed – from zoom 15</a:t>
            </a:r>
            <a:endParaRPr lang="en-US" sz="1700" dirty="0"/>
          </a:p>
        </p:txBody>
      </p:sp>
      <p:sp>
        <p:nvSpPr>
          <p:cNvPr id="13023" name="Ikon solved sirkel"/>
          <p:cNvSpPr/>
          <p:nvPr/>
        </p:nvSpPr>
        <p:spPr>
          <a:xfrm>
            <a:off x="2514600" y="5138928"/>
            <a:ext cx="512064" cy="512064"/>
          </a:xfrm>
          <a:prstGeom prst="ellipse">
            <a:avLst/>
          </a:prstGeom>
          <a:solidFill>
            <a:schemeClr val="accent1"/>
          </a:solidFill>
          <a:ln/>
        </p:spPr>
      </p:sp>
      <p:pic>
        <p:nvPicPr>
          <p:cNvPr id="13024" name="Ikon solved" descr="solved">    </p:cNvPr>
          <p:cNvPicPr>
            <a:picLocks noChangeAspect="1"/>
          </p:cNvPicPr>
          <p:nvPr/>
        </p:nvPicPr>
        <p:blipFill>
          <a:blip r:embed="rId8"/>
          <a:stretch>
            <a:fillRect/>
          </a:stretch>
        </p:blipFill>
        <p:spPr>
          <a:xfrm>
            <a:off x="2627254" y="5251582"/>
            <a:ext cx="286756" cy="286756"/>
          </a:xfrm>
          <a:prstGeom prst="rect">
            <a:avLst/>
          </a:prstGeom>
        </p:spPr>
      </p:pic>
      <p:sp>
        <p:nvSpPr>
          <p:cNvPr id="13025" name="Text 15"/>
          <p:cNvSpPr txBox="1"/>
          <p:nvPr/>
        </p:nvSpPr>
        <p:spPr>
          <a:xfrm>
            <a:off x="3227832" y="5065776"/>
            <a:ext cx="3493008" cy="57607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Marks</a:t>
            </a:r>
            <a:endParaRPr lang="en-US" sz="1700" dirty="0"/>
          </a:p>
          <a:p>
            <a:pPr indent="0" marL="0">
              <a:spcAft>
                <a:spcPts val="200"/>
              </a:spcAft>
              <a:buNone/>
            </a:pPr>
            <a:r>
              <a:rPr lang="en-US" sz="1400" dirty="0">
                <a:solidFill>
                  <a:schemeClr val="accent4"/>
                </a:solidFill>
              </a:rPr>
              <a:t>Solved caches, also without circles</a:t>
            </a:r>
            <a:endParaRPr lang="en-US" sz="1700" dirty="0"/>
          </a:p>
        </p:txBody>
      </p:sp>
      <p:sp>
        <p:nvSpPr>
          <p:cNvPr id="13026" name="Ikon heart sirkel"/>
          <p:cNvSpPr/>
          <p:nvPr/>
        </p:nvSpPr>
        <p:spPr>
          <a:xfrm>
            <a:off x="2514600" y="5760720"/>
            <a:ext cx="512064" cy="512064"/>
          </a:xfrm>
          <a:prstGeom prst="ellipse">
            <a:avLst/>
          </a:prstGeom>
          <a:solidFill>
            <a:schemeClr val="accent1"/>
          </a:solidFill>
          <a:ln/>
        </p:spPr>
      </p:sp>
      <p:pic>
        <p:nvPicPr>
          <p:cNvPr id="13027" name="Ikon heart" descr="heart">    </p:cNvPr>
          <p:cNvPicPr>
            <a:picLocks noChangeAspect="1"/>
          </p:cNvPicPr>
          <p:nvPr/>
        </p:nvPicPr>
        <p:blipFill>
          <a:blip r:embed="rId9"/>
          <a:stretch>
            <a:fillRect/>
          </a:stretch>
        </p:blipFill>
        <p:spPr>
          <a:xfrm>
            <a:off x="2627254" y="5873374"/>
            <a:ext cx="286756" cy="286756"/>
          </a:xfrm>
          <a:prstGeom prst="rect">
            <a:avLst/>
          </a:prstGeom>
        </p:spPr>
      </p:pic>
      <p:sp>
        <p:nvSpPr>
          <p:cNvPr id="13028" name="Text 17"/>
          <p:cNvSpPr txBox="1"/>
          <p:nvPr/>
        </p:nvSpPr>
        <p:spPr>
          <a:xfrm>
            <a:off x="3227832" y="5687568"/>
            <a:ext cx="3493008" cy="57607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Favourite points</a:t>
            </a:r>
            <a:endParaRPr lang="en-US" sz="1700" dirty="0"/>
          </a:p>
          <a:p>
            <a:pPr indent="0" marL="0">
              <a:spcAft>
                <a:spcPts val="200"/>
              </a:spcAft>
              <a:buNone/>
            </a:pPr>
            <a:r>
              <a:rPr lang="en-US" sz="1400" dirty="0">
                <a:solidFill>
                  <a:schemeClr val="accent4"/>
                </a:solidFill>
              </a:rPr>
              <a:t>♥ and the count above the caches – on/off</a:t>
            </a:r>
            <a:endParaRPr lang="en-US" sz="1700" dirty="0"/>
          </a:p>
        </p:txBody>
      </p:sp>
      <p:sp>
        <p:nvSpPr>
          <p:cNvPr id="13029" name="Ikon dt sirkel"/>
          <p:cNvSpPr/>
          <p:nvPr/>
        </p:nvSpPr>
        <p:spPr>
          <a:xfrm>
            <a:off x="7086600" y="1408176"/>
            <a:ext cx="512064" cy="512064"/>
          </a:xfrm>
          <a:prstGeom prst="ellipse">
            <a:avLst/>
          </a:prstGeom>
          <a:solidFill>
            <a:schemeClr val="accent1"/>
          </a:solidFill>
          <a:ln/>
        </p:spPr>
      </p:sp>
      <p:pic>
        <p:nvPicPr>
          <p:cNvPr id="13030" name="Ikon dt" descr="dt">    </p:cNvPr>
          <p:cNvPicPr>
            <a:picLocks noChangeAspect="1"/>
          </p:cNvPicPr>
          <p:nvPr/>
        </p:nvPicPr>
        <p:blipFill>
          <a:blip r:embed="rId10"/>
          <a:stretch>
            <a:fillRect/>
          </a:stretch>
        </p:blipFill>
        <p:spPr>
          <a:xfrm>
            <a:off x="7199254" y="1520830"/>
            <a:ext cx="286756" cy="286756"/>
          </a:xfrm>
          <a:prstGeom prst="rect">
            <a:avLst/>
          </a:prstGeom>
        </p:spPr>
      </p:pic>
      <p:sp>
        <p:nvSpPr>
          <p:cNvPr id="13031" name="Text 19"/>
          <p:cNvSpPr txBox="1"/>
          <p:nvPr/>
        </p:nvSpPr>
        <p:spPr>
          <a:xfrm>
            <a:off x="7799832" y="1335024"/>
            <a:ext cx="3767328" cy="57607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D/T</a:t>
            </a:r>
            <a:endParaRPr lang="en-US" sz="1700" dirty="0"/>
          </a:p>
          <a:p>
            <a:pPr indent="0" marL="0">
              <a:spcAft>
                <a:spcPts val="200"/>
              </a:spcAft>
              <a:buNone/>
            </a:pPr>
            <a:r>
              <a:rPr lang="en-US" sz="1400" dirty="0">
                <a:solidFill>
                  <a:schemeClr val="accent4"/>
                </a:solidFill>
              </a:rPr>
              <a:t>Difficulty/terrain below the caches – on/off</a:t>
            </a:r>
            <a:endParaRPr lang="en-US" sz="1700" dirty="0"/>
          </a:p>
        </p:txBody>
      </p:sp>
      <p:sp>
        <p:nvSpPr>
          <p:cNvPr id="13032" name="Ikon eyeoff sirkel"/>
          <p:cNvSpPr/>
          <p:nvPr/>
        </p:nvSpPr>
        <p:spPr>
          <a:xfrm>
            <a:off x="7086600" y="2029968"/>
            <a:ext cx="512064" cy="512064"/>
          </a:xfrm>
          <a:prstGeom prst="ellipse">
            <a:avLst/>
          </a:prstGeom>
          <a:solidFill>
            <a:schemeClr val="accent1"/>
          </a:solidFill>
          <a:ln/>
        </p:spPr>
      </p:sp>
      <p:pic>
        <p:nvPicPr>
          <p:cNvPr id="13033" name="Ikon eyeoff" descr="eyeoff">    </p:cNvPr>
          <p:cNvPicPr>
            <a:picLocks noChangeAspect="1"/>
          </p:cNvPicPr>
          <p:nvPr/>
        </p:nvPicPr>
        <p:blipFill>
          <a:blip r:embed="rId11"/>
          <a:stretch>
            <a:fillRect/>
          </a:stretch>
        </p:blipFill>
        <p:spPr>
          <a:xfrm>
            <a:off x="7199254" y="2142622"/>
            <a:ext cx="286756" cy="286756"/>
          </a:xfrm>
          <a:prstGeom prst="rect">
            <a:avLst/>
          </a:prstGeom>
        </p:spPr>
      </p:pic>
      <p:sp>
        <p:nvSpPr>
          <p:cNvPr id="13034" name="Text 21"/>
          <p:cNvSpPr txBox="1"/>
          <p:nvPr/>
        </p:nvSpPr>
        <p:spPr>
          <a:xfrm>
            <a:off x="7799832" y="1956816"/>
            <a:ext cx="3767328" cy="57607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Hide geocaches</a:t>
            </a:r>
            <a:endParaRPr lang="en-US" sz="1700" dirty="0"/>
          </a:p>
          <a:p>
            <a:pPr indent="0" marL="0">
              <a:spcAft>
                <a:spcPts val="200"/>
              </a:spcAft>
              <a:buNone/>
            </a:pPr>
            <a:r>
              <a:rPr lang="en-US" sz="1400" dirty="0">
                <a:solidFill>
                  <a:schemeClr val="accent4"/>
                </a:solidFill>
              </a:rPr>
              <a:t>A clean map – click again to show them</a:t>
            </a:r>
            <a:endParaRPr lang="en-US" sz="1700" dirty="0"/>
          </a:p>
        </p:txBody>
      </p:sp>
      <p:sp>
        <p:nvSpPr>
          <p:cNvPr id="13035" name="Ikon locate sirkel"/>
          <p:cNvSpPr/>
          <p:nvPr/>
        </p:nvSpPr>
        <p:spPr>
          <a:xfrm>
            <a:off x="7086600" y="2651760"/>
            <a:ext cx="512064" cy="512064"/>
          </a:xfrm>
          <a:prstGeom prst="ellipse">
            <a:avLst/>
          </a:prstGeom>
          <a:solidFill>
            <a:schemeClr val="accent1"/>
          </a:solidFill>
          <a:ln/>
        </p:spPr>
      </p:sp>
      <p:pic>
        <p:nvPicPr>
          <p:cNvPr id="13036" name="Ikon locate" descr="locate">    </p:cNvPr>
          <p:cNvPicPr>
            <a:picLocks noChangeAspect="1"/>
          </p:cNvPicPr>
          <p:nvPr/>
        </p:nvPicPr>
        <p:blipFill>
          <a:blip r:embed="rId12"/>
          <a:stretch>
            <a:fillRect/>
          </a:stretch>
        </p:blipFill>
        <p:spPr>
          <a:xfrm>
            <a:off x="7199254" y="2764414"/>
            <a:ext cx="286756" cy="286756"/>
          </a:xfrm>
          <a:prstGeom prst="rect">
            <a:avLst/>
          </a:prstGeom>
        </p:spPr>
      </p:pic>
      <p:sp>
        <p:nvSpPr>
          <p:cNvPr id="13037" name="Text 23"/>
          <p:cNvSpPr txBox="1"/>
          <p:nvPr/>
        </p:nvSpPr>
        <p:spPr>
          <a:xfrm>
            <a:off x="7799832" y="2578608"/>
            <a:ext cx="3767328" cy="57607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My location</a:t>
            </a:r>
            <a:endParaRPr lang="en-US" sz="1700" dirty="0"/>
          </a:p>
          <a:p>
            <a:pPr indent="0" marL="0">
              <a:spcAft>
                <a:spcPts val="200"/>
              </a:spcAft>
              <a:buNone/>
            </a:pPr>
            <a:r>
              <a:rPr lang="en-US" sz="1400" dirty="0">
                <a:solidFill>
                  <a:schemeClr val="accent4"/>
                </a:solidFill>
              </a:rPr>
              <a:t>With an accuracy circle</a:t>
            </a:r>
            <a:endParaRPr lang="en-US" sz="1700" dirty="0"/>
          </a:p>
        </p:txBody>
      </p:sp>
      <p:sp>
        <p:nvSpPr>
          <p:cNvPr id="13038" name="Ikon home sirkel"/>
          <p:cNvSpPr/>
          <p:nvPr/>
        </p:nvSpPr>
        <p:spPr>
          <a:xfrm>
            <a:off x="7086600" y="3273552"/>
            <a:ext cx="512064" cy="512064"/>
          </a:xfrm>
          <a:prstGeom prst="ellipse">
            <a:avLst/>
          </a:prstGeom>
          <a:solidFill>
            <a:schemeClr val="accent1"/>
          </a:solidFill>
          <a:ln/>
        </p:spPr>
      </p:sp>
      <p:pic>
        <p:nvPicPr>
          <p:cNvPr id="13039" name="Ikon home" descr="home">    </p:cNvPr>
          <p:cNvPicPr>
            <a:picLocks noChangeAspect="1"/>
          </p:cNvPicPr>
          <p:nvPr/>
        </p:nvPicPr>
        <p:blipFill>
          <a:blip r:embed="rId13"/>
          <a:stretch>
            <a:fillRect/>
          </a:stretch>
        </p:blipFill>
        <p:spPr>
          <a:xfrm>
            <a:off x="7199254" y="3386206"/>
            <a:ext cx="286756" cy="286756"/>
          </a:xfrm>
          <a:prstGeom prst="rect">
            <a:avLst/>
          </a:prstGeom>
        </p:spPr>
      </p:pic>
      <p:sp>
        <p:nvSpPr>
          <p:cNvPr id="13040" name="Text 25"/>
          <p:cNvSpPr txBox="1"/>
          <p:nvPr/>
        </p:nvSpPr>
        <p:spPr>
          <a:xfrm>
            <a:off x="7799832" y="3200400"/>
            <a:ext cx="3767328" cy="57607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Home</a:t>
            </a:r>
            <a:endParaRPr lang="en-US" sz="1700" dirty="0"/>
          </a:p>
          <a:p>
            <a:pPr indent="0" marL="0">
              <a:spcAft>
                <a:spcPts val="200"/>
              </a:spcAft>
              <a:buNone/>
            </a:pPr>
            <a:r>
              <a:rPr lang="en-US" sz="1400" dirty="0">
                <a:solidFill>
                  <a:schemeClr val="accent4"/>
                </a:solidFill>
              </a:rPr>
              <a:t>Right-click to change the address</a:t>
            </a:r>
            <a:endParaRPr lang="en-US" sz="1700" dirty="0"/>
          </a:p>
        </p:txBody>
      </p:sp>
      <p:sp>
        <p:nvSpPr>
          <p:cNvPr id="13041" name="Ikon expand sirkel"/>
          <p:cNvSpPr/>
          <p:nvPr/>
        </p:nvSpPr>
        <p:spPr>
          <a:xfrm>
            <a:off x="7086600" y="3895344"/>
            <a:ext cx="512064" cy="512064"/>
          </a:xfrm>
          <a:prstGeom prst="ellipse">
            <a:avLst/>
          </a:prstGeom>
          <a:solidFill>
            <a:schemeClr val="accent1"/>
          </a:solidFill>
          <a:ln/>
        </p:spPr>
      </p:sp>
      <p:pic>
        <p:nvPicPr>
          <p:cNvPr id="13042" name="Ikon expand" descr="expand">    </p:cNvPr>
          <p:cNvPicPr>
            <a:picLocks noChangeAspect="1"/>
          </p:cNvPicPr>
          <p:nvPr/>
        </p:nvPicPr>
        <p:blipFill>
          <a:blip r:embed="rId14"/>
          <a:stretch>
            <a:fillRect/>
          </a:stretch>
        </p:blipFill>
        <p:spPr>
          <a:xfrm>
            <a:off x="7199254" y="4007998"/>
            <a:ext cx="286756" cy="286756"/>
          </a:xfrm>
          <a:prstGeom prst="rect">
            <a:avLst/>
          </a:prstGeom>
        </p:spPr>
      </p:pic>
      <p:sp>
        <p:nvSpPr>
          <p:cNvPr id="13043" name="Text 27"/>
          <p:cNvSpPr txBox="1"/>
          <p:nvPr/>
        </p:nvSpPr>
        <p:spPr>
          <a:xfrm>
            <a:off x="7799832" y="3822192"/>
            <a:ext cx="3767328" cy="57607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Fullscreen</a:t>
            </a:r>
            <a:endParaRPr lang="en-US" sz="1700" dirty="0"/>
          </a:p>
          <a:p>
            <a:pPr indent="0" marL="0">
              <a:spcAft>
                <a:spcPts val="200"/>
              </a:spcAft>
              <a:buNone/>
            </a:pPr>
            <a:r>
              <a:rPr lang="en-US" sz="1400" dirty="0">
                <a:solidFill>
                  <a:schemeClr val="accent4"/>
                </a:solidFill>
              </a:rPr>
              <a:t>The map fills the whole screen</a:t>
            </a:r>
            <a:endParaRPr lang="en-US" sz="1700" dirty="0"/>
          </a:p>
        </p:txBody>
      </p:sp>
      <p:sp>
        <p:nvSpPr>
          <p:cNvPr id="13044" name="Ikon eraser sirkel"/>
          <p:cNvSpPr/>
          <p:nvPr/>
        </p:nvSpPr>
        <p:spPr>
          <a:xfrm>
            <a:off x="7086600" y="4517136"/>
            <a:ext cx="512064" cy="512064"/>
          </a:xfrm>
          <a:prstGeom prst="ellipse">
            <a:avLst/>
          </a:prstGeom>
          <a:solidFill>
            <a:schemeClr val="accent1"/>
          </a:solidFill>
          <a:ln/>
        </p:spPr>
      </p:sp>
      <p:pic>
        <p:nvPicPr>
          <p:cNvPr id="13045" name="Ikon eraser" descr="eraser">    </p:cNvPr>
          <p:cNvPicPr>
            <a:picLocks noChangeAspect="1"/>
          </p:cNvPicPr>
          <p:nvPr/>
        </p:nvPicPr>
        <p:blipFill>
          <a:blip r:embed="rId15"/>
          <a:stretch>
            <a:fillRect/>
          </a:stretch>
        </p:blipFill>
        <p:spPr>
          <a:xfrm>
            <a:off x="7199254" y="4629790"/>
            <a:ext cx="286756" cy="286756"/>
          </a:xfrm>
          <a:prstGeom prst="rect">
            <a:avLst/>
          </a:prstGeom>
        </p:spPr>
      </p:pic>
      <p:sp>
        <p:nvSpPr>
          <p:cNvPr id="13046" name="Text 29"/>
          <p:cNvSpPr txBox="1"/>
          <p:nvPr/>
        </p:nvSpPr>
        <p:spPr>
          <a:xfrm>
            <a:off x="7799832" y="4443984"/>
            <a:ext cx="3767328" cy="57607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Clear drawings</a:t>
            </a:r>
            <a:endParaRPr lang="en-US" sz="1700" dirty="0"/>
          </a:p>
          <a:p>
            <a:pPr indent="0" marL="0">
              <a:spcAft>
                <a:spcPts val="200"/>
              </a:spcAft>
              <a:buNone/>
            </a:pPr>
            <a:r>
              <a:rPr lang="en-US" sz="1400" dirty="0">
                <a:solidFill>
                  <a:schemeClr val="accent4"/>
                </a:solidFill>
              </a:rPr>
              <a:t>Marks, measurements and circles</a:t>
            </a:r>
            <a:endParaRPr lang="en-US" sz="1700" dirty="0"/>
          </a:p>
        </p:txBody>
      </p:sp>
      <p:sp>
        <p:nvSpPr>
          <p:cNvPr id="13047" name="Ikon gear sirkel"/>
          <p:cNvSpPr/>
          <p:nvPr/>
        </p:nvSpPr>
        <p:spPr>
          <a:xfrm>
            <a:off x="7086600" y="5138928"/>
            <a:ext cx="512064" cy="512064"/>
          </a:xfrm>
          <a:prstGeom prst="ellipse">
            <a:avLst/>
          </a:prstGeom>
          <a:solidFill>
            <a:schemeClr val="accent1"/>
          </a:solidFill>
          <a:ln/>
        </p:spPr>
      </p:sp>
      <p:pic>
        <p:nvPicPr>
          <p:cNvPr id="13048" name="Ikon gear" descr="gear">    </p:cNvPr>
          <p:cNvPicPr>
            <a:picLocks noChangeAspect="1"/>
          </p:cNvPicPr>
          <p:nvPr/>
        </p:nvPicPr>
        <p:blipFill>
          <a:blip r:embed="rId16"/>
          <a:stretch>
            <a:fillRect/>
          </a:stretch>
        </p:blipFill>
        <p:spPr>
          <a:xfrm>
            <a:off x="7199254" y="5251582"/>
            <a:ext cx="286756" cy="286756"/>
          </a:xfrm>
          <a:prstGeom prst="rect">
            <a:avLst/>
          </a:prstGeom>
        </p:spPr>
      </p:pic>
      <p:sp>
        <p:nvSpPr>
          <p:cNvPr id="13049" name="Text 31"/>
          <p:cNvSpPr txBox="1"/>
          <p:nvPr/>
        </p:nvSpPr>
        <p:spPr>
          <a:xfrm>
            <a:off x="7799832" y="5065776"/>
            <a:ext cx="3767328" cy="57607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Settings</a:t>
            </a:r>
            <a:endParaRPr lang="en-US" sz="1700" dirty="0"/>
          </a:p>
          <a:p>
            <a:pPr indent="0" marL="0">
              <a:spcAft>
                <a:spcPts val="200"/>
              </a:spcAft>
              <a:buNone/>
            </a:pPr>
            <a:r>
              <a:rPr lang="en-US" sz="1400" dirty="0">
                <a:solidFill>
                  <a:schemeClr val="accent4"/>
                </a:solidFill>
              </a:rPr>
              <a:t>Position, language and the site's buttons</a:t>
            </a:r>
            <a:endParaRPr lang="en-US" sz="1700" dirty="0"/>
          </a:p>
        </p:txBody>
      </p:sp>
      <p:sp>
        <p:nvSpPr>
          <p:cNvPr id="13050"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4001" name=""/>
        <p:cNvGrpSpPr/>
        <p:nvPr/>
      </p:nvGrpSpPr>
      <p:grpSpPr>
        <a:xfrm>
          <a:off x="0" y="0"/>
          <a:ext cx="0" cy="0"/>
          <a:chOff x="0" y="0"/>
          <a:chExt cx="0" cy="0"/>
        </a:xfrm>
      </p:grpSpPr>
      <p:sp>
        <p:nvSpPr>
          <p:cNvPr id="1400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Choose maps and overlays</a:t>
            </a:r>
            <a:endParaRPr lang="en-US" sz="3600" dirty="0"/>
          </a:p>
        </p:txBody>
      </p:sp>
      <p:sp>
        <p:nvSpPr>
          <p:cNvPr id="14003" name="Kartlagpanelet bakgrunn"/>
          <p:cNvSpPr/>
          <p:nvPr/>
        </p:nvSpPr>
        <p:spPr>
          <a:xfrm>
            <a:off x="7619695" y="1325880"/>
            <a:ext cx="4023360" cy="4983480"/>
          </a:xfrm>
          <a:prstGeom prst="roundRect">
            <a:avLst>
              <a:gd name="adj" fmla="val 2727"/>
            </a:avLst>
          </a:prstGeom>
          <a:solidFill>
            <a:schemeClr val="bg2"/>
          </a:solidFill>
          <a:ln/>
        </p:spPr>
      </p:sp>
      <p:pic>
        <p:nvPicPr>
          <p:cNvPr id="14004" name="Kartlagpanelet" descr="The layer panel">    </p:cNvPr>
          <p:cNvPicPr>
            <a:picLocks noChangeAspect="1"/>
          </p:cNvPicPr>
          <p:nvPr/>
        </p:nvPicPr>
        <p:blipFill>
          <a:blip r:embed="rId1"/>
          <a:stretch>
            <a:fillRect/>
          </a:stretch>
        </p:blipFill>
        <p:spPr>
          <a:xfrm>
            <a:off x="8623621" y="1527048"/>
            <a:ext cx="2015509" cy="4581144"/>
          </a:xfrm>
          <a:prstGeom prst="rect">
            <a:avLst/>
          </a:prstGeom>
        </p:spPr>
      </p:pic>
      <p:sp>
        <p:nvSpPr>
          <p:cNvPr id="14005" name="Ikon layers sirkel"/>
          <p:cNvSpPr/>
          <p:nvPr/>
        </p:nvSpPr>
        <p:spPr>
          <a:xfrm>
            <a:off x="548640" y="1453896"/>
            <a:ext cx="512064" cy="512064"/>
          </a:xfrm>
          <a:prstGeom prst="ellipse">
            <a:avLst/>
          </a:prstGeom>
          <a:solidFill>
            <a:schemeClr val="accent1"/>
          </a:solidFill>
          <a:ln/>
        </p:spPr>
      </p:sp>
      <p:pic>
        <p:nvPicPr>
          <p:cNvPr id="14006" name="Ikon layers" descr="layers">    </p:cNvPr>
          <p:cNvPicPr>
            <a:picLocks noChangeAspect="1"/>
          </p:cNvPicPr>
          <p:nvPr/>
        </p:nvPicPr>
        <p:blipFill>
          <a:blip r:embed="rId2"/>
          <a:stretch>
            <a:fillRect/>
          </a:stretch>
        </p:blipFill>
        <p:spPr>
          <a:xfrm>
            <a:off x="661294" y="1566550"/>
            <a:ext cx="286756" cy="286756"/>
          </a:xfrm>
          <a:prstGeom prst="rect">
            <a:avLst/>
          </a:prstGeom>
        </p:spPr>
      </p:pic>
      <p:sp>
        <p:nvSpPr>
          <p:cNvPr id="14007" name="Text 3"/>
          <p:cNvSpPr txBox="1"/>
          <p:nvPr/>
        </p:nvSpPr>
        <p:spPr>
          <a:xfrm>
            <a:off x="1261872" y="1380744"/>
            <a:ext cx="5961888" cy="94183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Three tabs</a:t>
            </a:r>
            <a:endParaRPr lang="en-US" sz="1700" dirty="0"/>
          </a:p>
          <a:p>
            <a:pPr indent="0" marL="0">
              <a:spcAft>
                <a:spcPts val="200"/>
              </a:spcAft>
              <a:buNone/>
            </a:pPr>
            <a:r>
              <a:rPr lang="en-US" sz="1400" dirty="0">
                <a:solidFill>
                  <a:schemeClr val="accent4"/>
                </a:solidFill>
              </a:rPr>
              <a:t>Geocaching.com's own maps, background maps and overlays – each on its own, so the list stays short</a:t>
            </a:r>
            <a:endParaRPr lang="en-US" sz="1700" dirty="0"/>
          </a:p>
        </p:txBody>
      </p:sp>
      <p:sp>
        <p:nvSpPr>
          <p:cNvPr id="14008" name="Ikon duplicate sirkel"/>
          <p:cNvSpPr/>
          <p:nvPr/>
        </p:nvSpPr>
        <p:spPr>
          <a:xfrm>
            <a:off x="548640" y="2441448"/>
            <a:ext cx="512064" cy="512064"/>
          </a:xfrm>
          <a:prstGeom prst="ellipse">
            <a:avLst/>
          </a:prstGeom>
          <a:solidFill>
            <a:schemeClr val="accent1"/>
          </a:solidFill>
          <a:ln/>
        </p:spPr>
      </p:sp>
      <p:pic>
        <p:nvPicPr>
          <p:cNvPr id="14009" name="Ikon duplicate" descr="duplicate">    </p:cNvPr>
          <p:cNvPicPr>
            <a:picLocks noChangeAspect="1"/>
          </p:cNvPicPr>
          <p:nvPr/>
        </p:nvPicPr>
        <p:blipFill>
          <a:blip r:embed="rId3"/>
          <a:stretch>
            <a:fillRect/>
          </a:stretch>
        </p:blipFill>
        <p:spPr>
          <a:xfrm>
            <a:off x="661294" y="2554102"/>
            <a:ext cx="286756" cy="286756"/>
          </a:xfrm>
          <a:prstGeom prst="rect">
            <a:avLst/>
          </a:prstGeom>
        </p:spPr>
      </p:pic>
      <p:sp>
        <p:nvSpPr>
          <p:cNvPr id="14010" name="Text 5"/>
          <p:cNvSpPr txBox="1"/>
          <p:nvPr/>
        </p:nvSpPr>
        <p:spPr>
          <a:xfrm>
            <a:off x="1261872" y="2368296"/>
            <a:ext cx="5961888" cy="94183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Background and overlays</a:t>
            </a:r>
            <a:endParaRPr lang="en-US" sz="1700" dirty="0"/>
          </a:p>
          <a:p>
            <a:pPr indent="0" marL="0">
              <a:spcAft>
                <a:spcPts val="200"/>
              </a:spcAft>
              <a:buNone/>
            </a:pPr>
            <a:r>
              <a:rPr lang="en-US" sz="1400" dirty="0">
                <a:solidFill>
                  <a:schemeClr val="accent4"/>
                </a:solidFill>
              </a:rPr>
              <a:t>Kartverket, OpenTopoMap, OpenStreetMap and Esri – plus your own. As many overlays as you like</a:t>
            </a:r>
            <a:endParaRPr lang="en-US" sz="1700" dirty="0"/>
          </a:p>
        </p:txBody>
      </p:sp>
      <p:sp>
        <p:nvSpPr>
          <p:cNvPr id="14011" name="Ikon ring sirkel"/>
          <p:cNvSpPr/>
          <p:nvPr/>
        </p:nvSpPr>
        <p:spPr>
          <a:xfrm>
            <a:off x="548640" y="3429000"/>
            <a:ext cx="512064" cy="512064"/>
          </a:xfrm>
          <a:prstGeom prst="ellipse">
            <a:avLst/>
          </a:prstGeom>
          <a:solidFill>
            <a:schemeClr val="accent1"/>
          </a:solidFill>
          <a:ln/>
        </p:spPr>
      </p:sp>
      <p:pic>
        <p:nvPicPr>
          <p:cNvPr id="14012" name="Ikon ring" descr="ring">    </p:cNvPr>
          <p:cNvPicPr>
            <a:picLocks noChangeAspect="1"/>
          </p:cNvPicPr>
          <p:nvPr/>
        </p:nvPicPr>
        <p:blipFill>
          <a:blip r:embed="rId4"/>
          <a:stretch>
            <a:fillRect/>
          </a:stretch>
        </p:blipFill>
        <p:spPr>
          <a:xfrm>
            <a:off x="661294" y="3541654"/>
            <a:ext cx="286756" cy="286756"/>
          </a:xfrm>
          <a:prstGeom prst="rect">
            <a:avLst/>
          </a:prstGeom>
        </p:spPr>
      </p:pic>
      <p:sp>
        <p:nvSpPr>
          <p:cNvPr id="14013" name="Text 7"/>
          <p:cNvSpPr txBox="1"/>
          <p:nvPr/>
        </p:nvSpPr>
        <p:spPr>
          <a:xfrm>
            <a:off x="1261872" y="3355848"/>
            <a:ext cx="5961888" cy="94183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Fading towards white</a:t>
            </a:r>
            <a:endParaRPr lang="en-US" sz="1700" dirty="0"/>
          </a:p>
          <a:p>
            <a:pPr indent="0" marL="0">
              <a:spcAft>
                <a:spcPts val="200"/>
              </a:spcAft>
              <a:buNone/>
            </a:pPr>
            <a:r>
              <a:rPr lang="en-US" sz="1400" dirty="0">
                <a:solidFill>
                  <a:schemeClr val="accent4"/>
                </a:solidFill>
              </a:rPr>
              <a:t>The background can be faded by up to 50 %, so the caches stand out</a:t>
            </a:r>
            <a:endParaRPr lang="en-US" sz="1700" dirty="0"/>
          </a:p>
        </p:txBody>
      </p:sp>
      <p:sp>
        <p:nvSpPr>
          <p:cNvPr id="14014" name="Ikon grip sirkel"/>
          <p:cNvSpPr/>
          <p:nvPr/>
        </p:nvSpPr>
        <p:spPr>
          <a:xfrm>
            <a:off x="548640" y="4416552"/>
            <a:ext cx="512064" cy="512064"/>
          </a:xfrm>
          <a:prstGeom prst="ellipse">
            <a:avLst/>
          </a:prstGeom>
          <a:solidFill>
            <a:schemeClr val="accent1"/>
          </a:solidFill>
          <a:ln/>
        </p:spPr>
      </p:sp>
      <p:pic>
        <p:nvPicPr>
          <p:cNvPr id="14015" name="Ikon grip" descr="grip">    </p:cNvPr>
          <p:cNvPicPr>
            <a:picLocks noChangeAspect="1"/>
          </p:cNvPicPr>
          <p:nvPr/>
        </p:nvPicPr>
        <p:blipFill>
          <a:blip r:embed="rId5"/>
          <a:stretch>
            <a:fillRect/>
          </a:stretch>
        </p:blipFill>
        <p:spPr>
          <a:xfrm>
            <a:off x="661294" y="4529206"/>
            <a:ext cx="286756" cy="286756"/>
          </a:xfrm>
          <a:prstGeom prst="rect">
            <a:avLst/>
          </a:prstGeom>
        </p:spPr>
      </p:pic>
      <p:sp>
        <p:nvSpPr>
          <p:cNvPr id="14016" name="Text 9"/>
          <p:cNvSpPr txBox="1"/>
          <p:nvPr/>
        </p:nvSpPr>
        <p:spPr>
          <a:xfrm>
            <a:off x="1261872" y="4343400"/>
            <a:ext cx="5961888" cy="94183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Your order</a:t>
            </a:r>
            <a:endParaRPr lang="en-US" sz="1700" dirty="0"/>
          </a:p>
          <a:p>
            <a:pPr indent="0" marL="0">
              <a:spcAft>
                <a:spcPts val="200"/>
              </a:spcAft>
              <a:buNone/>
            </a:pPr>
            <a:r>
              <a:rPr lang="en-US" sz="1400" dirty="0">
                <a:solidFill>
                  <a:schemeClr val="accent4"/>
                </a:solidFill>
              </a:rPr>
              <a:t>Drag the maps up and down. The overlay at the top of the list is drawn on top</a:t>
            </a:r>
            <a:endParaRPr lang="en-US" sz="1700" dirty="0"/>
          </a:p>
        </p:txBody>
      </p:sp>
      <p:sp>
        <p:nvSpPr>
          <p:cNvPr id="14017" name="Ikon x sirkel"/>
          <p:cNvSpPr/>
          <p:nvPr/>
        </p:nvSpPr>
        <p:spPr>
          <a:xfrm>
            <a:off x="548640" y="5404104"/>
            <a:ext cx="512064" cy="512064"/>
          </a:xfrm>
          <a:prstGeom prst="ellipse">
            <a:avLst/>
          </a:prstGeom>
          <a:solidFill>
            <a:schemeClr val="accent1"/>
          </a:solidFill>
          <a:ln/>
        </p:spPr>
      </p:sp>
      <p:pic>
        <p:nvPicPr>
          <p:cNvPr id="14018" name="Ikon x" descr="x">    </p:cNvPr>
          <p:cNvPicPr>
            <a:picLocks noChangeAspect="1"/>
          </p:cNvPicPr>
          <p:nvPr/>
        </p:nvPicPr>
        <p:blipFill>
          <a:blip r:embed="rId6"/>
          <a:stretch>
            <a:fillRect/>
          </a:stretch>
        </p:blipFill>
        <p:spPr>
          <a:xfrm>
            <a:off x="661294" y="5516758"/>
            <a:ext cx="286756" cy="286756"/>
          </a:xfrm>
          <a:prstGeom prst="rect">
            <a:avLst/>
          </a:prstGeom>
        </p:spPr>
      </p:pic>
      <p:sp>
        <p:nvSpPr>
          <p:cNvPr id="14019" name="Text 11"/>
          <p:cNvSpPr txBox="1"/>
          <p:nvPr/>
        </p:nvSpPr>
        <p:spPr>
          <a:xfrm>
            <a:off x="1261872" y="5330952"/>
            <a:ext cx="5961888" cy="94183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Tidy the list</a:t>
            </a:r>
            <a:endParaRPr lang="en-US" sz="1700" dirty="0"/>
          </a:p>
          <a:p>
            <a:pPr indent="0" marL="0">
              <a:spcAft>
                <a:spcPts val="200"/>
              </a:spcAft>
              <a:buNone/>
            </a:pPr>
            <a:r>
              <a:rPr lang="en-US" sz="1400" dirty="0">
                <a:solidFill>
                  <a:schemeClr val="accent4"/>
                </a:solidFill>
              </a:rPr>
              <a:t>Remove maps you don't use – also geocaching.com's own – and bring them back whenever you like</a:t>
            </a:r>
            <a:endParaRPr lang="en-US" sz="1700" dirty="0"/>
          </a:p>
        </p:txBody>
      </p:sp>
      <p:sp>
        <p:nvSpPr>
          <p:cNvPr id="14020"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5001" name=""/>
        <p:cNvGrpSpPr/>
        <p:nvPr/>
      </p:nvGrpSpPr>
      <p:grpSpPr>
        <a:xfrm>
          <a:off x="0" y="0"/>
          <a:ext cx="0" cy="0"/>
          <a:chOff x="0" y="0"/>
          <a:chExt cx="0" cy="0"/>
        </a:xfrm>
      </p:grpSpPr>
      <p:sp>
        <p:nvSpPr>
          <p:cNvPr id="1500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Add your own maps</a:t>
            </a:r>
            <a:endParaRPr lang="en-US" sz="3600" dirty="0"/>
          </a:p>
        </p:txBody>
      </p:sp>
      <p:sp>
        <p:nvSpPr>
          <p:cNvPr id="15003" name="Redigeringsdialogen bakgrunn"/>
          <p:cNvSpPr/>
          <p:nvPr/>
        </p:nvSpPr>
        <p:spPr>
          <a:xfrm>
            <a:off x="548640" y="1325880"/>
            <a:ext cx="4480560" cy="4983480"/>
          </a:xfrm>
          <a:prstGeom prst="roundRect">
            <a:avLst>
              <a:gd name="adj" fmla="val 2449"/>
            </a:avLst>
          </a:prstGeom>
          <a:solidFill>
            <a:schemeClr val="bg2"/>
          </a:solidFill>
          <a:ln/>
        </p:spPr>
      </p:sp>
      <p:pic>
        <p:nvPicPr>
          <p:cNvPr id="15004" name="Redigeringsdialogen" descr="The layer editor">    </p:cNvPr>
          <p:cNvPicPr>
            <a:picLocks noChangeAspect="1"/>
          </p:cNvPicPr>
          <p:nvPr/>
        </p:nvPicPr>
        <p:blipFill>
          <a:blip r:embed="rId1"/>
          <a:stretch>
            <a:fillRect/>
          </a:stretch>
        </p:blipFill>
        <p:spPr>
          <a:xfrm>
            <a:off x="847757" y="1527048"/>
            <a:ext cx="3882325" cy="4581144"/>
          </a:xfrm>
          <a:prstGeom prst="rect">
            <a:avLst/>
          </a:prstGeom>
        </p:spPr>
      </p:pic>
      <p:sp>
        <p:nvSpPr>
          <p:cNvPr id="15005" name="Text 2"/>
          <p:cNvSpPr txBox="1"/>
          <p:nvPr/>
        </p:nvSpPr>
        <p:spPr>
          <a:xfrm>
            <a:off x="5440680" y="1417320"/>
            <a:ext cx="6217920" cy="457200"/>
          </a:xfrm>
          <a:prstGeom prst="rect">
            <a:avLst/>
          </a:prstGeom>
          <a:noFill/>
          <a:ln/>
        </p:spPr>
        <p:txBody>
          <a:bodyPr wrap="square" lIns="0" tIns="0" rIns="0" bIns="0" rtlCol="0" anchor="ctr"/>
          <a:lstStyle/>
          <a:p>
            <a:pPr indent="0" marL="0">
              <a:buNone/>
            </a:pPr>
            <a:r>
              <a:rPr lang="en-US" sz="1700" dirty="0">
                <a:solidFill>
                  <a:schemeClr val="tx1"/>
                </a:solidFill>
              </a:rPr>
              <a:t>Paste almost any map link and press Detect:</a:t>
            </a:r>
            <a:endParaRPr lang="en-US" sz="1700" dirty="0"/>
          </a:p>
        </p:txBody>
      </p:sp>
      <p:sp>
        <p:nvSpPr>
          <p:cNvPr id="15006" name="Format XYZ / TMS"/>
          <p:cNvSpPr/>
          <p:nvPr/>
        </p:nvSpPr>
        <p:spPr>
          <a:xfrm>
            <a:off x="5440680" y="2057400"/>
            <a:ext cx="2971800" cy="1051560"/>
          </a:xfrm>
          <a:prstGeom prst="roundRect">
            <a:avLst>
              <a:gd name="adj" fmla="val 8696"/>
            </a:avLst>
          </a:prstGeom>
          <a:solidFill>
            <a:schemeClr val="bg2"/>
          </a:solidFill>
          <a:ln/>
        </p:spPr>
      </p:sp>
      <p:sp>
        <p:nvSpPr>
          <p:cNvPr id="15007" name="Text 4"/>
          <p:cNvSpPr txBox="1"/>
          <p:nvPr/>
        </p:nvSpPr>
        <p:spPr>
          <a:xfrm>
            <a:off x="5669280" y="2167128"/>
            <a:ext cx="2514600" cy="832104"/>
          </a:xfrm>
          <a:prstGeom prst="rect">
            <a:avLst/>
          </a:prstGeom>
          <a:noFill/>
          <a:ln/>
        </p:spPr>
        <p:txBody>
          <a:bodyPr wrap="square" lIns="0" tIns="0" rIns="0" bIns="0" rtlCol="0" anchor="ctr"/>
          <a:lstStyle/>
          <a:p>
            <a:pPr indent="0" marL="0">
              <a:buNone/>
            </a:pPr>
            <a:r>
              <a:rPr lang="en-US" sz="2000" b="1" dirty="0">
                <a:solidFill>
                  <a:schemeClr val="accent1"/>
                </a:solidFill>
              </a:rPr>
              <a:t>XYZ / TMS</a:t>
            </a:r>
            <a:endParaRPr lang="en-US" sz="2000" dirty="0"/>
          </a:p>
          <a:p>
            <a:pPr indent="0" marL="0">
              <a:buNone/>
            </a:pPr>
            <a:r>
              <a:rPr lang="en-US" sz="1300" dirty="0">
                <a:solidFill>
                  <a:schemeClr val="accent4"/>
                </a:solidFill>
              </a:rPr>
              <a:t>Tile addresses with {z} {x} {y}</a:t>
            </a:r>
            <a:endParaRPr lang="en-US" sz="2000" dirty="0"/>
          </a:p>
        </p:txBody>
      </p:sp>
      <p:sp>
        <p:nvSpPr>
          <p:cNvPr id="15008" name="Format WMTS"/>
          <p:cNvSpPr/>
          <p:nvPr/>
        </p:nvSpPr>
        <p:spPr>
          <a:xfrm>
            <a:off x="8686800" y="2057400"/>
            <a:ext cx="2971800" cy="1051560"/>
          </a:xfrm>
          <a:prstGeom prst="roundRect">
            <a:avLst>
              <a:gd name="adj" fmla="val 8696"/>
            </a:avLst>
          </a:prstGeom>
          <a:solidFill>
            <a:schemeClr val="bg2"/>
          </a:solidFill>
          <a:ln/>
        </p:spPr>
      </p:sp>
      <p:sp>
        <p:nvSpPr>
          <p:cNvPr id="15009" name="Text 6"/>
          <p:cNvSpPr txBox="1"/>
          <p:nvPr/>
        </p:nvSpPr>
        <p:spPr>
          <a:xfrm>
            <a:off x="8915400" y="2167128"/>
            <a:ext cx="2514600" cy="832104"/>
          </a:xfrm>
          <a:prstGeom prst="rect">
            <a:avLst/>
          </a:prstGeom>
          <a:noFill/>
          <a:ln/>
        </p:spPr>
        <p:txBody>
          <a:bodyPr wrap="square" lIns="0" tIns="0" rIns="0" bIns="0" rtlCol="0" anchor="ctr"/>
          <a:lstStyle/>
          <a:p>
            <a:pPr indent="0" marL="0">
              <a:buNone/>
            </a:pPr>
            <a:r>
              <a:rPr lang="en-US" sz="2000" b="1" dirty="0">
                <a:solidFill>
                  <a:schemeClr val="accent1"/>
                </a:solidFill>
              </a:rPr>
              <a:t>WMTS</a:t>
            </a:r>
            <a:endParaRPr lang="en-US" sz="2000" dirty="0"/>
          </a:p>
          <a:p>
            <a:pPr indent="0" marL="0">
              <a:buNone/>
            </a:pPr>
            <a:r>
              <a:rPr lang="en-US" sz="1300" dirty="0">
                <a:solidFill>
                  <a:schemeClr val="accent4"/>
                </a:solidFill>
              </a:rPr>
              <a:t>The list of layers is fetched automatically</a:t>
            </a:r>
            <a:endParaRPr lang="en-US" sz="2000" dirty="0"/>
          </a:p>
        </p:txBody>
      </p:sp>
      <p:sp>
        <p:nvSpPr>
          <p:cNvPr id="15010" name="Format WMS"/>
          <p:cNvSpPr/>
          <p:nvPr/>
        </p:nvSpPr>
        <p:spPr>
          <a:xfrm>
            <a:off x="5440680" y="3337560"/>
            <a:ext cx="2971800" cy="1051560"/>
          </a:xfrm>
          <a:prstGeom prst="roundRect">
            <a:avLst>
              <a:gd name="adj" fmla="val 8696"/>
            </a:avLst>
          </a:prstGeom>
          <a:solidFill>
            <a:schemeClr val="bg2"/>
          </a:solidFill>
          <a:ln/>
        </p:spPr>
      </p:sp>
      <p:sp>
        <p:nvSpPr>
          <p:cNvPr id="15011" name="Text 8"/>
          <p:cNvSpPr txBox="1"/>
          <p:nvPr/>
        </p:nvSpPr>
        <p:spPr>
          <a:xfrm>
            <a:off x="5669280" y="3447288"/>
            <a:ext cx="2514600" cy="832104"/>
          </a:xfrm>
          <a:prstGeom prst="rect">
            <a:avLst/>
          </a:prstGeom>
          <a:noFill/>
          <a:ln/>
        </p:spPr>
        <p:txBody>
          <a:bodyPr wrap="square" lIns="0" tIns="0" rIns="0" bIns="0" rtlCol="0" anchor="ctr"/>
          <a:lstStyle/>
          <a:p>
            <a:pPr indent="0" marL="0">
              <a:buNone/>
            </a:pPr>
            <a:r>
              <a:rPr lang="en-US" sz="2000" b="1" dirty="0">
                <a:solidFill>
                  <a:schemeClr val="accent1"/>
                </a:solidFill>
              </a:rPr>
              <a:t>WMS</a:t>
            </a:r>
            <a:endParaRPr lang="en-US" sz="2000" dirty="0"/>
          </a:p>
          <a:p>
            <a:pPr indent="0" marL="0">
              <a:buNone/>
            </a:pPr>
            <a:r>
              <a:rPr lang="en-US" sz="1300" dirty="0">
                <a:solidFill>
                  <a:schemeClr val="accent4"/>
                </a:solidFill>
              </a:rPr>
              <a:t>Pick one or more layers</a:t>
            </a:r>
            <a:endParaRPr lang="en-US" sz="2000" dirty="0"/>
          </a:p>
        </p:txBody>
      </p:sp>
      <p:sp>
        <p:nvSpPr>
          <p:cNvPr id="15012" name="Format ArcGIS"/>
          <p:cNvSpPr/>
          <p:nvPr/>
        </p:nvSpPr>
        <p:spPr>
          <a:xfrm>
            <a:off x="8686800" y="3337560"/>
            <a:ext cx="2971800" cy="1051560"/>
          </a:xfrm>
          <a:prstGeom prst="roundRect">
            <a:avLst>
              <a:gd name="adj" fmla="val 8696"/>
            </a:avLst>
          </a:prstGeom>
          <a:solidFill>
            <a:schemeClr val="bg2"/>
          </a:solidFill>
          <a:ln/>
        </p:spPr>
      </p:sp>
      <p:sp>
        <p:nvSpPr>
          <p:cNvPr id="15013" name="Text 10"/>
          <p:cNvSpPr txBox="1"/>
          <p:nvPr/>
        </p:nvSpPr>
        <p:spPr>
          <a:xfrm>
            <a:off x="8915400" y="3447288"/>
            <a:ext cx="2514600" cy="832104"/>
          </a:xfrm>
          <a:prstGeom prst="rect">
            <a:avLst/>
          </a:prstGeom>
          <a:noFill/>
          <a:ln/>
        </p:spPr>
        <p:txBody>
          <a:bodyPr wrap="square" lIns="0" tIns="0" rIns="0" bIns="0" rtlCol="0" anchor="ctr"/>
          <a:lstStyle/>
          <a:p>
            <a:pPr indent="0" marL="0">
              <a:buNone/>
            </a:pPr>
            <a:r>
              <a:rPr lang="en-US" sz="2000" b="1" dirty="0">
                <a:solidFill>
                  <a:schemeClr val="accent1"/>
                </a:solidFill>
              </a:rPr>
              <a:t>ArcGIS</a:t>
            </a:r>
            <a:endParaRPr lang="en-US" sz="2000" dirty="0"/>
          </a:p>
          <a:p>
            <a:pPr indent="0" marL="0">
              <a:buNone/>
            </a:pPr>
            <a:r>
              <a:rPr lang="en-US" sz="1300" dirty="0">
                <a:solidFill>
                  <a:schemeClr val="accent4"/>
                </a:solidFill>
              </a:rPr>
              <a:t>Addresses ending in /MapServer</a:t>
            </a:r>
            <a:endParaRPr lang="en-US" sz="2000" dirty="0"/>
          </a:p>
        </p:txBody>
      </p:sp>
      <p:sp>
        <p:nvSpPr>
          <p:cNvPr id="15014" name="Text 11"/>
          <p:cNvSpPr txBox="1"/>
          <p:nvPr/>
        </p:nvSpPr>
        <p:spPr>
          <a:xfrm>
            <a:off x="5440680" y="4709160"/>
            <a:ext cx="6217920" cy="1371600"/>
          </a:xfrm>
          <a:prstGeom prst="rect">
            <a:avLst/>
          </a:prstGeom>
          <a:noFill/>
          <a:ln/>
        </p:spPr>
        <p:txBody>
          <a:bodyPr wrap="square" lIns="0" tIns="0" rIns="0" bIns="0" rtlCol="0" anchor="ctr"/>
          <a:lstStyle/>
          <a:p>
            <a:pPr marL="228600" indent="-228600">
              <a:spcAft>
                <a:spcPts val="600"/>
              </a:spcAft>
              <a:buSzPct val="100000"/>
              <a:buChar char="•"/>
            </a:pPr>
            <a:r>
              <a:rPr lang="en-US" sz="1600" dirty="0">
                <a:solidFill>
                  <a:schemeClr val="tx1"/>
                </a:solidFill>
              </a:rPr>
              <a:t>Preview on the map before you save</a:t>
            </a:r>
            <a:endParaRPr lang="en-US" sz="1600" dirty="0"/>
          </a:p>
          <a:p>
            <a:pPr marL="228600" indent="-228600">
              <a:spcAft>
                <a:spcPts val="600"/>
              </a:spcAft>
              <a:buSzPct val="100000"/>
              <a:buChar char="•"/>
            </a:pPr>
            <a:r>
              <a:rPr lang="en-US" sz="1600" dirty="0">
                <a:solidFill>
                  <a:schemeClr val="tx1"/>
                </a:solidFill>
              </a:rPr>
              <a:t>Import and export your layers as a file</a:t>
            </a:r>
            <a:endParaRPr lang="en-US" sz="1600" dirty="0"/>
          </a:p>
          <a:p>
            <a:pPr marL="228600" indent="-228600">
              <a:spcAft>
                <a:spcPts val="600"/>
              </a:spcAft>
              <a:buSzPct val="100000"/>
              <a:buChar char="•"/>
            </a:pPr>
            <a:r>
              <a:rPr lang="en-US" sz="1600" dirty="0">
                <a:solidFill>
                  <a:schemeClr val="tx1"/>
                </a:solidFill>
              </a:rPr>
              <a:t>A single map tile from the developer tools is enough</a:t>
            </a:r>
            <a:endParaRPr lang="en-US" sz="1600" dirty="0"/>
          </a:p>
        </p:txBody>
      </p:sp>
      <p:sp>
        <p:nvSpPr>
          <p:cNvPr id="1501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6001" name=""/>
        <p:cNvGrpSpPr/>
        <p:nvPr/>
      </p:nvGrpSpPr>
      <p:grpSpPr>
        <a:xfrm>
          <a:off x="0" y="0"/>
          <a:ext cx="0" cy="0"/>
          <a:chOff x="0" y="0"/>
          <a:chExt cx="0" cy="0"/>
        </a:xfrm>
      </p:grpSpPr>
      <p:sp>
        <p:nvSpPr>
          <p:cNvPr id="1600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Find places, addresses and coordinates</a:t>
            </a:r>
            <a:endParaRPr lang="en-US" sz="3600" dirty="0"/>
          </a:p>
        </p:txBody>
      </p:sp>
      <p:sp>
        <p:nvSpPr>
          <p:cNvPr id="16003" name="Stedssøket bakgrunn"/>
          <p:cNvSpPr/>
          <p:nvPr/>
        </p:nvSpPr>
        <p:spPr>
          <a:xfrm>
            <a:off x="6522415" y="1325880"/>
            <a:ext cx="5120640" cy="4983480"/>
          </a:xfrm>
          <a:prstGeom prst="roundRect">
            <a:avLst>
              <a:gd name="adj" fmla="val 2202"/>
            </a:avLst>
          </a:prstGeom>
          <a:solidFill>
            <a:schemeClr val="bg2"/>
          </a:solidFill>
          <a:ln/>
        </p:spPr>
      </p:sp>
      <p:pic>
        <p:nvPicPr>
          <p:cNvPr id="16004" name="Stedssøket" descr="Find a place">    </p:cNvPr>
          <p:cNvPicPr>
            <a:picLocks noChangeAspect="1"/>
          </p:cNvPicPr>
          <p:nvPr/>
        </p:nvPicPr>
        <p:blipFill>
          <a:blip r:embed="rId1"/>
          <a:stretch>
            <a:fillRect/>
          </a:stretch>
        </p:blipFill>
        <p:spPr>
          <a:xfrm>
            <a:off x="6850209" y="1527048"/>
            <a:ext cx="4465053" cy="4581144"/>
          </a:xfrm>
          <a:prstGeom prst="rect">
            <a:avLst/>
          </a:prstGeom>
        </p:spPr>
      </p:pic>
      <p:sp>
        <p:nvSpPr>
          <p:cNvPr id="16005" name="Ikon search sirkel"/>
          <p:cNvSpPr/>
          <p:nvPr/>
        </p:nvSpPr>
        <p:spPr>
          <a:xfrm>
            <a:off x="548640" y="1499616"/>
            <a:ext cx="512064" cy="512064"/>
          </a:xfrm>
          <a:prstGeom prst="ellipse">
            <a:avLst/>
          </a:prstGeom>
          <a:solidFill>
            <a:schemeClr val="accent1"/>
          </a:solidFill>
          <a:ln/>
        </p:spPr>
      </p:sp>
      <p:pic>
        <p:nvPicPr>
          <p:cNvPr id="16006" name="Ikon search" descr="search">    </p:cNvPr>
          <p:cNvPicPr>
            <a:picLocks noChangeAspect="1"/>
          </p:cNvPicPr>
          <p:nvPr/>
        </p:nvPicPr>
        <p:blipFill>
          <a:blip r:embed="rId2"/>
          <a:stretch>
            <a:fillRect/>
          </a:stretch>
        </p:blipFill>
        <p:spPr>
          <a:xfrm>
            <a:off x="661294" y="1612270"/>
            <a:ext cx="286756" cy="286756"/>
          </a:xfrm>
          <a:prstGeom prst="rect">
            <a:avLst/>
          </a:prstGeom>
        </p:spPr>
      </p:pic>
      <p:sp>
        <p:nvSpPr>
          <p:cNvPr id="16007" name="Text 3"/>
          <p:cNvSpPr txBox="1"/>
          <p:nvPr/>
        </p:nvSpPr>
        <p:spPr>
          <a:xfrm>
            <a:off x="1261872" y="1426464"/>
            <a:ext cx="495604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One combined list</a:t>
            </a:r>
            <a:endParaRPr lang="en-US" sz="1700" dirty="0"/>
          </a:p>
          <a:p>
            <a:pPr indent="0" marL="0">
              <a:spcAft>
                <a:spcPts val="200"/>
              </a:spcAft>
              <a:buNone/>
            </a:pPr>
            <a:r>
              <a:rPr lang="en-US" sz="1400" dirty="0">
                <a:solidFill>
                  <a:schemeClr val="accent4"/>
                </a:solidFill>
              </a:rPr>
              <a:t>Hits appear as you type, best match first – whatever the source</a:t>
            </a:r>
            <a:endParaRPr lang="en-US" sz="1700" dirty="0"/>
          </a:p>
        </p:txBody>
      </p:sp>
      <p:sp>
        <p:nvSpPr>
          <p:cNvPr id="16008" name="Ikon pin sirkel"/>
          <p:cNvSpPr/>
          <p:nvPr/>
        </p:nvSpPr>
        <p:spPr>
          <a:xfrm>
            <a:off x="548640" y="2688336"/>
            <a:ext cx="512064" cy="512064"/>
          </a:xfrm>
          <a:prstGeom prst="ellipse">
            <a:avLst/>
          </a:prstGeom>
          <a:solidFill>
            <a:schemeClr val="accent1"/>
          </a:solidFill>
          <a:ln/>
        </p:spPr>
      </p:sp>
      <p:pic>
        <p:nvPicPr>
          <p:cNvPr id="16009" name="Ikon pin" descr="pin">    </p:cNvPr>
          <p:cNvPicPr>
            <a:picLocks noChangeAspect="1"/>
          </p:cNvPicPr>
          <p:nvPr/>
        </p:nvPicPr>
        <p:blipFill>
          <a:blip r:embed="rId3"/>
          <a:stretch>
            <a:fillRect/>
          </a:stretch>
        </p:blipFill>
        <p:spPr>
          <a:xfrm>
            <a:off x="661294" y="2800990"/>
            <a:ext cx="286756" cy="286756"/>
          </a:xfrm>
          <a:prstGeom prst="rect">
            <a:avLst/>
          </a:prstGeom>
        </p:spPr>
      </p:pic>
      <p:sp>
        <p:nvSpPr>
          <p:cNvPr id="16010" name="Text 5"/>
          <p:cNvSpPr txBox="1"/>
          <p:nvPr/>
        </p:nvSpPr>
        <p:spPr>
          <a:xfrm>
            <a:off x="1261872" y="2615184"/>
            <a:ext cx="495604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Places, addresses and abroad</a:t>
            </a:r>
            <a:endParaRPr lang="en-US" sz="1700" dirty="0"/>
          </a:p>
          <a:p>
            <a:pPr indent="0" marL="0">
              <a:spcAft>
                <a:spcPts val="200"/>
              </a:spcAft>
              <a:buNone/>
            </a:pPr>
            <a:r>
              <a:rPr lang="en-US" sz="1400" dirty="0">
                <a:solidFill>
                  <a:schemeClr val="accent4"/>
                </a:solidFill>
              </a:rPr>
              <a:t>Kartverket's place names and addresses, and places abroad via Photon (OpenStreetMap)</a:t>
            </a:r>
            <a:endParaRPr lang="en-US" sz="1700" dirty="0"/>
          </a:p>
        </p:txBody>
      </p:sp>
      <p:sp>
        <p:nvSpPr>
          <p:cNvPr id="16011" name="Ikon compass sirkel"/>
          <p:cNvSpPr/>
          <p:nvPr/>
        </p:nvSpPr>
        <p:spPr>
          <a:xfrm>
            <a:off x="548640" y="3877056"/>
            <a:ext cx="512064" cy="512064"/>
          </a:xfrm>
          <a:prstGeom prst="ellipse">
            <a:avLst/>
          </a:prstGeom>
          <a:solidFill>
            <a:schemeClr val="accent1"/>
          </a:solidFill>
          <a:ln/>
        </p:spPr>
      </p:sp>
      <p:pic>
        <p:nvPicPr>
          <p:cNvPr id="16012" name="Ikon compass" descr="compass">    </p:cNvPr>
          <p:cNvPicPr>
            <a:picLocks noChangeAspect="1"/>
          </p:cNvPicPr>
          <p:nvPr/>
        </p:nvPicPr>
        <p:blipFill>
          <a:blip r:embed="rId4"/>
          <a:stretch>
            <a:fillRect/>
          </a:stretch>
        </p:blipFill>
        <p:spPr>
          <a:xfrm>
            <a:off x="661294" y="3989710"/>
            <a:ext cx="286756" cy="286756"/>
          </a:xfrm>
          <a:prstGeom prst="rect">
            <a:avLst/>
          </a:prstGeom>
        </p:spPr>
      </p:pic>
      <p:sp>
        <p:nvSpPr>
          <p:cNvPr id="16013" name="Text 7"/>
          <p:cNvSpPr txBox="1"/>
          <p:nvPr/>
        </p:nvSpPr>
        <p:spPr>
          <a:xfrm>
            <a:off x="1261872" y="3803904"/>
            <a:ext cx="495604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Coordinates</a:t>
            </a:r>
            <a:endParaRPr lang="en-US" sz="1700" dirty="0"/>
          </a:p>
          <a:p>
            <a:pPr indent="0" marL="0">
              <a:spcAft>
                <a:spcPts val="200"/>
              </a:spcAft>
              <a:buNone/>
            </a:pPr>
            <a:r>
              <a:rPr lang="en-US" sz="1400" dirty="0">
                <a:solidFill>
                  <a:schemeClr val="accent4"/>
                </a:solidFill>
              </a:rPr>
              <a:t>Type DMM, DD, DMS or UTM – the script recognises them</a:t>
            </a:r>
            <a:endParaRPr lang="en-US" sz="1700" dirty="0"/>
          </a:p>
        </p:txBody>
      </p:sp>
      <p:sp>
        <p:nvSpPr>
          <p:cNvPr id="16014" name="Ikon home sirkel"/>
          <p:cNvSpPr/>
          <p:nvPr/>
        </p:nvSpPr>
        <p:spPr>
          <a:xfrm>
            <a:off x="548640" y="5065776"/>
            <a:ext cx="512064" cy="512064"/>
          </a:xfrm>
          <a:prstGeom prst="ellipse">
            <a:avLst/>
          </a:prstGeom>
          <a:solidFill>
            <a:schemeClr val="accent1"/>
          </a:solidFill>
          <a:ln/>
        </p:spPr>
      </p:sp>
      <p:pic>
        <p:nvPicPr>
          <p:cNvPr id="16015" name="Ikon home" descr="home">    </p:cNvPr>
          <p:cNvPicPr>
            <a:picLocks noChangeAspect="1"/>
          </p:cNvPicPr>
          <p:nvPr/>
        </p:nvPicPr>
        <p:blipFill>
          <a:blip r:embed="rId5"/>
          <a:stretch>
            <a:fillRect/>
          </a:stretch>
        </p:blipFill>
        <p:spPr>
          <a:xfrm>
            <a:off x="661294" y="5178430"/>
            <a:ext cx="286756" cy="286756"/>
          </a:xfrm>
          <a:prstGeom prst="rect">
            <a:avLst/>
          </a:prstGeom>
        </p:spPr>
      </p:pic>
      <p:sp>
        <p:nvSpPr>
          <p:cNvPr id="16016" name="Text 9"/>
          <p:cNvSpPr txBox="1"/>
          <p:nvPr/>
        </p:nvSpPr>
        <p:spPr>
          <a:xfrm>
            <a:off x="1261872" y="4992624"/>
            <a:ext cx="495604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Home address</a:t>
            </a:r>
            <a:endParaRPr lang="en-US" sz="1700" dirty="0"/>
          </a:p>
          <a:p>
            <a:pPr indent="0" marL="0">
              <a:spcAft>
                <a:spcPts val="200"/>
              </a:spcAft>
              <a:buNone/>
            </a:pPr>
            <a:r>
              <a:rPr lang="en-US" sz="1400" dirty="0">
                <a:solidFill>
                  <a:schemeClr val="accent4"/>
                </a:solidFill>
              </a:rPr>
              <a:t>The same search box is used to save your home address</a:t>
            </a:r>
            <a:endParaRPr lang="en-US" sz="1700" dirty="0"/>
          </a:p>
        </p:txBody>
      </p:sp>
      <p:sp>
        <p:nvSpPr>
          <p:cNvPr id="1601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7001" name=""/>
        <p:cNvGrpSpPr/>
        <p:nvPr/>
      </p:nvGrpSpPr>
      <p:grpSpPr>
        <a:xfrm>
          <a:off x="0" y="0"/>
          <a:ext cx="0" cy="0"/>
          <a:chOff x="0" y="0"/>
          <a:chExt cx="0" cy="0"/>
        </a:xfrm>
      </p:grpSpPr>
      <p:sp>
        <p:nvSpPr>
          <p:cNvPr id="1700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Coordinates in every format</a:t>
            </a:r>
            <a:endParaRPr lang="en-US" sz="3600" dirty="0"/>
          </a:p>
        </p:txBody>
      </p:sp>
      <p:sp>
        <p:nvSpPr>
          <p:cNvPr id="17003" name="Høyreklikkboblen bakgrunn"/>
          <p:cNvSpPr/>
          <p:nvPr/>
        </p:nvSpPr>
        <p:spPr>
          <a:xfrm>
            <a:off x="548640" y="1371600"/>
            <a:ext cx="5852160" cy="3383280"/>
          </a:xfrm>
          <a:prstGeom prst="roundRect">
            <a:avLst>
              <a:gd name="adj" fmla="val 3243"/>
            </a:avLst>
          </a:prstGeom>
          <a:solidFill>
            <a:schemeClr val="bg2"/>
          </a:solidFill>
          <a:ln/>
        </p:spPr>
      </p:sp>
      <p:pic>
        <p:nvPicPr>
          <p:cNvPr id="17004" name="Høyreklikkboblen" descr="The right-click popup">    </p:cNvPr>
          <p:cNvPicPr>
            <a:picLocks noChangeAspect="1"/>
          </p:cNvPicPr>
          <p:nvPr/>
        </p:nvPicPr>
        <p:blipFill>
          <a:blip r:embed="rId1"/>
          <a:stretch>
            <a:fillRect/>
          </a:stretch>
        </p:blipFill>
        <p:spPr>
          <a:xfrm>
            <a:off x="749808" y="1744734"/>
            <a:ext cx="5449824" cy="2637012"/>
          </a:xfrm>
          <a:prstGeom prst="rect">
            <a:avLst/>
          </a:prstGeom>
        </p:spPr>
      </p:pic>
      <p:sp>
        <p:nvSpPr>
          <p:cNvPr id="17005" name="Text 2"/>
          <p:cNvSpPr txBox="1"/>
          <p:nvPr/>
        </p:nvSpPr>
        <p:spPr>
          <a:xfrm>
            <a:off x="548640" y="5029200"/>
            <a:ext cx="5852160" cy="1097280"/>
          </a:xfrm>
          <a:prstGeom prst="rect">
            <a:avLst/>
          </a:prstGeom>
          <a:noFill/>
          <a:ln/>
        </p:spPr>
        <p:txBody>
          <a:bodyPr wrap="square" lIns="0" tIns="0" rIns="0" bIns="0" rtlCol="0" anchor="t"/>
          <a:lstStyle/>
          <a:p>
            <a:pPr indent="0" marL="0">
              <a:buNone/>
            </a:pPr>
            <a:r>
              <a:rPr lang="en-US" sz="1700" dirty="0">
                <a:solidFill>
                  <a:schemeClr val="tx1"/>
                </a:solidFill>
              </a:rPr>
              <a:t>Right-click the map: one coordinate line that opens in DMM. Click the line to switch format, and copy with one click. The Google Street View button opens Street View at the spot. The zoom level is at the bottom – type a number to zoom.</a:t>
            </a:r>
            <a:endParaRPr lang="en-US" sz="1700" dirty="0"/>
          </a:p>
        </p:txBody>
      </p:sp>
      <p:graphicFrame>
        <p:nvGraphicFramePr>
          <p:cNvPr id="17006" name="Koordinatformater"/>
          <p:cNvGraphicFramePr>
            <a:graphicFrameLocks noGrp="1"/>
          </p:cNvGraphicFramePr>
          <p:nvPr>
            <p:extLst>
              <p:ext uri="{D42A27DB-BD31-4B8C-83A1-F6EECF244321}">
                <p14:modId xmlns:p14="http://schemas.microsoft.com/office/powerpoint/2010/main" val="1579011935"/>
              </p:ext>
            </p:extLst>
          </p:nvPr>
        </p:nvGraphicFramePr>
        <p:xfrm>
          <a:off x="6720840" y="1371600"/>
          <a:ext cx="4937760" cy="914400"/>
        </p:xfrm>
        <a:graphic>
          <a:graphicData uri="http://schemas.openxmlformats.org/drawingml/2006/table">
            <a:tbl>
              <a:tblPr/>
              <a:tblGrid>
                <a:gridCol w="1143000"/>
                <a:gridCol w="3794760"/>
              </a:tblGrid>
              <a:tr h="603504">
                <a:tc>
                  <a:txBody>
                    <a:bodyPr/>
                    <a:lstStyle/>
                    <a:p>
                      <a:pPr indent="0" marL="0">
                        <a:buNone/>
                      </a:pPr>
                      <a:r>
                        <a:rPr lang="en-US" sz="1400" b="1" dirty="0">
                          <a:solidFill>
                            <a:schemeClr val="bg1"/>
                          </a:solidFill>
                        </a:rPr>
                        <a:t>Format</a:t>
                      </a:r>
                      <a:endParaRPr lang="en-US" sz="1400" dirty="0"/>
                    </a:p>
                  </a:txBody>
                  <a:tcPr marL="109728" marR="109728" marT="45720" marB="45720"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Example (Oslo)</a:t>
                      </a:r>
                      <a:endParaRPr lang="en-US" sz="1400" dirty="0"/>
                    </a:p>
                  </a:txBody>
                  <a:tcPr marL="109728" marR="109728" marT="45720" marB="45720"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chemeClr val="accent1"/>
                    </a:solidFill>
                  </a:tcPr>
                </a:tc>
              </a:tr>
              <a:tr h="603504">
                <a:tc>
                  <a:txBody>
                    <a:bodyPr/>
                    <a:lstStyle/>
                    <a:p>
                      <a:pPr indent="0" marL="0">
                        <a:buNone/>
                      </a:pPr>
                      <a:r>
                        <a:rPr lang="en-US" sz="1500" dirty="0">
                          <a:solidFill>
                            <a:schemeClr val="tx1"/>
                          </a:solidFill>
                        </a:rPr>
                        <a:t>DMM</a:t>
                      </a:r>
                      <a:endParaRPr lang="en-US" sz="1500" dirty="0"/>
                    </a:p>
                  </a:txBody>
                  <a:tcPr marL="109728" marR="109728" marT="45720" marB="45720"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N 59° 54.834 E 010° 45.132</a:t>
                      </a:r>
                      <a:endParaRPr lang="en-US" sz="1400" dirty="0">
                        <a:latin typeface="Courier New" charset="0"/>
                        <a:ea typeface="Courier New" charset="0"/>
                        <a:cs typeface="Courier New" charset="0"/>
                      </a:endParaRPr>
                    </a:p>
                  </a:txBody>
                  <a:tcPr marL="109728" marR="109728" marT="45720" marB="45720"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FFFFFF"/>
                    </a:solidFill>
                  </a:tcPr>
                </a:tc>
              </a:tr>
              <a:tr h="603504">
                <a:tc>
                  <a:txBody>
                    <a:bodyPr/>
                    <a:lstStyle/>
                    <a:p>
                      <a:pPr indent="0" marL="0">
                        <a:buNone/>
                      </a:pPr>
                      <a:r>
                        <a:rPr lang="en-US" sz="1500" dirty="0">
                          <a:solidFill>
                            <a:schemeClr val="tx1"/>
                          </a:solidFill>
                        </a:rPr>
                        <a:t>DD</a:t>
                      </a:r>
                      <a:endParaRPr lang="en-US" sz="1500" dirty="0"/>
                    </a:p>
                  </a:txBody>
                  <a:tcPr marL="109728" marR="109728" marT="45720" marB="45720"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59.913900, 10.752200</a:t>
                      </a:r>
                      <a:endParaRPr lang="en-US" sz="1400" dirty="0">
                        <a:latin typeface="Courier New" charset="0"/>
                        <a:ea typeface="Courier New" charset="0"/>
                        <a:cs typeface="Courier New" charset="0"/>
                      </a:endParaRPr>
                    </a:p>
                  </a:txBody>
                  <a:tcPr marL="109728" marR="109728" marT="45720" marB="45720"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FFFFFF"/>
                    </a:solidFill>
                  </a:tcPr>
                </a:tc>
              </a:tr>
              <a:tr h="603504">
                <a:tc>
                  <a:txBody>
                    <a:bodyPr/>
                    <a:lstStyle/>
                    <a:p>
                      <a:pPr indent="0" marL="0">
                        <a:buNone/>
                      </a:pPr>
                      <a:r>
                        <a:rPr lang="en-US" sz="1500" dirty="0">
                          <a:solidFill>
                            <a:schemeClr val="tx1"/>
                          </a:solidFill>
                        </a:rPr>
                        <a:t>DMS</a:t>
                      </a:r>
                      <a:endParaRPr lang="en-US" sz="1500" dirty="0"/>
                    </a:p>
                  </a:txBody>
                  <a:tcPr marL="109728" marR="109728" marT="45720" marB="45720"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N 59° 54' 50.0" E 10° 45' 07.9"</a:t>
                      </a:r>
                      <a:endParaRPr lang="en-US" sz="1400" dirty="0">
                        <a:latin typeface="Courier New" charset="0"/>
                        <a:ea typeface="Courier New" charset="0"/>
                        <a:cs typeface="Courier New" charset="0"/>
                      </a:endParaRPr>
                    </a:p>
                  </a:txBody>
                  <a:tcPr marL="109728" marR="109728" marT="45720" marB="45720"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FFFFFF"/>
                    </a:solidFill>
                  </a:tcPr>
                </a:tc>
              </a:tr>
              <a:tr h="603504">
                <a:tc>
                  <a:txBody>
                    <a:bodyPr/>
                    <a:lstStyle/>
                    <a:p>
                      <a:pPr indent="0" marL="0">
                        <a:buNone/>
                      </a:pPr>
                      <a:r>
                        <a:rPr lang="en-US" sz="1500" dirty="0">
                          <a:solidFill>
                            <a:schemeClr val="tx1"/>
                          </a:solidFill>
                        </a:rPr>
                        <a:t>UTM</a:t>
                      </a:r>
                      <a:endParaRPr lang="en-US" sz="1500" dirty="0"/>
                    </a:p>
                  </a:txBody>
                  <a:tcPr marL="109728" marR="109728" marT="45720" marB="45720"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32V 597980E 6643119N</a:t>
                      </a:r>
                      <a:endParaRPr lang="en-US" sz="1400" dirty="0">
                        <a:latin typeface="Courier New" charset="0"/>
                        <a:ea typeface="Courier New" charset="0"/>
                        <a:cs typeface="Courier New" charset="0"/>
                      </a:endParaRPr>
                    </a:p>
                  </a:txBody>
                  <a:tcPr marL="109728" marR="109728" marT="45720" marB="45720"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FFFFFF"/>
                    </a:solidFill>
                  </a:tcPr>
                </a:tc>
              </a:tr>
              <a:tr h="603504">
                <a:tc>
                  <a:txBody>
                    <a:bodyPr/>
                    <a:lstStyle/>
                    <a:p>
                      <a:pPr indent="0" marL="0">
                        <a:buNone/>
                      </a:pPr>
                      <a:r>
                        <a:rPr lang="en-US" sz="1500" dirty="0">
                          <a:solidFill>
                            <a:schemeClr val="tx1"/>
                          </a:solidFill>
                        </a:rPr>
                        <a:t>UTM 33</a:t>
                      </a:r>
                      <a:endParaRPr lang="en-US" sz="1500" dirty="0"/>
                    </a:p>
                  </a:txBody>
                  <a:tcPr marL="109728" marR="109728" marT="45720" marB="45720"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33V 262560E 6649444N</a:t>
                      </a:r>
                      <a:endParaRPr lang="en-US" sz="1400" dirty="0">
                        <a:latin typeface="Courier New" charset="0"/>
                        <a:ea typeface="Courier New" charset="0"/>
                        <a:cs typeface="Courier New" charset="0"/>
                      </a:endParaRPr>
                    </a:p>
                  </a:txBody>
                  <a:tcPr marL="109728" marR="109728" marT="45720" marB="45720"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FFFFFF"/>
                    </a:solidFill>
                  </a:tcPr>
                </a:tc>
              </a:tr>
            </a:tbl>
          </a:graphicData>
        </a:graphic>
      </p:graphicFrame>
      <p:sp>
        <p:nvSpPr>
          <p:cNvPr id="17007" name="Text 3"/>
          <p:cNvSpPr txBox="1"/>
          <p:nvPr/>
        </p:nvSpPr>
        <p:spPr>
          <a:xfrm>
            <a:off x="6720840" y="5120640"/>
            <a:ext cx="4937760" cy="914400"/>
          </a:xfrm>
          <a:prstGeom prst="rect">
            <a:avLst/>
          </a:prstGeom>
          <a:noFill/>
          <a:ln/>
        </p:spPr>
        <p:txBody>
          <a:bodyPr wrap="square" lIns="0" tIns="0" rIns="0" bIns="0" rtlCol="0" anchor="t"/>
          <a:lstStyle/>
          <a:p>
            <a:pPr indent="0" marL="0">
              <a:buNone/>
            </a:pPr>
            <a:r>
              <a:rPr lang="en-US" sz="1500" dirty="0">
                <a:solidFill>
                  <a:schemeClr val="accent4"/>
                </a:solidFill>
              </a:rPr>
              <a:t>UTM 32, 33 and 35 with a fixed zone, as Norwegian maps use. Accurate to about a millimetre (Krüger series).</a:t>
            </a:r>
            <a:endParaRPr lang="en-US" sz="1500" dirty="0"/>
          </a:p>
        </p:txBody>
      </p:sp>
      <p:sp>
        <p:nvSpPr>
          <p:cNvPr id="17008"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8001" name=""/>
        <p:cNvGrpSpPr/>
        <p:nvPr/>
      </p:nvGrpSpPr>
      <p:grpSpPr>
        <a:xfrm>
          <a:off x="0" y="0"/>
          <a:ext cx="0" cy="0"/>
          <a:chOff x="0" y="0"/>
          <a:chExt cx="0" cy="0"/>
        </a:xfrm>
      </p:grpSpPr>
      <p:sp>
        <p:nvSpPr>
          <p:cNvPr id="1800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Right-click a cache – straight to its coordinates</a:t>
            </a:r>
            <a:endParaRPr lang="en-US" sz="3600" dirty="0"/>
          </a:p>
        </p:txBody>
      </p:sp>
      <p:sp>
        <p:nvSpPr>
          <p:cNvPr id="18003" name="Boblen festet til en geocache bakgrunn"/>
          <p:cNvSpPr/>
          <p:nvPr/>
        </p:nvSpPr>
        <p:spPr>
          <a:xfrm>
            <a:off x="6156655" y="1371600"/>
            <a:ext cx="5486400" cy="3566160"/>
          </a:xfrm>
          <a:prstGeom prst="roundRect">
            <a:avLst>
              <a:gd name="adj" fmla="val 3077"/>
            </a:avLst>
          </a:prstGeom>
          <a:solidFill>
            <a:schemeClr val="bg2"/>
          </a:solidFill>
          <a:ln/>
        </p:spPr>
      </p:sp>
      <p:pic>
        <p:nvPicPr>
          <p:cNvPr id="18004" name="Boblen festet til en geocache" descr="The popup snapped to a geocache">    </p:cNvPr>
          <p:cNvPicPr>
            <a:picLocks noChangeAspect="1"/>
          </p:cNvPicPr>
          <p:nvPr/>
        </p:nvPicPr>
        <p:blipFill>
          <a:blip r:embed="rId1"/>
          <a:stretch>
            <a:fillRect/>
          </a:stretch>
        </p:blipFill>
        <p:spPr>
          <a:xfrm>
            <a:off x="6357823" y="1709104"/>
            <a:ext cx="5084064" cy="2891152"/>
          </a:xfrm>
          <a:prstGeom prst="rect">
            <a:avLst/>
          </a:prstGeom>
        </p:spPr>
      </p:pic>
      <p:sp>
        <p:nvSpPr>
          <p:cNvPr id="18005" name="Ikon pin sirkel"/>
          <p:cNvSpPr/>
          <p:nvPr/>
        </p:nvSpPr>
        <p:spPr>
          <a:xfrm>
            <a:off x="548640" y="1499616"/>
            <a:ext cx="512064" cy="512064"/>
          </a:xfrm>
          <a:prstGeom prst="ellipse">
            <a:avLst/>
          </a:prstGeom>
          <a:solidFill>
            <a:schemeClr val="accent1"/>
          </a:solidFill>
          <a:ln/>
        </p:spPr>
      </p:sp>
      <p:pic>
        <p:nvPicPr>
          <p:cNvPr id="18006" name="Ikon pin" descr="pin">    </p:cNvPr>
          <p:cNvPicPr>
            <a:picLocks noChangeAspect="1"/>
          </p:cNvPicPr>
          <p:nvPr/>
        </p:nvPicPr>
        <p:blipFill>
          <a:blip r:embed="rId2"/>
          <a:stretch>
            <a:fillRect/>
          </a:stretch>
        </p:blipFill>
        <p:spPr>
          <a:xfrm>
            <a:off x="661294" y="1612270"/>
            <a:ext cx="286756" cy="286756"/>
          </a:xfrm>
          <a:prstGeom prst="rect">
            <a:avLst/>
          </a:prstGeom>
        </p:spPr>
      </p:pic>
      <p:sp>
        <p:nvSpPr>
          <p:cNvPr id="18007" name="Text 3"/>
          <p:cNvSpPr txBox="1"/>
          <p:nvPr/>
        </p:nvSpPr>
        <p:spPr>
          <a:xfrm>
            <a:off x="1261872" y="1426464"/>
            <a:ext cx="486460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Snaps to the cache</a:t>
            </a:r>
            <a:endParaRPr lang="en-US" sz="1700" dirty="0"/>
          </a:p>
          <a:p>
            <a:pPr indent="0" marL="0">
              <a:spcAft>
                <a:spcPts val="200"/>
              </a:spcAft>
              <a:buNone/>
            </a:pPr>
            <a:r>
              <a:rPr lang="en-US" sz="1400" dirty="0">
                <a:solidFill>
                  <a:schemeClr val="accent4"/>
                </a:solidFill>
              </a:rPr>
              <a:t>Right-click on or right next to a geocache, and the popup uses the cache's coordinates</a:t>
            </a:r>
            <a:endParaRPr lang="en-US" sz="1700" dirty="0"/>
          </a:p>
        </p:txBody>
      </p:sp>
      <p:sp>
        <p:nvSpPr>
          <p:cNvPr id="18008" name="Ikon search sirkel"/>
          <p:cNvSpPr/>
          <p:nvPr/>
        </p:nvSpPr>
        <p:spPr>
          <a:xfrm>
            <a:off x="548640" y="2688336"/>
            <a:ext cx="512064" cy="512064"/>
          </a:xfrm>
          <a:prstGeom prst="ellipse">
            <a:avLst/>
          </a:prstGeom>
          <a:solidFill>
            <a:schemeClr val="accent1"/>
          </a:solidFill>
          <a:ln/>
        </p:spPr>
      </p:sp>
      <p:pic>
        <p:nvPicPr>
          <p:cNvPr id="18009" name="Ikon search" descr="search">    </p:cNvPr>
          <p:cNvPicPr>
            <a:picLocks noChangeAspect="1"/>
          </p:cNvPicPr>
          <p:nvPr/>
        </p:nvPicPr>
        <p:blipFill>
          <a:blip r:embed="rId3"/>
          <a:stretch>
            <a:fillRect/>
          </a:stretch>
        </p:blipFill>
        <p:spPr>
          <a:xfrm>
            <a:off x="661294" y="2800990"/>
            <a:ext cx="286756" cy="286756"/>
          </a:xfrm>
          <a:prstGeom prst="rect">
            <a:avLst/>
          </a:prstGeom>
        </p:spPr>
      </p:pic>
      <p:sp>
        <p:nvSpPr>
          <p:cNvPr id="18010" name="Text 5"/>
          <p:cNvSpPr txBox="1"/>
          <p:nvPr/>
        </p:nvSpPr>
        <p:spPr>
          <a:xfrm>
            <a:off x="1261872" y="2615184"/>
            <a:ext cx="486460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GC code, name and ♥</a:t>
            </a:r>
            <a:endParaRPr lang="en-US" sz="1700" dirty="0"/>
          </a:p>
          <a:p>
            <a:pPr indent="0" marL="0">
              <a:spcAft>
                <a:spcPts val="200"/>
              </a:spcAft>
              <a:buNone/>
            </a:pPr>
            <a:r>
              <a:rPr lang="en-US" sz="1400" dirty="0">
                <a:solidFill>
                  <a:schemeClr val="accent4"/>
                </a:solidFill>
              </a:rPr>
              <a:t>Favourite points are shown; click the GC code to open the cache page</a:t>
            </a:r>
            <a:endParaRPr lang="en-US" sz="1700" dirty="0"/>
          </a:p>
        </p:txBody>
      </p:sp>
      <p:sp>
        <p:nvSpPr>
          <p:cNvPr id="18011" name="Ikon compass sirkel"/>
          <p:cNvSpPr/>
          <p:nvPr/>
        </p:nvSpPr>
        <p:spPr>
          <a:xfrm>
            <a:off x="548640" y="3877056"/>
            <a:ext cx="512064" cy="512064"/>
          </a:xfrm>
          <a:prstGeom prst="ellipse">
            <a:avLst/>
          </a:prstGeom>
          <a:solidFill>
            <a:schemeClr val="accent1"/>
          </a:solidFill>
          <a:ln/>
        </p:spPr>
      </p:sp>
      <p:pic>
        <p:nvPicPr>
          <p:cNvPr id="18012" name="Ikon compass" descr="compass">    </p:cNvPr>
          <p:cNvPicPr>
            <a:picLocks noChangeAspect="1"/>
          </p:cNvPicPr>
          <p:nvPr/>
        </p:nvPicPr>
        <p:blipFill>
          <a:blip r:embed="rId4"/>
          <a:stretch>
            <a:fillRect/>
          </a:stretch>
        </p:blipFill>
        <p:spPr>
          <a:xfrm>
            <a:off x="661294" y="3989710"/>
            <a:ext cx="286756" cy="286756"/>
          </a:xfrm>
          <a:prstGeom prst="rect">
            <a:avLst/>
          </a:prstGeom>
        </p:spPr>
      </p:pic>
      <p:sp>
        <p:nvSpPr>
          <p:cNvPr id="18013" name="Text 7"/>
          <p:cNvSpPr txBox="1"/>
          <p:nvPr/>
        </p:nvSpPr>
        <p:spPr>
          <a:xfrm>
            <a:off x="1261872" y="3803904"/>
            <a:ext cx="486460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All tools come along</a:t>
            </a:r>
            <a:endParaRPr lang="en-US" sz="1700" dirty="0"/>
          </a:p>
          <a:p>
            <a:pPr indent="0" marL="0">
              <a:spcAft>
                <a:spcPts val="200"/>
              </a:spcAft>
              <a:buNone/>
            </a:pPr>
            <a:r>
              <a:rPr lang="en-US" sz="1400" dirty="0">
                <a:solidFill>
                  <a:schemeClr val="accent4"/>
                </a:solidFill>
              </a:rPr>
              <a:t>Pin, projecting, measuring and the 161 m circle start from the cache</a:t>
            </a:r>
            <a:endParaRPr lang="en-US" sz="1700" dirty="0"/>
          </a:p>
        </p:txBody>
      </p:sp>
      <p:sp>
        <p:nvSpPr>
          <p:cNvPr id="18014" name="Ikon x sirkel"/>
          <p:cNvSpPr/>
          <p:nvPr/>
        </p:nvSpPr>
        <p:spPr>
          <a:xfrm>
            <a:off x="548640" y="5065776"/>
            <a:ext cx="512064" cy="512064"/>
          </a:xfrm>
          <a:prstGeom prst="ellipse">
            <a:avLst/>
          </a:prstGeom>
          <a:solidFill>
            <a:schemeClr val="accent1"/>
          </a:solidFill>
          <a:ln/>
        </p:spPr>
      </p:sp>
      <p:pic>
        <p:nvPicPr>
          <p:cNvPr id="18015" name="Ikon x" descr="x">    </p:cNvPr>
          <p:cNvPicPr>
            <a:picLocks noChangeAspect="1"/>
          </p:cNvPicPr>
          <p:nvPr/>
        </p:nvPicPr>
        <p:blipFill>
          <a:blip r:embed="rId5"/>
          <a:stretch>
            <a:fillRect/>
          </a:stretch>
        </p:blipFill>
        <p:spPr>
          <a:xfrm>
            <a:off x="661294" y="5178430"/>
            <a:ext cx="286756" cy="286756"/>
          </a:xfrm>
          <a:prstGeom prst="rect">
            <a:avLst/>
          </a:prstGeom>
        </p:spPr>
      </p:pic>
      <p:sp>
        <p:nvSpPr>
          <p:cNvPr id="18016" name="Text 9"/>
          <p:cNvSpPr txBox="1"/>
          <p:nvPr/>
        </p:nvSpPr>
        <p:spPr>
          <a:xfrm>
            <a:off x="1261872" y="4992624"/>
            <a:ext cx="486460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Use the clicked spot</a:t>
            </a:r>
            <a:endParaRPr lang="en-US" sz="1700" dirty="0"/>
          </a:p>
          <a:p>
            <a:pPr indent="0" marL="0">
              <a:spcAft>
                <a:spcPts val="200"/>
              </a:spcAft>
              <a:buNone/>
            </a:pPr>
            <a:r>
              <a:rPr lang="en-US" sz="1400" dirty="0">
                <a:solidFill>
                  <a:schemeClr val="accent4"/>
                </a:solidFill>
              </a:rPr>
              <a:t>One click switches to the exact spot you clicked</a:t>
            </a:r>
            <a:endParaRPr lang="en-US" sz="1700" dirty="0"/>
          </a:p>
        </p:txBody>
      </p:sp>
      <p:sp>
        <p:nvSpPr>
          <p:cNvPr id="18017" name="Text 10"/>
          <p:cNvSpPr txBox="1"/>
          <p:nvPr/>
        </p:nvSpPr>
        <p:spPr>
          <a:xfrm>
            <a:off x="6156655" y="5166360"/>
            <a:ext cx="5486400" cy="822960"/>
          </a:xfrm>
          <a:prstGeom prst="rect">
            <a:avLst/>
          </a:prstGeom>
          <a:noFill/>
          <a:ln/>
        </p:spPr>
        <p:txBody>
          <a:bodyPr wrap="square" lIns="0" tIns="0" rIns="0" bIns="0" rtlCol="0" anchor="t"/>
          <a:lstStyle/>
          <a:p>
            <a:pPr indent="0" marL="0">
              <a:buNone/>
            </a:pPr>
            <a:r>
              <a:rPr lang="en-US" sz="1500" dirty="0">
                <a:solidFill>
                  <a:schemeClr val="accent4"/>
                </a:solidFill>
              </a:rPr>
              <a:t>Exact coordinates from geocaching.com's cache search – also on /map. Only before the search has answered is the position worked out from the icon (≈).</a:t>
            </a:r>
            <a:endParaRPr lang="en-US" sz="1500" dirty="0"/>
          </a:p>
        </p:txBody>
      </p:sp>
      <p:sp>
        <p:nvSpPr>
          <p:cNvPr id="18018"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9001" name=""/>
        <p:cNvGrpSpPr/>
        <p:nvPr/>
      </p:nvGrpSpPr>
      <p:grpSpPr>
        <a:xfrm>
          <a:off x="0" y="0"/>
          <a:ext cx="0" cy="0"/>
          <a:chOff x="0" y="0"/>
          <a:chExt cx="0" cy="0"/>
        </a:xfrm>
      </p:grpSpPr>
      <p:sp>
        <p:nvSpPr>
          <p:cNvPr id="1900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Project waypoints and measure distances</a:t>
            </a:r>
            <a:endParaRPr lang="en-US" sz="3600" dirty="0"/>
          </a:p>
        </p:txBody>
      </p:sp>
      <p:sp>
        <p:nvSpPr>
          <p:cNvPr id="19003" name="Projiseringsdialogen bakgrunn"/>
          <p:cNvSpPr/>
          <p:nvPr/>
        </p:nvSpPr>
        <p:spPr>
          <a:xfrm>
            <a:off x="6888175" y="1325880"/>
            <a:ext cx="4754880" cy="4983480"/>
          </a:xfrm>
          <a:prstGeom prst="roundRect">
            <a:avLst>
              <a:gd name="adj" fmla="val 2308"/>
            </a:avLst>
          </a:prstGeom>
          <a:solidFill>
            <a:schemeClr val="bg2"/>
          </a:solidFill>
          <a:ln/>
        </p:spPr>
      </p:sp>
      <p:pic>
        <p:nvPicPr>
          <p:cNvPr id="19004" name="Projiseringsdialogen" descr="The projection dialog">    </p:cNvPr>
          <p:cNvPicPr>
            <a:picLocks noChangeAspect="1"/>
          </p:cNvPicPr>
          <p:nvPr/>
        </p:nvPicPr>
        <p:blipFill>
          <a:blip r:embed="rId1"/>
          <a:stretch>
            <a:fillRect/>
          </a:stretch>
        </p:blipFill>
        <p:spPr>
          <a:xfrm>
            <a:off x="7089343" y="1548079"/>
            <a:ext cx="4352544" cy="4539082"/>
          </a:xfrm>
          <a:prstGeom prst="rect">
            <a:avLst/>
          </a:prstGeom>
        </p:spPr>
      </p:pic>
      <p:sp>
        <p:nvSpPr>
          <p:cNvPr id="19005" name="Ikon compass sirkel"/>
          <p:cNvSpPr/>
          <p:nvPr/>
        </p:nvSpPr>
        <p:spPr>
          <a:xfrm>
            <a:off x="548640" y="1499616"/>
            <a:ext cx="512064" cy="512064"/>
          </a:xfrm>
          <a:prstGeom prst="ellipse">
            <a:avLst/>
          </a:prstGeom>
          <a:solidFill>
            <a:schemeClr val="accent1"/>
          </a:solidFill>
          <a:ln/>
        </p:spPr>
      </p:sp>
      <p:pic>
        <p:nvPicPr>
          <p:cNvPr id="19006" name="Ikon compass" descr="compass">    </p:cNvPr>
          <p:cNvPicPr>
            <a:picLocks noChangeAspect="1"/>
          </p:cNvPicPr>
          <p:nvPr/>
        </p:nvPicPr>
        <p:blipFill>
          <a:blip r:embed="rId2"/>
          <a:stretch>
            <a:fillRect/>
          </a:stretch>
        </p:blipFill>
        <p:spPr>
          <a:xfrm>
            <a:off x="661294" y="1612270"/>
            <a:ext cx="286756" cy="286756"/>
          </a:xfrm>
          <a:prstGeom prst="rect">
            <a:avLst/>
          </a:prstGeom>
        </p:spPr>
      </p:pic>
      <p:sp>
        <p:nvSpPr>
          <p:cNvPr id="19007" name="Text 3"/>
          <p:cNvSpPr txBox="1"/>
          <p:nvPr/>
        </p:nvSpPr>
        <p:spPr>
          <a:xfrm>
            <a:off x="1261872" y="1426464"/>
            <a:ext cx="532180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Project from a point</a:t>
            </a:r>
            <a:endParaRPr lang="en-US" sz="1700" dirty="0"/>
          </a:p>
          <a:p>
            <a:pPr indent="0" marL="0">
              <a:spcAft>
                <a:spcPts val="200"/>
              </a:spcAft>
              <a:buNone/>
            </a:pPr>
            <a:r>
              <a:rPr lang="en-US" sz="1400" dirty="0">
                <a:solidFill>
                  <a:schemeClr val="accent4"/>
                </a:solidFill>
              </a:rPr>
              <a:t>The start point is filled in for you. Type bearing and distance in m, km or ft</a:t>
            </a:r>
            <a:endParaRPr lang="en-US" sz="1700" dirty="0"/>
          </a:p>
        </p:txBody>
      </p:sp>
      <p:sp>
        <p:nvSpPr>
          <p:cNvPr id="19008" name="Ikon pin sirkel"/>
          <p:cNvSpPr/>
          <p:nvPr/>
        </p:nvSpPr>
        <p:spPr>
          <a:xfrm>
            <a:off x="548640" y="2688336"/>
            <a:ext cx="512064" cy="512064"/>
          </a:xfrm>
          <a:prstGeom prst="ellipse">
            <a:avLst/>
          </a:prstGeom>
          <a:solidFill>
            <a:schemeClr val="accent1"/>
          </a:solidFill>
          <a:ln/>
        </p:spPr>
      </p:sp>
      <p:pic>
        <p:nvPicPr>
          <p:cNvPr id="19009" name="Ikon pin" descr="pin">    </p:cNvPr>
          <p:cNvPicPr>
            <a:picLocks noChangeAspect="1"/>
          </p:cNvPicPr>
          <p:nvPr/>
        </p:nvPicPr>
        <p:blipFill>
          <a:blip r:embed="rId3"/>
          <a:stretch>
            <a:fillRect/>
          </a:stretch>
        </p:blipFill>
        <p:spPr>
          <a:xfrm>
            <a:off x="661294" y="2800990"/>
            <a:ext cx="286756" cy="286756"/>
          </a:xfrm>
          <a:prstGeom prst="rect">
            <a:avLst/>
          </a:prstGeom>
        </p:spPr>
      </p:pic>
      <p:sp>
        <p:nvSpPr>
          <p:cNvPr id="19010" name="Text 5"/>
          <p:cNvSpPr txBox="1"/>
          <p:nvPr/>
        </p:nvSpPr>
        <p:spPr>
          <a:xfrm>
            <a:off x="1261872" y="2615184"/>
            <a:ext cx="532180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See the result at once</a:t>
            </a:r>
            <a:endParaRPr lang="en-US" sz="1700" dirty="0"/>
          </a:p>
          <a:p>
            <a:pPr indent="0" marL="0">
              <a:spcAft>
                <a:spcPts val="200"/>
              </a:spcAft>
              <a:buNone/>
            </a:pPr>
            <a:r>
              <a:rPr lang="en-US" sz="1400" dirty="0">
                <a:solidFill>
                  <a:schemeClr val="accent4"/>
                </a:solidFill>
              </a:rPr>
              <a:t>The waypoint shows as you type, with a dashed line on the map and a copy button</a:t>
            </a:r>
            <a:endParaRPr lang="en-US" sz="1700" dirty="0"/>
          </a:p>
        </p:txBody>
      </p:sp>
      <p:sp>
        <p:nvSpPr>
          <p:cNvPr id="19011" name="Ikon ruler sirkel"/>
          <p:cNvSpPr/>
          <p:nvPr/>
        </p:nvSpPr>
        <p:spPr>
          <a:xfrm>
            <a:off x="548640" y="3877056"/>
            <a:ext cx="512064" cy="512064"/>
          </a:xfrm>
          <a:prstGeom prst="ellipse">
            <a:avLst/>
          </a:prstGeom>
          <a:solidFill>
            <a:schemeClr val="accent1"/>
          </a:solidFill>
          <a:ln/>
        </p:spPr>
      </p:sp>
      <p:pic>
        <p:nvPicPr>
          <p:cNvPr id="19012" name="Ikon ruler" descr="ruler">    </p:cNvPr>
          <p:cNvPicPr>
            <a:picLocks noChangeAspect="1"/>
          </p:cNvPicPr>
          <p:nvPr/>
        </p:nvPicPr>
        <p:blipFill>
          <a:blip r:embed="rId4"/>
          <a:stretch>
            <a:fillRect/>
          </a:stretch>
        </p:blipFill>
        <p:spPr>
          <a:xfrm>
            <a:off x="661294" y="3989710"/>
            <a:ext cx="286756" cy="286756"/>
          </a:xfrm>
          <a:prstGeom prst="rect">
            <a:avLst/>
          </a:prstGeom>
        </p:spPr>
      </p:pic>
      <p:sp>
        <p:nvSpPr>
          <p:cNvPr id="19013" name="Text 7"/>
          <p:cNvSpPr txBox="1"/>
          <p:nvPr/>
        </p:nvSpPr>
        <p:spPr>
          <a:xfrm>
            <a:off x="1261872" y="3803904"/>
            <a:ext cx="532180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Measure distance and bearing</a:t>
            </a:r>
            <a:endParaRPr lang="en-US" sz="1700" dirty="0"/>
          </a:p>
          <a:p>
            <a:pPr indent="0" marL="0">
              <a:spcAft>
                <a:spcPts val="200"/>
              </a:spcAft>
              <a:buNone/>
            </a:pPr>
            <a:r>
              <a:rPr lang="en-US" sz="1400" dirty="0">
                <a:solidFill>
                  <a:schemeClr val="accent4"/>
                </a:solidFill>
              </a:rPr>
              <a:t>Click points on the map – total length and the last leg are shown</a:t>
            </a:r>
            <a:endParaRPr lang="en-US" sz="1700" dirty="0"/>
          </a:p>
        </p:txBody>
      </p:sp>
      <p:sp>
        <p:nvSpPr>
          <p:cNvPr id="19014" name="Ikon check sirkel"/>
          <p:cNvSpPr/>
          <p:nvPr/>
        </p:nvSpPr>
        <p:spPr>
          <a:xfrm>
            <a:off x="548640" y="5065776"/>
            <a:ext cx="512064" cy="512064"/>
          </a:xfrm>
          <a:prstGeom prst="ellipse">
            <a:avLst/>
          </a:prstGeom>
          <a:solidFill>
            <a:schemeClr val="accent1"/>
          </a:solidFill>
          <a:ln/>
        </p:spPr>
      </p:sp>
      <p:pic>
        <p:nvPicPr>
          <p:cNvPr id="19015" name="Ikon check" descr="check">    </p:cNvPr>
          <p:cNvPicPr>
            <a:picLocks noChangeAspect="1"/>
          </p:cNvPicPr>
          <p:nvPr/>
        </p:nvPicPr>
        <p:blipFill>
          <a:blip r:embed="rId5"/>
          <a:stretch>
            <a:fillRect/>
          </a:stretch>
        </p:blipFill>
        <p:spPr>
          <a:xfrm>
            <a:off x="661294" y="5178430"/>
            <a:ext cx="286756" cy="286756"/>
          </a:xfrm>
          <a:prstGeom prst="rect">
            <a:avLst/>
          </a:prstGeom>
        </p:spPr>
      </p:pic>
      <p:sp>
        <p:nvSpPr>
          <p:cNvPr id="19016" name="Text 9"/>
          <p:cNvSpPr txBox="1"/>
          <p:nvPr/>
        </p:nvSpPr>
        <p:spPr>
          <a:xfrm>
            <a:off x="1261872" y="4992624"/>
            <a:ext cx="532180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Good enough for geocaching</a:t>
            </a:r>
            <a:endParaRPr lang="en-US" sz="1700" dirty="0"/>
          </a:p>
          <a:p>
            <a:pPr indent="0" marL="0">
              <a:spcAft>
                <a:spcPts val="200"/>
              </a:spcAft>
              <a:buNone/>
            </a:pPr>
            <a:r>
              <a:rPr lang="en-US" sz="1400" dirty="0">
                <a:solidFill>
                  <a:schemeClr val="accent4"/>
                </a:solidFill>
              </a:rPr>
              <a:t>The error is well below a metre at ordinary distances</a:t>
            </a:r>
            <a:endParaRPr lang="en-US" sz="1700" dirty="0"/>
          </a:p>
        </p:txBody>
      </p:sp>
      <p:sp>
        <p:nvSpPr>
          <p:cNvPr id="1901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20001" name=""/>
        <p:cNvGrpSpPr/>
        <p:nvPr/>
      </p:nvGrpSpPr>
      <p:grpSpPr>
        <a:xfrm>
          <a:off x="0" y="0"/>
          <a:ext cx="0" cy="0"/>
          <a:chOff x="0" y="0"/>
          <a:chExt cx="0" cy="0"/>
        </a:xfrm>
      </p:grpSpPr>
      <p:sp>
        <p:nvSpPr>
          <p:cNvPr id="2000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New: build a route and take it with you on your GPS</a:t>
            </a:r>
            <a:endParaRPr lang="en-US" sz="3600" dirty="0"/>
          </a:p>
        </p:txBody>
      </p:sp>
      <p:sp>
        <p:nvSpPr>
          <p:cNvPr id="20003" name="Rutevinduet bakgrunn"/>
          <p:cNvSpPr/>
          <p:nvPr/>
        </p:nvSpPr>
        <p:spPr>
          <a:xfrm>
            <a:off x="7071055" y="1325880"/>
            <a:ext cx="4572000" cy="4983480"/>
          </a:xfrm>
          <a:prstGeom prst="roundRect">
            <a:avLst>
              <a:gd name="adj" fmla="val 2400"/>
            </a:avLst>
          </a:prstGeom>
          <a:solidFill>
            <a:schemeClr val="bg2"/>
          </a:solidFill>
          <a:ln/>
        </p:spPr>
      </p:sp>
      <p:pic>
        <p:nvPicPr>
          <p:cNvPr id="20004" name="Rutevinduet" descr="The route window">    </p:cNvPr>
          <p:cNvPicPr>
            <a:picLocks noChangeAspect="1"/>
          </p:cNvPicPr>
          <p:nvPr/>
        </p:nvPicPr>
        <p:blipFill>
          <a:blip r:embed="rId1"/>
          <a:stretch>
            <a:fillRect/>
          </a:stretch>
        </p:blipFill>
        <p:spPr>
          <a:xfrm>
            <a:off x="8084515" y="1527048"/>
            <a:ext cx="2545080" cy="4581144"/>
          </a:xfrm>
          <a:prstGeom prst="rect">
            <a:avLst/>
          </a:prstGeom>
        </p:spPr>
      </p:pic>
      <p:sp>
        <p:nvSpPr>
          <p:cNvPr id="20005" name="Ikon search sirkel"/>
          <p:cNvSpPr/>
          <p:nvPr/>
        </p:nvSpPr>
        <p:spPr>
          <a:xfrm>
            <a:off x="548640" y="1499616"/>
            <a:ext cx="512064" cy="512064"/>
          </a:xfrm>
          <a:prstGeom prst="ellipse">
            <a:avLst/>
          </a:prstGeom>
          <a:solidFill>
            <a:schemeClr val="accent1"/>
          </a:solidFill>
          <a:ln/>
        </p:spPr>
      </p:sp>
      <p:pic>
        <p:nvPicPr>
          <p:cNvPr id="20006" name="Ikon search" descr="search">    </p:cNvPr>
          <p:cNvPicPr>
            <a:picLocks noChangeAspect="1"/>
          </p:cNvPicPr>
          <p:nvPr/>
        </p:nvPicPr>
        <p:blipFill>
          <a:blip r:embed="rId2"/>
          <a:stretch>
            <a:fillRect/>
          </a:stretch>
        </p:blipFill>
        <p:spPr>
          <a:xfrm>
            <a:off x="661294" y="1612270"/>
            <a:ext cx="286756" cy="286756"/>
          </a:xfrm>
          <a:prstGeom prst="rect">
            <a:avLst/>
          </a:prstGeom>
        </p:spPr>
      </p:pic>
      <p:sp>
        <p:nvSpPr>
          <p:cNvPr id="20007" name="Text 3"/>
          <p:cNvSpPr txBox="1"/>
          <p:nvPr/>
        </p:nvSpPr>
        <p:spPr>
          <a:xfrm>
            <a:off x="1261872" y="1426464"/>
            <a:ext cx="559612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Searchable list</a:t>
            </a:r>
            <a:endParaRPr lang="en-US" sz="1700" dirty="0"/>
          </a:p>
          <a:p>
            <a:pPr indent="0" marL="0">
              <a:spcAft>
                <a:spcPts val="200"/>
              </a:spcAft>
              <a:buNone/>
            </a:pPr>
            <a:r>
              <a:rPr lang="en-US" sz="1400" dirty="0">
                <a:solidFill>
                  <a:schemeClr val="accent4"/>
                </a:solidFill>
              </a:rPr>
              <a:t>Nearby geocaches and pins – and any GC code worldwide</a:t>
            </a:r>
            <a:endParaRPr lang="en-US" sz="1700" dirty="0"/>
          </a:p>
        </p:txBody>
      </p:sp>
      <p:sp>
        <p:nvSpPr>
          <p:cNvPr id="20008" name="Ikon pin sirkel"/>
          <p:cNvSpPr/>
          <p:nvPr/>
        </p:nvSpPr>
        <p:spPr>
          <a:xfrm>
            <a:off x="548640" y="2688336"/>
            <a:ext cx="512064" cy="512064"/>
          </a:xfrm>
          <a:prstGeom prst="ellipse">
            <a:avLst/>
          </a:prstGeom>
          <a:solidFill>
            <a:schemeClr val="accent1"/>
          </a:solidFill>
          <a:ln/>
        </p:spPr>
      </p:sp>
      <p:pic>
        <p:nvPicPr>
          <p:cNvPr id="20009" name="Ikon pin" descr="pin">    </p:cNvPr>
          <p:cNvPicPr>
            <a:picLocks noChangeAspect="1"/>
          </p:cNvPicPr>
          <p:nvPr/>
        </p:nvPicPr>
        <p:blipFill>
          <a:blip r:embed="rId3"/>
          <a:stretch>
            <a:fillRect/>
          </a:stretch>
        </p:blipFill>
        <p:spPr>
          <a:xfrm>
            <a:off x="661294" y="2800990"/>
            <a:ext cx="286756" cy="286756"/>
          </a:xfrm>
          <a:prstGeom prst="rect">
            <a:avLst/>
          </a:prstGeom>
        </p:spPr>
      </p:pic>
      <p:sp>
        <p:nvSpPr>
          <p:cNvPr id="20010" name="Text 5"/>
          <p:cNvSpPr txBox="1"/>
          <p:nvPr/>
        </p:nvSpPr>
        <p:spPr>
          <a:xfrm>
            <a:off x="1261872" y="2615184"/>
            <a:ext cx="559612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Pick on the map</a:t>
            </a:r>
            <a:endParaRPr lang="en-US" sz="1700" dirty="0"/>
          </a:p>
          <a:p>
            <a:pPr indent="0" marL="0">
              <a:spcAft>
                <a:spcPts val="200"/>
              </a:spcAft>
              <a:buNone/>
            </a:pPr>
            <a:r>
              <a:rPr lang="en-US" sz="1400" dirty="0">
                <a:solidFill>
                  <a:schemeClr val="accent4"/>
                </a:solidFill>
              </a:rPr>
              <a:t>Click caches and pins while the route window is open, or use the right-click popup</a:t>
            </a:r>
            <a:endParaRPr lang="en-US" sz="1700" dirty="0"/>
          </a:p>
        </p:txBody>
      </p:sp>
      <p:sp>
        <p:nvSpPr>
          <p:cNvPr id="20011" name="Ikon route sirkel"/>
          <p:cNvSpPr/>
          <p:nvPr/>
        </p:nvSpPr>
        <p:spPr>
          <a:xfrm>
            <a:off x="548640" y="3877056"/>
            <a:ext cx="512064" cy="512064"/>
          </a:xfrm>
          <a:prstGeom prst="ellipse">
            <a:avLst/>
          </a:prstGeom>
          <a:solidFill>
            <a:schemeClr val="accent1"/>
          </a:solidFill>
          <a:ln/>
        </p:spPr>
      </p:sp>
      <p:pic>
        <p:nvPicPr>
          <p:cNvPr id="20012" name="Ikon route" descr="route">    </p:cNvPr>
          <p:cNvPicPr>
            <a:picLocks noChangeAspect="1"/>
          </p:cNvPicPr>
          <p:nvPr/>
        </p:nvPicPr>
        <p:blipFill>
          <a:blip r:embed="rId4"/>
          <a:stretch>
            <a:fillRect/>
          </a:stretch>
        </p:blipFill>
        <p:spPr>
          <a:xfrm>
            <a:off x="661294" y="3989710"/>
            <a:ext cx="286756" cy="286756"/>
          </a:xfrm>
          <a:prstGeom prst="rect">
            <a:avLst/>
          </a:prstGeom>
        </p:spPr>
      </p:pic>
      <p:sp>
        <p:nvSpPr>
          <p:cNvPr id="20013" name="Text 7"/>
          <p:cNvSpPr txBox="1"/>
          <p:nvPr/>
        </p:nvSpPr>
        <p:spPr>
          <a:xfrm>
            <a:off x="1261872" y="3803904"/>
            <a:ext cx="559612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Order and round trip</a:t>
            </a:r>
            <a:endParaRPr lang="en-US" sz="1700" dirty="0"/>
          </a:p>
          <a:p>
            <a:pPr indent="0" marL="0">
              <a:spcAft>
                <a:spcPts val="200"/>
              </a:spcAft>
              <a:buNone/>
            </a:pPr>
            <a:r>
              <a:rPr lang="en-US" sz="1400" dirty="0">
                <a:solidFill>
                  <a:schemeClr val="accent4"/>
                </a:solidFill>
              </a:rPr>
              <a:t>Move stops, sort by nearest, see every leg – and end at the start</a:t>
            </a:r>
            <a:endParaRPr lang="en-US" sz="1700" dirty="0"/>
          </a:p>
        </p:txBody>
      </p:sp>
      <p:sp>
        <p:nvSpPr>
          <p:cNvPr id="20014" name="Ikon download sirkel"/>
          <p:cNvSpPr/>
          <p:nvPr/>
        </p:nvSpPr>
        <p:spPr>
          <a:xfrm>
            <a:off x="548640" y="5065776"/>
            <a:ext cx="512064" cy="512064"/>
          </a:xfrm>
          <a:prstGeom prst="ellipse">
            <a:avLst/>
          </a:prstGeom>
          <a:solidFill>
            <a:schemeClr val="accent1"/>
          </a:solidFill>
          <a:ln/>
        </p:spPr>
      </p:sp>
      <p:pic>
        <p:nvPicPr>
          <p:cNvPr id="20015" name="Ikon download" descr="download">    </p:cNvPr>
          <p:cNvPicPr>
            <a:picLocks noChangeAspect="1"/>
          </p:cNvPicPr>
          <p:nvPr/>
        </p:nvPicPr>
        <p:blipFill>
          <a:blip r:embed="rId5"/>
          <a:stretch>
            <a:fillRect/>
          </a:stretch>
        </p:blipFill>
        <p:spPr>
          <a:xfrm>
            <a:off x="661294" y="5178430"/>
            <a:ext cx="286756" cy="286756"/>
          </a:xfrm>
          <a:prstGeom prst="rect">
            <a:avLst/>
          </a:prstGeom>
        </p:spPr>
      </p:pic>
      <p:sp>
        <p:nvSpPr>
          <p:cNvPr id="20016" name="Text 9"/>
          <p:cNvSpPr txBox="1"/>
          <p:nvPr/>
        </p:nvSpPr>
        <p:spPr>
          <a:xfrm>
            <a:off x="1261872" y="4992624"/>
            <a:ext cx="559612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Preview and download</a:t>
            </a:r>
            <a:endParaRPr lang="en-US" sz="1700" dirty="0"/>
          </a:p>
          <a:p>
            <a:pPr indent="0" marL="0">
              <a:spcAft>
                <a:spcPts val="200"/>
              </a:spcAft>
              <a:buNone/>
            </a:pPr>
            <a:r>
              <a:rPr lang="en-US" sz="1400" dirty="0">
                <a:solidFill>
                  <a:schemeClr val="accent4"/>
                </a:solidFill>
              </a:rPr>
              <a:t>GPX with Garmin symbols – optionally with full cache data (paperless caches)</a:t>
            </a:r>
            <a:endParaRPr lang="en-US" sz="1700" dirty="0"/>
          </a:p>
        </p:txBody>
      </p:sp>
      <p:sp>
        <p:nvSpPr>
          <p:cNvPr id="2001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21001" name=""/>
        <p:cNvGrpSpPr/>
        <p:nvPr/>
      </p:nvGrpSpPr>
      <p:grpSpPr>
        <a:xfrm>
          <a:off x="0" y="0"/>
          <a:ext cx="0" cy="0"/>
          <a:chOff x="0" y="0"/>
          <a:chExt cx="0" cy="0"/>
        </a:xfrm>
      </p:grpSpPr>
      <p:sp>
        <p:nvSpPr>
          <p:cNvPr id="2100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New: the geocaches on the map in a list</a:t>
            </a:r>
            <a:endParaRPr lang="en-US" sz="3600" dirty="0"/>
          </a:p>
        </p:txBody>
      </p:sp>
      <p:sp>
        <p:nvSpPr>
          <p:cNvPr id="21003" name="Cachelisten bakgrunn"/>
          <p:cNvSpPr/>
          <p:nvPr/>
        </p:nvSpPr>
        <p:spPr>
          <a:xfrm>
            <a:off x="7619695" y="1325880"/>
            <a:ext cx="4023360" cy="4983480"/>
          </a:xfrm>
          <a:prstGeom prst="roundRect">
            <a:avLst>
              <a:gd name="adj" fmla="val 2727"/>
            </a:avLst>
          </a:prstGeom>
          <a:solidFill>
            <a:schemeClr val="bg2"/>
          </a:solidFill>
          <a:ln/>
        </p:spPr>
      </p:sp>
      <p:pic>
        <p:nvPicPr>
          <p:cNvPr id="21004" name="Cachelisten" descr="The cache list">    </p:cNvPr>
          <p:cNvPicPr>
            <a:picLocks noChangeAspect="1"/>
          </p:cNvPicPr>
          <p:nvPr/>
        </p:nvPicPr>
        <p:blipFill>
          <a:blip r:embed="rId1"/>
          <a:stretch>
            <a:fillRect/>
          </a:stretch>
        </p:blipFill>
        <p:spPr>
          <a:xfrm>
            <a:off x="7934655" y="1527048"/>
            <a:ext cx="3393440" cy="4581144"/>
          </a:xfrm>
          <a:prstGeom prst="rect">
            <a:avLst/>
          </a:prstGeom>
        </p:spPr>
      </p:pic>
      <p:sp>
        <p:nvSpPr>
          <p:cNvPr id="21005" name="Ikon list sirkel"/>
          <p:cNvSpPr/>
          <p:nvPr/>
        </p:nvSpPr>
        <p:spPr>
          <a:xfrm>
            <a:off x="548640" y="1499616"/>
            <a:ext cx="512064" cy="512064"/>
          </a:xfrm>
          <a:prstGeom prst="ellipse">
            <a:avLst/>
          </a:prstGeom>
          <a:solidFill>
            <a:schemeClr val="accent1"/>
          </a:solidFill>
          <a:ln/>
        </p:spPr>
      </p:sp>
      <p:pic>
        <p:nvPicPr>
          <p:cNvPr id="21006" name="Ikon list" descr="list">    </p:cNvPr>
          <p:cNvPicPr>
            <a:picLocks noChangeAspect="1"/>
          </p:cNvPicPr>
          <p:nvPr/>
        </p:nvPicPr>
        <p:blipFill>
          <a:blip r:embed="rId2"/>
          <a:stretch>
            <a:fillRect/>
          </a:stretch>
        </p:blipFill>
        <p:spPr>
          <a:xfrm>
            <a:off x="661294" y="1612270"/>
            <a:ext cx="286756" cy="286756"/>
          </a:xfrm>
          <a:prstGeom prst="rect">
            <a:avLst/>
          </a:prstGeom>
        </p:spPr>
      </p:pic>
      <p:sp>
        <p:nvSpPr>
          <p:cNvPr id="21007" name="Text 3"/>
          <p:cNvSpPr txBox="1"/>
          <p:nvPr/>
        </p:nvSpPr>
        <p:spPr>
          <a:xfrm>
            <a:off x="1261872" y="1426464"/>
            <a:ext cx="605332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Follows the map</a:t>
            </a:r>
            <a:endParaRPr lang="en-US" sz="1700" dirty="0"/>
          </a:p>
          <a:p>
            <a:pPr indent="0" marL="0">
              <a:spcAft>
                <a:spcPts val="200"/>
              </a:spcAft>
              <a:buNone/>
            </a:pPr>
            <a:r>
              <a:rPr lang="en-US" sz="1400" dirty="0">
                <a:solidFill>
                  <a:schemeClr val="accent4"/>
                </a:solidFill>
              </a:rPr>
              <a:t>The geocaches on the map you see, nearest the middle first – with Solved, Found, Owned, D/T and ♥</a:t>
            </a:r>
            <a:endParaRPr lang="en-US" sz="1700" dirty="0"/>
          </a:p>
        </p:txBody>
      </p:sp>
      <p:sp>
        <p:nvSpPr>
          <p:cNvPr id="21008" name="Ikon search sirkel"/>
          <p:cNvSpPr/>
          <p:nvPr/>
        </p:nvSpPr>
        <p:spPr>
          <a:xfrm>
            <a:off x="548640" y="2688336"/>
            <a:ext cx="512064" cy="512064"/>
          </a:xfrm>
          <a:prstGeom prst="ellipse">
            <a:avLst/>
          </a:prstGeom>
          <a:solidFill>
            <a:schemeClr val="accent1"/>
          </a:solidFill>
          <a:ln/>
        </p:spPr>
      </p:sp>
      <p:pic>
        <p:nvPicPr>
          <p:cNvPr id="21009" name="Ikon search" descr="search">    </p:cNvPr>
          <p:cNvPicPr>
            <a:picLocks noChangeAspect="1"/>
          </p:cNvPicPr>
          <p:nvPr/>
        </p:nvPicPr>
        <p:blipFill>
          <a:blip r:embed="rId3"/>
          <a:stretch>
            <a:fillRect/>
          </a:stretch>
        </p:blipFill>
        <p:spPr>
          <a:xfrm>
            <a:off x="661294" y="2800990"/>
            <a:ext cx="286756" cy="286756"/>
          </a:xfrm>
          <a:prstGeom prst="rect">
            <a:avLst/>
          </a:prstGeom>
        </p:spPr>
      </p:pic>
      <p:sp>
        <p:nvSpPr>
          <p:cNvPr id="21010" name="Text 5"/>
          <p:cNvSpPr txBox="1"/>
          <p:nvPr/>
        </p:nvSpPr>
        <p:spPr>
          <a:xfrm>
            <a:off x="1261872" y="2615184"/>
            <a:ext cx="605332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Point and find</a:t>
            </a:r>
            <a:endParaRPr lang="en-US" sz="1700" dirty="0"/>
          </a:p>
          <a:p>
            <a:pPr indent="0" marL="0">
              <a:spcAft>
                <a:spcPts val="200"/>
              </a:spcAft>
              <a:buNone/>
            </a:pPr>
            <a:r>
              <a:rPr lang="en-US" sz="1400" dirty="0">
                <a:solidFill>
                  <a:schemeClr val="accent4"/>
                </a:solidFill>
              </a:rPr>
              <a:t>Point at a cache on the map and it is highlighted in the list. Filter by code or name</a:t>
            </a:r>
            <a:endParaRPr lang="en-US" sz="1700" dirty="0"/>
          </a:p>
        </p:txBody>
      </p:sp>
      <p:sp>
        <p:nvSpPr>
          <p:cNvPr id="21011" name="Ikon locate sirkel"/>
          <p:cNvSpPr/>
          <p:nvPr/>
        </p:nvSpPr>
        <p:spPr>
          <a:xfrm>
            <a:off x="548640" y="3877056"/>
            <a:ext cx="512064" cy="512064"/>
          </a:xfrm>
          <a:prstGeom prst="ellipse">
            <a:avLst/>
          </a:prstGeom>
          <a:solidFill>
            <a:schemeClr val="accent1"/>
          </a:solidFill>
          <a:ln/>
        </p:spPr>
      </p:sp>
      <p:pic>
        <p:nvPicPr>
          <p:cNvPr id="21012" name="Ikon locate" descr="locate">    </p:cNvPr>
          <p:cNvPicPr>
            <a:picLocks noChangeAspect="1"/>
          </p:cNvPicPr>
          <p:nvPr/>
        </p:nvPicPr>
        <p:blipFill>
          <a:blip r:embed="rId4"/>
          <a:stretch>
            <a:fillRect/>
          </a:stretch>
        </p:blipFill>
        <p:spPr>
          <a:xfrm>
            <a:off x="661294" y="3989710"/>
            <a:ext cx="286756" cy="286756"/>
          </a:xfrm>
          <a:prstGeom prst="rect">
            <a:avLst/>
          </a:prstGeom>
        </p:spPr>
      </p:pic>
      <p:sp>
        <p:nvSpPr>
          <p:cNvPr id="21013" name="Text 7"/>
          <p:cNvSpPr txBox="1"/>
          <p:nvPr/>
        </p:nvSpPr>
        <p:spPr>
          <a:xfrm>
            <a:off x="1261872" y="3803904"/>
            <a:ext cx="605332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Zoom with a glow</a:t>
            </a:r>
            <a:endParaRPr lang="en-US" sz="1700" dirty="0"/>
          </a:p>
          <a:p>
            <a:pPr indent="0" marL="0">
              <a:spcAft>
                <a:spcPts val="200"/>
              </a:spcAft>
              <a:buNone/>
            </a:pPr>
            <a:r>
              <a:rPr lang="en-US" sz="1400" dirty="0">
                <a:solidFill>
                  <a:schemeClr val="accent4"/>
                </a:solidFill>
              </a:rPr>
              <a:t>Click to zoom all the way in – the cache glows on the map. Click again to go back</a:t>
            </a:r>
            <a:endParaRPr lang="en-US" sz="1700" dirty="0"/>
          </a:p>
        </p:txBody>
      </p:sp>
      <p:sp>
        <p:nvSpPr>
          <p:cNvPr id="21014" name="Ikon external sirkel"/>
          <p:cNvSpPr/>
          <p:nvPr/>
        </p:nvSpPr>
        <p:spPr>
          <a:xfrm>
            <a:off x="548640" y="5065776"/>
            <a:ext cx="512064" cy="512064"/>
          </a:xfrm>
          <a:prstGeom prst="ellipse">
            <a:avLst/>
          </a:prstGeom>
          <a:solidFill>
            <a:schemeClr val="accent1"/>
          </a:solidFill>
          <a:ln/>
        </p:spPr>
      </p:sp>
      <p:pic>
        <p:nvPicPr>
          <p:cNvPr id="21015" name="Ikon external" descr="external">    </p:cNvPr>
          <p:cNvPicPr>
            <a:picLocks noChangeAspect="1"/>
          </p:cNvPicPr>
          <p:nvPr/>
        </p:nvPicPr>
        <p:blipFill>
          <a:blip r:embed="rId5"/>
          <a:stretch>
            <a:fillRect/>
          </a:stretch>
        </p:blipFill>
        <p:spPr>
          <a:xfrm>
            <a:off x="661294" y="5178430"/>
            <a:ext cx="286756" cy="286756"/>
          </a:xfrm>
          <a:prstGeom prst="rect">
            <a:avLst/>
          </a:prstGeom>
        </p:spPr>
      </p:pic>
      <p:sp>
        <p:nvSpPr>
          <p:cNvPr id="21016" name="Text 9"/>
          <p:cNvSpPr txBox="1"/>
          <p:nvPr/>
        </p:nvSpPr>
        <p:spPr>
          <a:xfrm>
            <a:off x="1261872" y="4992624"/>
            <a:ext cx="605332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The cache page</a:t>
            </a:r>
            <a:endParaRPr lang="en-US" sz="1700" dirty="0"/>
          </a:p>
          <a:p>
            <a:pPr indent="0" marL="0">
              <a:spcAft>
                <a:spcPts val="200"/>
              </a:spcAft>
              <a:buNone/>
            </a:pPr>
            <a:r>
              <a:rPr lang="en-US" sz="1400" dirty="0">
                <a:solidFill>
                  <a:schemeClr val="accent4"/>
                </a:solidFill>
              </a:rPr>
              <a:t>The button on the line opens the cache page in a new tab</a:t>
            </a:r>
            <a:endParaRPr lang="en-US" sz="1700" dirty="0"/>
          </a:p>
        </p:txBody>
      </p:sp>
      <p:sp>
        <p:nvSpPr>
          <p:cNvPr id="2101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22001" name=""/>
        <p:cNvGrpSpPr/>
        <p:nvPr/>
      </p:nvGrpSpPr>
      <p:grpSpPr>
        <a:xfrm>
          <a:off x="0" y="0"/>
          <a:ext cx="0" cy="0"/>
          <a:chOff x="0" y="0"/>
          <a:chExt cx="0" cy="0"/>
        </a:xfrm>
      </p:grpSpPr>
      <p:sp>
        <p:nvSpPr>
          <p:cNvPr id="2200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161 m circles where something is placed</a:t>
            </a:r>
            <a:endParaRPr lang="en-US" sz="3600" dirty="0"/>
          </a:p>
        </p:txBody>
      </p:sp>
      <p:sp>
        <p:nvSpPr>
          <p:cNvPr id="22003" name="Ikon circles sirkel"/>
          <p:cNvSpPr/>
          <p:nvPr/>
        </p:nvSpPr>
        <p:spPr>
          <a:xfrm>
            <a:off x="548640" y="1499616"/>
            <a:ext cx="512064" cy="512064"/>
          </a:xfrm>
          <a:prstGeom prst="ellipse">
            <a:avLst/>
          </a:prstGeom>
          <a:solidFill>
            <a:schemeClr val="accent1"/>
          </a:solidFill>
          <a:ln/>
        </p:spPr>
      </p:sp>
      <p:pic>
        <p:nvPicPr>
          <p:cNvPr id="22004" name="Ikon circles" descr="circles">    </p:cNvPr>
          <p:cNvPicPr>
            <a:picLocks noChangeAspect="1"/>
          </p:cNvPicPr>
          <p:nvPr/>
        </p:nvPicPr>
        <p:blipFill>
          <a:blip r:embed="rId1"/>
          <a:stretch>
            <a:fillRect/>
          </a:stretch>
        </p:blipFill>
        <p:spPr>
          <a:xfrm>
            <a:off x="661294" y="1612270"/>
            <a:ext cx="286756" cy="286756"/>
          </a:xfrm>
          <a:prstGeom prst="rect">
            <a:avLst/>
          </a:prstGeom>
        </p:spPr>
      </p:pic>
      <p:sp>
        <p:nvSpPr>
          <p:cNvPr id="22005" name="Text 2"/>
          <p:cNvSpPr txBox="1"/>
          <p:nvPr/>
        </p:nvSpPr>
        <p:spPr>
          <a:xfrm>
            <a:off x="1261872" y="1426464"/>
            <a:ext cx="6053328" cy="109728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Traditional caches</a:t>
            </a:r>
            <a:endParaRPr lang="en-US" sz="1700" dirty="0"/>
          </a:p>
          <a:p>
            <a:pPr indent="0" marL="0">
              <a:spcAft>
                <a:spcPts val="200"/>
              </a:spcAft>
              <a:buNone/>
            </a:pPr>
            <a:r>
              <a:rPr lang="en-US" sz="1400" dirty="0">
                <a:solidFill>
                  <a:schemeClr val="accent4"/>
                </a:solidFill>
              </a:rPr>
              <a:t>At their exact posted coordinates</a:t>
            </a:r>
            <a:endParaRPr lang="en-US" sz="1700" dirty="0"/>
          </a:p>
        </p:txBody>
      </p:sp>
      <p:sp>
        <p:nvSpPr>
          <p:cNvPr id="22006" name="Ikon check sirkel"/>
          <p:cNvSpPr/>
          <p:nvPr/>
        </p:nvSpPr>
        <p:spPr>
          <a:xfrm>
            <a:off x="548640" y="2642616"/>
            <a:ext cx="512064" cy="512064"/>
          </a:xfrm>
          <a:prstGeom prst="ellipse">
            <a:avLst/>
          </a:prstGeom>
          <a:solidFill>
            <a:schemeClr val="accent1"/>
          </a:solidFill>
          <a:ln/>
        </p:spPr>
      </p:sp>
      <p:pic>
        <p:nvPicPr>
          <p:cNvPr id="22007" name="Ikon check" descr="check">    </p:cNvPr>
          <p:cNvPicPr>
            <a:picLocks noChangeAspect="1"/>
          </p:cNvPicPr>
          <p:nvPr/>
        </p:nvPicPr>
        <p:blipFill>
          <a:blip r:embed="rId2"/>
          <a:stretch>
            <a:fillRect/>
          </a:stretch>
        </p:blipFill>
        <p:spPr>
          <a:xfrm>
            <a:off x="661294" y="2755270"/>
            <a:ext cx="286756" cy="286756"/>
          </a:xfrm>
          <a:prstGeom prst="rect">
            <a:avLst/>
          </a:prstGeom>
        </p:spPr>
      </p:pic>
      <p:sp>
        <p:nvSpPr>
          <p:cNvPr id="22008" name="Text 4"/>
          <p:cNvSpPr txBox="1"/>
          <p:nvPr/>
        </p:nvSpPr>
        <p:spPr>
          <a:xfrm>
            <a:off x="1261872" y="2569464"/>
            <a:ext cx="6053328" cy="109728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Solved caches</a:t>
            </a:r>
            <a:endParaRPr lang="en-US" sz="1700" dirty="0"/>
          </a:p>
          <a:p>
            <a:pPr indent="0" marL="0">
              <a:spcAft>
                <a:spcPts val="200"/>
              </a:spcAft>
              <a:buNone/>
            </a:pPr>
            <a:r>
              <a:rPr lang="en-US" sz="1400" dirty="0">
                <a:solidFill>
                  <a:schemeClr val="accent4"/>
                </a:solidFill>
              </a:rPr>
              <a:t>At your corrected coordinates – also when the icon has moved back after a find</a:t>
            </a:r>
            <a:endParaRPr lang="en-US" sz="1700" dirty="0"/>
          </a:p>
        </p:txBody>
      </p:sp>
      <p:sp>
        <p:nvSpPr>
          <p:cNvPr id="22009" name="Ikon pin sirkel"/>
          <p:cNvSpPr/>
          <p:nvPr/>
        </p:nvSpPr>
        <p:spPr>
          <a:xfrm>
            <a:off x="548640" y="3785616"/>
            <a:ext cx="512064" cy="512064"/>
          </a:xfrm>
          <a:prstGeom prst="ellipse">
            <a:avLst/>
          </a:prstGeom>
          <a:solidFill>
            <a:schemeClr val="accent1"/>
          </a:solidFill>
          <a:ln/>
        </p:spPr>
      </p:sp>
      <p:pic>
        <p:nvPicPr>
          <p:cNvPr id="22010" name="Ikon pin" descr="pin">    </p:cNvPr>
          <p:cNvPicPr>
            <a:picLocks noChangeAspect="1"/>
          </p:cNvPicPr>
          <p:nvPr/>
        </p:nvPicPr>
        <p:blipFill>
          <a:blip r:embed="rId3"/>
          <a:stretch>
            <a:fillRect/>
          </a:stretch>
        </p:blipFill>
        <p:spPr>
          <a:xfrm>
            <a:off x="661294" y="3898270"/>
            <a:ext cx="286756" cy="286756"/>
          </a:xfrm>
          <a:prstGeom prst="rect">
            <a:avLst/>
          </a:prstGeom>
        </p:spPr>
      </p:pic>
      <p:sp>
        <p:nvSpPr>
          <p:cNvPr id="22011" name="Text 6"/>
          <p:cNvSpPr txBox="1"/>
          <p:nvPr/>
        </p:nvSpPr>
        <p:spPr>
          <a:xfrm>
            <a:off x="1261872" y="3712464"/>
            <a:ext cx="6053328" cy="109728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Physical stages and finals</a:t>
            </a:r>
            <a:endParaRPr lang="en-US" sz="1700" dirty="0"/>
          </a:p>
          <a:p>
            <a:pPr indent="0" marL="0">
              <a:spcAft>
                <a:spcPts val="200"/>
              </a:spcAft>
              <a:buNone/>
            </a:pPr>
            <a:r>
              <a:rPr lang="en-US" sz="1400" dirty="0">
                <a:solidFill>
                  <a:schemeClr val="accent4"/>
                </a:solidFill>
              </a:rPr>
              <a:t>Visible stages of multis, mysteries, Wherigos and letterboxes, read from the cache page</a:t>
            </a:r>
            <a:endParaRPr lang="en-US" sz="1700" dirty="0"/>
          </a:p>
        </p:txBody>
      </p:sp>
      <p:sp>
        <p:nvSpPr>
          <p:cNvPr id="22012" name="Ikon ring sirkel"/>
          <p:cNvSpPr/>
          <p:nvPr/>
        </p:nvSpPr>
        <p:spPr>
          <a:xfrm>
            <a:off x="548640" y="4928616"/>
            <a:ext cx="512064" cy="512064"/>
          </a:xfrm>
          <a:prstGeom prst="ellipse">
            <a:avLst/>
          </a:prstGeom>
          <a:solidFill>
            <a:schemeClr val="accent1"/>
          </a:solidFill>
          <a:ln/>
        </p:spPr>
      </p:sp>
      <p:pic>
        <p:nvPicPr>
          <p:cNvPr id="22013" name="Ikon ring" descr="ring">    </p:cNvPr>
          <p:cNvPicPr>
            <a:picLocks noChangeAspect="1"/>
          </p:cNvPicPr>
          <p:nvPr/>
        </p:nvPicPr>
        <p:blipFill>
          <a:blip r:embed="rId4"/>
          <a:stretch>
            <a:fillRect/>
          </a:stretch>
        </p:blipFill>
        <p:spPr>
          <a:xfrm>
            <a:off x="661294" y="5041270"/>
            <a:ext cx="286756" cy="286756"/>
          </a:xfrm>
          <a:prstGeom prst="rect">
            <a:avLst/>
          </a:prstGeom>
        </p:spPr>
      </p:pic>
      <p:sp>
        <p:nvSpPr>
          <p:cNvPr id="22014" name="Text 8"/>
          <p:cNvSpPr txBox="1"/>
          <p:nvPr/>
        </p:nvSpPr>
        <p:spPr>
          <a:xfrm>
            <a:off x="1261872" y="4855464"/>
            <a:ext cx="6053328" cy="109728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Single circle</a:t>
            </a:r>
            <a:endParaRPr lang="en-US" sz="1700" dirty="0"/>
          </a:p>
          <a:p>
            <a:pPr indent="0" marL="0">
              <a:spcAft>
                <a:spcPts val="200"/>
              </a:spcAft>
              <a:buNone/>
            </a:pPr>
            <a:r>
              <a:rPr lang="en-US" sz="1400" dirty="0">
                <a:solidFill>
                  <a:schemeClr val="accent4"/>
                </a:solidFill>
              </a:rPr>
              <a:t>Right-click anywhere and choose 161 m circle</a:t>
            </a:r>
            <a:endParaRPr lang="en-US" sz="1700" dirty="0"/>
          </a:p>
        </p:txBody>
      </p:sp>
      <p:sp>
        <p:nvSpPr>
          <p:cNvPr id="22015" name="Merke ved en løst cache bakgrunn"/>
          <p:cNvSpPr/>
          <p:nvPr/>
        </p:nvSpPr>
        <p:spPr>
          <a:xfrm>
            <a:off x="7802575" y="1463040"/>
            <a:ext cx="3840480" cy="2834640"/>
          </a:xfrm>
          <a:prstGeom prst="roundRect">
            <a:avLst>
              <a:gd name="adj" fmla="val 3871"/>
            </a:avLst>
          </a:prstGeom>
          <a:solidFill>
            <a:schemeClr val="bg2"/>
          </a:solidFill>
          <a:ln/>
        </p:spPr>
      </p:sp>
      <p:pic>
        <p:nvPicPr>
          <p:cNvPr id="22016" name="Merke ved en løst cache" descr="Mark at a solved cache">    </p:cNvPr>
          <p:cNvPicPr>
            <a:picLocks noChangeAspect="1"/>
          </p:cNvPicPr>
          <p:nvPr/>
        </p:nvPicPr>
        <p:blipFill>
          <a:blip r:embed="rId5"/>
          <a:stretch>
            <a:fillRect/>
          </a:stretch>
        </p:blipFill>
        <p:spPr>
          <a:xfrm>
            <a:off x="8058607" y="1664208"/>
            <a:ext cx="3328416" cy="2432304"/>
          </a:xfrm>
          <a:prstGeom prst="rect">
            <a:avLst/>
          </a:prstGeom>
        </p:spPr>
      </p:pic>
      <p:sp>
        <p:nvSpPr>
          <p:cNvPr id="22017" name="Text 10"/>
          <p:cNvSpPr txBox="1"/>
          <p:nvPr/>
        </p:nvSpPr>
        <p:spPr>
          <a:xfrm>
            <a:off x="7802575" y="4526280"/>
            <a:ext cx="3840480" cy="1280160"/>
          </a:xfrm>
          <a:prstGeom prst="rect">
            <a:avLst/>
          </a:prstGeom>
          <a:noFill/>
          <a:ln/>
        </p:spPr>
        <p:txBody>
          <a:bodyPr wrap="square" lIns="0" tIns="0" rIns="0" bIns="0" rtlCol="0" anchor="t"/>
          <a:lstStyle/>
          <a:p>
            <a:pPr indent="0" marL="0">
              <a:buNone/>
            </a:pPr>
            <a:r>
              <a:rPr lang="en-US" sz="1500" dirty="0">
                <a:solidFill>
                  <a:schemeClr val="accent4"/>
                </a:solidFill>
              </a:rPr>
              <a:t>Where no cache icon shows the spot, a clickable mark sits in the middle of the circle. Hovering over a solved cache shows “Final location”; right-click gives the exact coordinates.</a:t>
            </a:r>
            <a:endParaRPr lang="en-US" sz="1500" dirty="0"/>
          </a:p>
        </p:txBody>
      </p:sp>
      <p:sp>
        <p:nvSpPr>
          <p:cNvPr id="22018"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23001" name=""/>
        <p:cNvGrpSpPr/>
        <p:nvPr/>
      </p:nvGrpSpPr>
      <p:grpSpPr>
        <a:xfrm>
          <a:off x="0" y="0"/>
          <a:ext cx="0" cy="0"/>
          <a:chOff x="0" y="0"/>
          <a:chExt cx="0" cy="0"/>
        </a:xfrm>
      </p:grpSpPr>
      <p:sp>
        <p:nvSpPr>
          <p:cNvPr id="2300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161 m circles, cache pages and home</a:t>
            </a:r>
            <a:endParaRPr lang="en-US" sz="3600" dirty="0"/>
          </a:p>
        </p:txBody>
      </p:sp>
      <p:sp>
        <p:nvSpPr>
          <p:cNvPr id="23003" name="Kort 161 m-sirkler"/>
          <p:cNvSpPr/>
          <p:nvPr/>
        </p:nvSpPr>
        <p:spPr>
          <a:xfrm>
            <a:off x="548640" y="1508760"/>
            <a:ext cx="3484778" cy="4206240"/>
          </a:xfrm>
          <a:prstGeom prst="roundRect">
            <a:avLst>
              <a:gd name="adj" fmla="val 3149"/>
            </a:avLst>
          </a:prstGeom>
          <a:solidFill>
            <a:schemeClr val="bg2"/>
          </a:solidFill>
          <a:ln/>
        </p:spPr>
      </p:sp>
      <p:sp>
        <p:nvSpPr>
          <p:cNvPr id="23004" name="Ikon circles sirkel"/>
          <p:cNvSpPr/>
          <p:nvPr/>
        </p:nvSpPr>
        <p:spPr>
          <a:xfrm>
            <a:off x="914400" y="1920240"/>
            <a:ext cx="822960" cy="822960"/>
          </a:xfrm>
          <a:prstGeom prst="ellipse">
            <a:avLst/>
          </a:prstGeom>
          <a:solidFill>
            <a:schemeClr val="accent1"/>
          </a:solidFill>
          <a:ln/>
        </p:spPr>
      </p:sp>
      <p:pic>
        <p:nvPicPr>
          <p:cNvPr id="23005" name="Ikon circles" descr="circles">    </p:cNvPr>
          <p:cNvPicPr>
            <a:picLocks noChangeAspect="1"/>
          </p:cNvPicPr>
          <p:nvPr/>
        </p:nvPicPr>
        <p:blipFill>
          <a:blip r:embed="rId1"/>
          <a:stretch>
            <a:fillRect/>
          </a:stretch>
        </p:blipFill>
        <p:spPr>
          <a:xfrm>
            <a:off x="1095451" y="2101291"/>
            <a:ext cx="460858" cy="460858"/>
          </a:xfrm>
          <a:prstGeom prst="rect">
            <a:avLst/>
          </a:prstGeom>
        </p:spPr>
      </p:pic>
      <p:sp>
        <p:nvSpPr>
          <p:cNvPr id="23006" name="Text 3"/>
          <p:cNvSpPr txBox="1"/>
          <p:nvPr/>
        </p:nvSpPr>
        <p:spPr>
          <a:xfrm>
            <a:off x="914400" y="2971800"/>
            <a:ext cx="2753258" cy="502920"/>
          </a:xfrm>
          <a:prstGeom prst="rect">
            <a:avLst/>
          </a:prstGeom>
          <a:noFill/>
          <a:ln/>
        </p:spPr>
        <p:txBody>
          <a:bodyPr wrap="square" lIns="0" tIns="0" rIns="0" bIns="0" rtlCol="0" anchor="ctr"/>
          <a:lstStyle/>
          <a:p>
            <a:pPr indent="0" marL="0">
              <a:buNone/>
            </a:pPr>
            <a:r>
              <a:rPr lang="en-US" sz="2200" b="1" dirty="0">
                <a:solidFill>
                  <a:schemeClr val="tx1"/>
                </a:solidFill>
              </a:rPr>
              <a:t>161 m circles</a:t>
            </a:r>
            <a:endParaRPr lang="en-US" sz="2200" dirty="0"/>
          </a:p>
        </p:txBody>
      </p:sp>
      <p:sp>
        <p:nvSpPr>
          <p:cNvPr id="23007" name="Text 4"/>
          <p:cNvSpPr txBox="1"/>
          <p:nvPr/>
        </p:nvSpPr>
        <p:spPr>
          <a:xfrm>
            <a:off x="914400" y="3611880"/>
            <a:ext cx="2753258" cy="182880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Where something is placed – see the previous slide</a:t>
            </a:r>
            <a:endParaRPr lang="en-US" sz="1700" dirty="0"/>
          </a:p>
          <a:p>
            <a:pPr marL="228600" indent="-228600">
              <a:spcAft>
                <a:spcPts val="800"/>
              </a:spcAft>
              <a:buSzPct val="100000"/>
              <a:buChar char="•"/>
            </a:pPr>
            <a:r>
              <a:rPr lang="en-US" sz="1700" dirty="0">
                <a:solidFill>
                  <a:schemeClr val="tx1"/>
                </a:solidFill>
              </a:rPr>
              <a:t>Shown from zoom level 15</a:t>
            </a:r>
            <a:endParaRPr lang="en-US" sz="1700" dirty="0"/>
          </a:p>
          <a:p>
            <a:pPr marL="228600" indent="-228600">
              <a:spcAft>
                <a:spcPts val="800"/>
              </a:spcAft>
              <a:buSzPct val="100000"/>
              <a:buChar char="•"/>
            </a:pPr>
            <a:r>
              <a:rPr lang="en-US" sz="1700" dirty="0">
                <a:solidFill>
                  <a:schemeClr val="tx1"/>
                </a:solidFill>
              </a:rPr>
              <a:t>Follow the map and never block clicks</a:t>
            </a:r>
            <a:endParaRPr lang="en-US" sz="1700" dirty="0"/>
          </a:p>
          <a:p>
            <a:pPr marL="228600" indent="-228600">
              <a:spcAft>
                <a:spcPts val="800"/>
              </a:spcAft>
              <a:buSzPct val="100000"/>
              <a:buChar char="•"/>
            </a:pPr>
            <a:r>
              <a:rPr lang="en-US" sz="1700" dirty="0">
                <a:solidFill>
                  <a:schemeClr val="tx1"/>
                </a:solidFill>
              </a:rPr>
              <a:t>Single circle: right-click</a:t>
            </a:r>
            <a:endParaRPr lang="en-US" sz="1700" dirty="0"/>
          </a:p>
        </p:txBody>
      </p:sp>
      <p:sp>
        <p:nvSpPr>
          <p:cNvPr id="23008" name="Kort Cachesider"/>
          <p:cNvSpPr/>
          <p:nvPr/>
        </p:nvSpPr>
        <p:spPr>
          <a:xfrm>
            <a:off x="4353458" y="1508760"/>
            <a:ext cx="3484778" cy="4206240"/>
          </a:xfrm>
          <a:prstGeom prst="roundRect">
            <a:avLst>
              <a:gd name="adj" fmla="val 3149"/>
            </a:avLst>
          </a:prstGeom>
          <a:solidFill>
            <a:schemeClr val="bg2"/>
          </a:solidFill>
          <a:ln/>
        </p:spPr>
      </p:sp>
      <p:sp>
        <p:nvSpPr>
          <p:cNvPr id="23009" name="Ikon layers sirkel"/>
          <p:cNvSpPr/>
          <p:nvPr/>
        </p:nvSpPr>
        <p:spPr>
          <a:xfrm>
            <a:off x="4719218" y="1920240"/>
            <a:ext cx="822960" cy="822960"/>
          </a:xfrm>
          <a:prstGeom prst="ellipse">
            <a:avLst/>
          </a:prstGeom>
          <a:solidFill>
            <a:schemeClr val="accent1"/>
          </a:solidFill>
          <a:ln/>
        </p:spPr>
      </p:sp>
      <p:pic>
        <p:nvPicPr>
          <p:cNvPr id="23010" name="Ikon layers" descr="layers">    </p:cNvPr>
          <p:cNvPicPr>
            <a:picLocks noChangeAspect="1"/>
          </p:cNvPicPr>
          <p:nvPr/>
        </p:nvPicPr>
        <p:blipFill>
          <a:blip r:embed="rId2"/>
          <a:stretch>
            <a:fillRect/>
          </a:stretch>
        </p:blipFill>
        <p:spPr>
          <a:xfrm>
            <a:off x="4900270" y="2101291"/>
            <a:ext cx="460858" cy="460858"/>
          </a:xfrm>
          <a:prstGeom prst="rect">
            <a:avLst/>
          </a:prstGeom>
        </p:spPr>
      </p:pic>
      <p:sp>
        <p:nvSpPr>
          <p:cNvPr id="23011" name="Text 7"/>
          <p:cNvSpPr txBox="1"/>
          <p:nvPr/>
        </p:nvSpPr>
        <p:spPr>
          <a:xfrm>
            <a:off x="4719218" y="2971800"/>
            <a:ext cx="2753258" cy="502920"/>
          </a:xfrm>
          <a:prstGeom prst="rect">
            <a:avLst/>
          </a:prstGeom>
          <a:noFill/>
          <a:ln/>
        </p:spPr>
        <p:txBody>
          <a:bodyPr wrap="square" lIns="0" tIns="0" rIns="0" bIns="0" rtlCol="0" anchor="ctr"/>
          <a:lstStyle/>
          <a:p>
            <a:pPr indent="0" marL="0">
              <a:buNone/>
            </a:pPr>
            <a:r>
              <a:rPr lang="en-US" sz="2200" b="1" dirty="0">
                <a:solidFill>
                  <a:schemeClr val="tx1"/>
                </a:solidFill>
              </a:rPr>
              <a:t>Cache pages</a:t>
            </a:r>
            <a:endParaRPr lang="en-US" sz="2200" dirty="0"/>
          </a:p>
        </p:txBody>
      </p:sp>
      <p:sp>
        <p:nvSpPr>
          <p:cNvPr id="23012" name="Text 8"/>
          <p:cNvSpPr txBox="1"/>
          <p:nvPr/>
        </p:nvSpPr>
        <p:spPr>
          <a:xfrm>
            <a:off x="4719218" y="3611880"/>
            <a:ext cx="2753258" cy="182880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The small map shows your chosen map</a:t>
            </a:r>
            <a:endParaRPr lang="en-US" sz="1700" dirty="0"/>
          </a:p>
          <a:p>
            <a:pPr marL="228600" indent="-228600">
              <a:spcAft>
                <a:spcPts val="800"/>
              </a:spcAft>
              <a:buSzPct val="100000"/>
              <a:buChar char="•"/>
            </a:pPr>
            <a:r>
              <a:rPr lang="en-US" sz="1700" dirty="0">
                <a:solidFill>
                  <a:schemeClr val="tx1"/>
                </a:solidFill>
              </a:rPr>
              <a:t>Same fading and overlays</a:t>
            </a:r>
            <a:endParaRPr lang="en-US" sz="1700" dirty="0"/>
          </a:p>
          <a:p>
            <a:pPr marL="228600" indent="-228600">
              <a:spcAft>
                <a:spcPts val="800"/>
              </a:spcAft>
              <a:buSzPct val="100000"/>
              <a:buChar char="•"/>
            </a:pPr>
            <a:r>
              <a:rPr lang="en-US" sz="1700" dirty="0">
                <a:solidFill>
                  <a:schemeClr val="tx1"/>
                </a:solidFill>
              </a:rPr>
              <a:t>Keeps the site's view</a:t>
            </a:r>
            <a:endParaRPr lang="en-US" sz="1700" dirty="0"/>
          </a:p>
          <a:p>
            <a:pPr marL="228600" indent="-228600">
              <a:spcAft>
                <a:spcPts val="800"/>
              </a:spcAft>
              <a:buSzPct val="100000"/>
              <a:buChar char="•"/>
            </a:pPr>
            <a:r>
              <a:rPr lang="en-US" sz="1700" dirty="0">
                <a:solidFill>
                  <a:schemeClr val="tx1"/>
                </a:solidFill>
              </a:rPr>
              <a:t>Never changes your choice</a:t>
            </a:r>
            <a:endParaRPr lang="en-US" sz="1700" dirty="0"/>
          </a:p>
        </p:txBody>
      </p:sp>
      <p:sp>
        <p:nvSpPr>
          <p:cNvPr id="23013" name="Kort Hjem"/>
          <p:cNvSpPr/>
          <p:nvPr/>
        </p:nvSpPr>
        <p:spPr>
          <a:xfrm>
            <a:off x="8158277" y="1508760"/>
            <a:ext cx="3484778" cy="4206240"/>
          </a:xfrm>
          <a:prstGeom prst="roundRect">
            <a:avLst>
              <a:gd name="adj" fmla="val 3149"/>
            </a:avLst>
          </a:prstGeom>
          <a:solidFill>
            <a:schemeClr val="bg2"/>
          </a:solidFill>
          <a:ln/>
        </p:spPr>
      </p:sp>
      <p:sp>
        <p:nvSpPr>
          <p:cNvPr id="23014" name="Ikon home sirkel"/>
          <p:cNvSpPr/>
          <p:nvPr/>
        </p:nvSpPr>
        <p:spPr>
          <a:xfrm>
            <a:off x="8524037" y="1920240"/>
            <a:ext cx="822960" cy="822960"/>
          </a:xfrm>
          <a:prstGeom prst="ellipse">
            <a:avLst/>
          </a:prstGeom>
          <a:solidFill>
            <a:schemeClr val="accent1"/>
          </a:solidFill>
          <a:ln/>
        </p:spPr>
      </p:sp>
      <p:pic>
        <p:nvPicPr>
          <p:cNvPr id="23015" name="Ikon home" descr="home">    </p:cNvPr>
          <p:cNvPicPr>
            <a:picLocks noChangeAspect="1"/>
          </p:cNvPicPr>
          <p:nvPr/>
        </p:nvPicPr>
        <p:blipFill>
          <a:blip r:embed="rId3"/>
          <a:stretch>
            <a:fillRect/>
          </a:stretch>
        </p:blipFill>
        <p:spPr>
          <a:xfrm>
            <a:off x="8705088" y="2101291"/>
            <a:ext cx="460858" cy="460858"/>
          </a:xfrm>
          <a:prstGeom prst="rect">
            <a:avLst/>
          </a:prstGeom>
        </p:spPr>
      </p:pic>
      <p:sp>
        <p:nvSpPr>
          <p:cNvPr id="23016" name="Text 11"/>
          <p:cNvSpPr txBox="1"/>
          <p:nvPr/>
        </p:nvSpPr>
        <p:spPr>
          <a:xfrm>
            <a:off x="8524037" y="2971800"/>
            <a:ext cx="2753258" cy="502920"/>
          </a:xfrm>
          <a:prstGeom prst="rect">
            <a:avLst/>
          </a:prstGeom>
          <a:noFill/>
          <a:ln/>
        </p:spPr>
        <p:txBody>
          <a:bodyPr wrap="square" lIns="0" tIns="0" rIns="0" bIns="0" rtlCol="0" anchor="ctr"/>
          <a:lstStyle/>
          <a:p>
            <a:pPr indent="0" marL="0">
              <a:buNone/>
            </a:pPr>
            <a:r>
              <a:rPr lang="en-US" sz="2200" b="1" dirty="0">
                <a:solidFill>
                  <a:schemeClr val="tx1"/>
                </a:solidFill>
              </a:rPr>
              <a:t>Home</a:t>
            </a:r>
            <a:endParaRPr lang="en-US" sz="2200" dirty="0"/>
          </a:p>
        </p:txBody>
      </p:sp>
      <p:sp>
        <p:nvSpPr>
          <p:cNvPr id="23017" name="Text 12"/>
          <p:cNvSpPr txBox="1"/>
          <p:nvPr/>
        </p:nvSpPr>
        <p:spPr>
          <a:xfrm>
            <a:off x="8524037" y="3611880"/>
            <a:ext cx="2753258" cy="182880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One click takes you home</a:t>
            </a:r>
            <a:endParaRPr lang="en-US" sz="1700" dirty="0"/>
          </a:p>
          <a:p>
            <a:pPr marL="228600" indent="-228600">
              <a:spcAft>
                <a:spcPts val="800"/>
              </a:spcAft>
              <a:buSzPct val="100000"/>
              <a:buChar char="•"/>
            </a:pPr>
            <a:r>
              <a:rPr lang="en-US" sz="1700" dirty="0">
                <a:solidFill>
                  <a:schemeClr val="tx1"/>
                </a:solidFill>
              </a:rPr>
              <a:t>The first time you look up the address</a:t>
            </a:r>
            <a:endParaRPr lang="en-US" sz="1700" dirty="0"/>
          </a:p>
          <a:p>
            <a:pPr marL="228600" indent="-228600">
              <a:spcAft>
                <a:spcPts val="800"/>
              </a:spcAft>
              <a:buSzPct val="100000"/>
              <a:buChar char="•"/>
            </a:pPr>
            <a:r>
              <a:rPr lang="en-US" sz="1700" dirty="0">
                <a:solidFill>
                  <a:schemeClr val="tx1"/>
                </a:solidFill>
              </a:rPr>
              <a:t>Stored only in your browser</a:t>
            </a:r>
            <a:endParaRPr lang="en-US" sz="1700" dirty="0"/>
          </a:p>
        </p:txBody>
      </p:sp>
      <p:sp>
        <p:nvSpPr>
          <p:cNvPr id="23018"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24001" name=""/>
        <p:cNvGrpSpPr/>
        <p:nvPr/>
      </p:nvGrpSpPr>
      <p:grpSpPr>
        <a:xfrm>
          <a:off x="0" y="0"/>
          <a:ext cx="0" cy="0"/>
          <a:chOff x="0" y="0"/>
          <a:chExt cx="0" cy="0"/>
        </a:xfrm>
      </p:grpSpPr>
      <p:sp>
        <p:nvSpPr>
          <p:cNvPr id="2400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How the map layers are stacked</a:t>
            </a:r>
            <a:endParaRPr lang="en-US" sz="3600" dirty="0"/>
          </a:p>
        </p:txBody>
      </p:sp>
      <p:sp>
        <p:nvSpPr>
          <p:cNvPr id="24003" name="Text 1"/>
          <p:cNvSpPr txBox="1"/>
          <p:nvPr/>
        </p:nvSpPr>
        <p:spPr>
          <a:xfrm>
            <a:off x="548640" y="1207008"/>
            <a:ext cx="11094415" cy="274320"/>
          </a:xfrm>
          <a:prstGeom prst="rect">
            <a:avLst/>
          </a:prstGeom>
          <a:noFill/>
          <a:ln/>
        </p:spPr>
        <p:txBody>
          <a:bodyPr wrap="square" lIns="0" tIns="0" rIns="0" bIns="0" rtlCol="0" anchor="ctr"/>
          <a:lstStyle/>
          <a:p>
            <a:pPr indent="0" marL="0">
              <a:buNone/>
            </a:pPr>
            <a:r>
              <a:rPr lang="en-US" sz="1100" b="1" spc="100" kern="0" dirty="0">
                <a:solidFill>
                  <a:schemeClr val="accent4"/>
                </a:solidFill>
              </a:rPr>
              <a:t>ABOVE THE MAP TILES</a:t>
            </a:r>
            <a:endParaRPr lang="en-US" sz="1100" dirty="0"/>
          </a:p>
        </p:txBody>
      </p:sp>
      <p:sp>
        <p:nvSpPr>
          <p:cNvPr id="24004" name="Lag Kontroller"/>
          <p:cNvSpPr/>
          <p:nvPr/>
        </p:nvSpPr>
        <p:spPr>
          <a:xfrm>
            <a:off x="548640" y="1517904"/>
            <a:ext cx="11094415" cy="384048"/>
          </a:xfrm>
          <a:prstGeom prst="roundRect">
            <a:avLst>
              <a:gd name="adj" fmla="val 16667"/>
            </a:avLst>
          </a:prstGeom>
          <a:solidFill>
            <a:schemeClr val="bg2"/>
          </a:solidFill>
          <a:ln/>
        </p:spPr>
      </p:sp>
      <p:sp>
        <p:nvSpPr>
          <p:cNvPr id="24005" name="Text 3"/>
          <p:cNvSpPr txBox="1"/>
          <p:nvPr/>
        </p:nvSpPr>
        <p:spPr>
          <a:xfrm>
            <a:off x="749808" y="1517904"/>
            <a:ext cx="2240280" cy="384048"/>
          </a:xfrm>
          <a:prstGeom prst="rect">
            <a:avLst/>
          </a:prstGeom>
          <a:noFill/>
          <a:ln/>
        </p:spPr>
        <p:txBody>
          <a:bodyPr wrap="square" lIns="0" tIns="0" rIns="0" bIns="0" rtlCol="0" anchor="ctr"/>
          <a:lstStyle/>
          <a:p>
            <a:pPr indent="0" marL="0">
              <a:buNone/>
            </a:pPr>
            <a:r>
              <a:rPr lang="en-US" sz="1400" b="1" dirty="0">
                <a:solidFill>
                  <a:schemeClr val="tx1"/>
                </a:solidFill>
              </a:rPr>
              <a:t>Controls</a:t>
            </a:r>
            <a:endParaRPr lang="en-US" sz="1400" dirty="0"/>
          </a:p>
        </p:txBody>
      </p:sp>
      <p:sp>
        <p:nvSpPr>
          <p:cNvPr id="24006" name="Text 4"/>
          <p:cNvSpPr txBox="1"/>
          <p:nvPr/>
        </p:nvSpPr>
        <p:spPr>
          <a:xfrm>
            <a:off x="3264408" y="1517904"/>
            <a:ext cx="1783080" cy="38404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controls · 1000</a:t>
            </a:r>
            <a:endParaRPr lang="en-US" sz="1200" dirty="0"/>
          </a:p>
        </p:txBody>
      </p:sp>
      <p:sp>
        <p:nvSpPr>
          <p:cNvPr id="24007" name="Text 5"/>
          <p:cNvSpPr txBox="1"/>
          <p:nvPr/>
        </p:nvSpPr>
        <p:spPr>
          <a:xfrm>
            <a:off x="5138928" y="1517904"/>
            <a:ext cx="6302959" cy="384048"/>
          </a:xfrm>
          <a:prstGeom prst="rect">
            <a:avLst/>
          </a:prstGeom>
          <a:noFill/>
          <a:ln/>
        </p:spPr>
        <p:txBody>
          <a:bodyPr wrap="square" lIns="0" tIns="0" rIns="0" bIns="0" rtlCol="0" anchor="ctr"/>
          <a:lstStyle/>
          <a:p>
            <a:pPr indent="0" marL="0">
              <a:buNone/>
            </a:pPr>
            <a:r>
              <a:rPr lang="en-US" sz="1300" dirty="0">
                <a:solidFill>
                  <a:schemeClr val="tx1"/>
                </a:solidFill>
              </a:rPr>
              <a:t>the toolbar, the layer panel, the coordinate display and the credits</a:t>
            </a:r>
            <a:endParaRPr lang="en-US" sz="1300" dirty="0"/>
          </a:p>
        </p:txBody>
      </p:sp>
      <p:sp>
        <p:nvSpPr>
          <p:cNvPr id="24008" name="Lag Bobler"/>
          <p:cNvSpPr/>
          <p:nvPr/>
        </p:nvSpPr>
        <p:spPr>
          <a:xfrm>
            <a:off x="548640" y="1947672"/>
            <a:ext cx="11094415" cy="384048"/>
          </a:xfrm>
          <a:prstGeom prst="roundRect">
            <a:avLst>
              <a:gd name="adj" fmla="val 16667"/>
            </a:avLst>
          </a:prstGeom>
          <a:solidFill>
            <a:schemeClr val="bg2"/>
          </a:solidFill>
          <a:ln/>
        </p:spPr>
      </p:sp>
      <p:sp>
        <p:nvSpPr>
          <p:cNvPr id="24009" name="Text 7"/>
          <p:cNvSpPr txBox="1"/>
          <p:nvPr/>
        </p:nvSpPr>
        <p:spPr>
          <a:xfrm>
            <a:off x="749808" y="1947672"/>
            <a:ext cx="2240280" cy="384048"/>
          </a:xfrm>
          <a:prstGeom prst="rect">
            <a:avLst/>
          </a:prstGeom>
          <a:noFill/>
          <a:ln/>
        </p:spPr>
        <p:txBody>
          <a:bodyPr wrap="square" lIns="0" tIns="0" rIns="0" bIns="0" rtlCol="0" anchor="ctr"/>
          <a:lstStyle/>
          <a:p>
            <a:pPr indent="0" marL="0">
              <a:buNone/>
            </a:pPr>
            <a:r>
              <a:rPr lang="en-US" sz="1400" b="1" dirty="0">
                <a:solidFill>
                  <a:schemeClr val="tx1"/>
                </a:solidFill>
              </a:rPr>
              <a:t>Popups</a:t>
            </a:r>
            <a:endParaRPr lang="en-US" sz="1400" dirty="0"/>
          </a:p>
        </p:txBody>
      </p:sp>
      <p:sp>
        <p:nvSpPr>
          <p:cNvPr id="24010" name="Text 8"/>
          <p:cNvSpPr txBox="1"/>
          <p:nvPr/>
        </p:nvSpPr>
        <p:spPr>
          <a:xfrm>
            <a:off x="3264408" y="1947672"/>
            <a:ext cx="1783080" cy="38404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popupPane · 700</a:t>
            </a:r>
            <a:endParaRPr lang="en-US" sz="1200" dirty="0"/>
          </a:p>
        </p:txBody>
      </p:sp>
      <p:sp>
        <p:nvSpPr>
          <p:cNvPr id="24011" name="Text 9"/>
          <p:cNvSpPr txBox="1"/>
          <p:nvPr/>
        </p:nvSpPr>
        <p:spPr>
          <a:xfrm>
            <a:off x="5138928" y="1947672"/>
            <a:ext cx="6302959" cy="384048"/>
          </a:xfrm>
          <a:prstGeom prst="rect">
            <a:avLst/>
          </a:prstGeom>
          <a:noFill/>
          <a:ln/>
        </p:spPr>
        <p:txBody>
          <a:bodyPr wrap="square" lIns="0" tIns="0" rIns="0" bIns="0" rtlCol="0" anchor="ctr"/>
          <a:lstStyle/>
          <a:p>
            <a:pPr indent="0" marL="0">
              <a:buNone/>
            </a:pPr>
            <a:r>
              <a:rPr lang="en-US" sz="1300" dirty="0">
                <a:solidFill>
                  <a:schemeClr val="tx1"/>
                </a:solidFill>
              </a:rPr>
              <a:t>the right-click popup and other map popups</a:t>
            </a:r>
            <a:endParaRPr lang="en-US" sz="1300" dirty="0"/>
          </a:p>
        </p:txBody>
      </p:sp>
      <p:sp>
        <p:nvSpPr>
          <p:cNvPr id="24012" name="Lag Markører"/>
          <p:cNvSpPr/>
          <p:nvPr/>
        </p:nvSpPr>
        <p:spPr>
          <a:xfrm>
            <a:off x="548640" y="2377440"/>
            <a:ext cx="11094415" cy="384048"/>
          </a:xfrm>
          <a:prstGeom prst="roundRect">
            <a:avLst>
              <a:gd name="adj" fmla="val 16667"/>
            </a:avLst>
          </a:prstGeom>
          <a:solidFill>
            <a:schemeClr val="bg2"/>
          </a:solidFill>
          <a:ln/>
        </p:spPr>
      </p:sp>
      <p:sp>
        <p:nvSpPr>
          <p:cNvPr id="24013" name="Text 11"/>
          <p:cNvSpPr txBox="1"/>
          <p:nvPr/>
        </p:nvSpPr>
        <p:spPr>
          <a:xfrm>
            <a:off x="749808" y="2377440"/>
            <a:ext cx="2240280" cy="384048"/>
          </a:xfrm>
          <a:prstGeom prst="rect">
            <a:avLst/>
          </a:prstGeom>
          <a:noFill/>
          <a:ln/>
        </p:spPr>
        <p:txBody>
          <a:bodyPr wrap="square" lIns="0" tIns="0" rIns="0" bIns="0" rtlCol="0" anchor="ctr"/>
          <a:lstStyle/>
          <a:p>
            <a:pPr indent="0" marL="0">
              <a:buNone/>
            </a:pPr>
            <a:r>
              <a:rPr lang="en-US" sz="1400" b="1" dirty="0">
                <a:solidFill>
                  <a:schemeClr val="tx1"/>
                </a:solidFill>
              </a:rPr>
              <a:t>Markers</a:t>
            </a:r>
            <a:endParaRPr lang="en-US" sz="1400" dirty="0"/>
          </a:p>
        </p:txBody>
      </p:sp>
      <p:sp>
        <p:nvSpPr>
          <p:cNvPr id="24014" name="Text 12"/>
          <p:cNvSpPr txBox="1"/>
          <p:nvPr/>
        </p:nvSpPr>
        <p:spPr>
          <a:xfrm>
            <a:off x="3264408" y="2377440"/>
            <a:ext cx="1783080" cy="38404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markerPane · 600</a:t>
            </a:r>
            <a:endParaRPr lang="en-US" sz="1200" dirty="0"/>
          </a:p>
        </p:txBody>
      </p:sp>
      <p:sp>
        <p:nvSpPr>
          <p:cNvPr id="24015" name="Text 13"/>
          <p:cNvSpPr txBox="1"/>
          <p:nvPr/>
        </p:nvSpPr>
        <p:spPr>
          <a:xfrm>
            <a:off x="5138928" y="2377440"/>
            <a:ext cx="6302959" cy="384048"/>
          </a:xfrm>
          <a:prstGeom prst="rect">
            <a:avLst/>
          </a:prstGeom>
          <a:noFill/>
          <a:ln/>
        </p:spPr>
        <p:txBody>
          <a:bodyPr wrap="square" lIns="0" tIns="0" rIns="0" bIns="0" rtlCol="0" anchor="ctr"/>
          <a:lstStyle/>
          <a:p>
            <a:pPr indent="0" marL="0">
              <a:buNone/>
            </a:pPr>
            <a:r>
              <a:rPr lang="en-US" sz="1300" dirty="0">
                <a:solidFill>
                  <a:schemeClr val="tx1"/>
                </a:solidFill>
              </a:rPr>
              <a:t>the cache icons on /play/map, pins, labels and your location</a:t>
            </a:r>
            <a:endParaRPr lang="en-US" sz="1300" dirty="0"/>
          </a:p>
        </p:txBody>
      </p:sp>
      <p:sp>
        <p:nvSpPr>
          <p:cNvPr id="24016" name="Lag Tegninger"/>
          <p:cNvSpPr/>
          <p:nvPr/>
        </p:nvSpPr>
        <p:spPr>
          <a:xfrm>
            <a:off x="548640" y="2807208"/>
            <a:ext cx="11094415" cy="384048"/>
          </a:xfrm>
          <a:prstGeom prst="roundRect">
            <a:avLst>
              <a:gd name="adj" fmla="val 16667"/>
            </a:avLst>
          </a:prstGeom>
          <a:solidFill>
            <a:schemeClr val="bg2"/>
          </a:solidFill>
          <a:ln/>
        </p:spPr>
      </p:sp>
      <p:sp>
        <p:nvSpPr>
          <p:cNvPr id="24017" name="Text 15"/>
          <p:cNvSpPr txBox="1"/>
          <p:nvPr/>
        </p:nvSpPr>
        <p:spPr>
          <a:xfrm>
            <a:off x="749808" y="2807208"/>
            <a:ext cx="2240280" cy="384048"/>
          </a:xfrm>
          <a:prstGeom prst="rect">
            <a:avLst/>
          </a:prstGeom>
          <a:noFill/>
          <a:ln/>
        </p:spPr>
        <p:txBody>
          <a:bodyPr wrap="square" lIns="0" tIns="0" rIns="0" bIns="0" rtlCol="0" anchor="ctr"/>
          <a:lstStyle/>
          <a:p>
            <a:pPr indent="0" marL="0">
              <a:buNone/>
            </a:pPr>
            <a:r>
              <a:rPr lang="en-US" sz="1400" b="1" dirty="0">
                <a:solidFill>
                  <a:schemeClr val="tx1"/>
                </a:solidFill>
              </a:rPr>
              <a:t>Drawings</a:t>
            </a:r>
            <a:endParaRPr lang="en-US" sz="1400" dirty="0"/>
          </a:p>
        </p:txBody>
      </p:sp>
      <p:sp>
        <p:nvSpPr>
          <p:cNvPr id="24018" name="Text 16"/>
          <p:cNvSpPr txBox="1"/>
          <p:nvPr/>
        </p:nvSpPr>
        <p:spPr>
          <a:xfrm>
            <a:off x="3264408" y="2807208"/>
            <a:ext cx="1783080" cy="38404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overlayPane · 400</a:t>
            </a:r>
            <a:endParaRPr lang="en-US" sz="1200" dirty="0"/>
          </a:p>
        </p:txBody>
      </p:sp>
      <p:sp>
        <p:nvSpPr>
          <p:cNvPr id="24019" name="Text 17"/>
          <p:cNvSpPr txBox="1"/>
          <p:nvPr/>
        </p:nvSpPr>
        <p:spPr>
          <a:xfrm>
            <a:off x="5138928" y="2807208"/>
            <a:ext cx="6302959" cy="384048"/>
          </a:xfrm>
          <a:prstGeom prst="rect">
            <a:avLst/>
          </a:prstGeom>
          <a:noFill/>
          <a:ln/>
        </p:spPr>
        <p:txBody>
          <a:bodyPr wrap="square" lIns="0" tIns="0" rIns="0" bIns="0" rtlCol="0" anchor="ctr"/>
          <a:lstStyle/>
          <a:p>
            <a:pPr indent="0" marL="0">
              <a:buNone/>
            </a:pPr>
            <a:r>
              <a:rPr lang="en-US" sz="1300" dirty="0">
                <a:solidFill>
                  <a:schemeClr val="tx1"/>
                </a:solidFill>
              </a:rPr>
              <a:t>161 m circles, measuring lines, projection lines and the accuracy circle</a:t>
            </a:r>
            <a:endParaRPr lang="en-US" sz="1300" dirty="0"/>
          </a:p>
        </p:txBody>
      </p:sp>
      <p:sp>
        <p:nvSpPr>
          <p:cNvPr id="24020" name="Text 18"/>
          <p:cNvSpPr txBox="1"/>
          <p:nvPr/>
        </p:nvSpPr>
        <p:spPr>
          <a:xfrm>
            <a:off x="548640" y="3328416"/>
            <a:ext cx="11094415" cy="274320"/>
          </a:xfrm>
          <a:prstGeom prst="rect">
            <a:avLst/>
          </a:prstGeom>
          <a:noFill/>
          <a:ln/>
        </p:spPr>
        <p:txBody>
          <a:bodyPr wrap="square" lIns="0" tIns="0" rIns="0" bIns="0" rtlCol="0" anchor="ctr"/>
          <a:lstStyle/>
          <a:p>
            <a:pPr indent="0" marL="0">
              <a:buNone/>
            </a:pPr>
            <a:r>
              <a:rPr lang="en-US" sz="1100" b="1" spc="100" kern="0" dirty="0">
                <a:solidFill>
                  <a:schemeClr val="accent4"/>
                </a:solidFill>
              </a:rPr>
              <a:t>THE MAP TILES (TILEPANE · 200) – SORTED BY Z-INDEX</a:t>
            </a:r>
            <a:endParaRPr lang="en-US" sz="1100" dirty="0"/>
          </a:p>
        </p:txBody>
      </p:sp>
      <p:sp>
        <p:nvSpPr>
          <p:cNvPr id="24021" name="Lag Nettstedets øvrige fliser"/>
          <p:cNvSpPr/>
          <p:nvPr/>
        </p:nvSpPr>
        <p:spPr>
          <a:xfrm>
            <a:off x="548640" y="3639312"/>
            <a:ext cx="11094415" cy="384048"/>
          </a:xfrm>
          <a:prstGeom prst="roundRect">
            <a:avLst>
              <a:gd name="adj" fmla="val 16667"/>
            </a:avLst>
          </a:prstGeom>
          <a:solidFill>
            <a:schemeClr val="accent2"/>
          </a:solidFill>
          <a:ln/>
        </p:spPr>
      </p:sp>
      <p:sp>
        <p:nvSpPr>
          <p:cNvPr id="24022" name="Text 20"/>
          <p:cNvSpPr txBox="1"/>
          <p:nvPr/>
        </p:nvSpPr>
        <p:spPr>
          <a:xfrm>
            <a:off x="749808" y="3639312"/>
            <a:ext cx="2240280" cy="384048"/>
          </a:xfrm>
          <a:prstGeom prst="rect">
            <a:avLst/>
          </a:prstGeom>
          <a:noFill/>
          <a:ln/>
        </p:spPr>
        <p:txBody>
          <a:bodyPr wrap="square" lIns="0" tIns="0" rIns="0" bIns="0" rtlCol="0" anchor="ctr"/>
          <a:lstStyle/>
          <a:p>
            <a:pPr indent="0" marL="0">
              <a:buNone/>
            </a:pPr>
            <a:r>
              <a:rPr lang="en-US" sz="1400" b="1" dirty="0">
                <a:solidFill>
                  <a:schemeClr val="bg1"/>
                </a:solidFill>
              </a:rPr>
              <a:t>The site's other tiles</a:t>
            </a:r>
            <a:endParaRPr lang="en-US" sz="1400" dirty="0"/>
          </a:p>
        </p:txBody>
      </p:sp>
      <p:sp>
        <p:nvSpPr>
          <p:cNvPr id="24023" name="Text 21"/>
          <p:cNvSpPr txBox="1"/>
          <p:nvPr/>
        </p:nvSpPr>
        <p:spPr>
          <a:xfrm>
            <a:off x="3264408" y="3639312"/>
            <a:ext cx="1783080" cy="384048"/>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z = bz + 10</a:t>
            </a:r>
            <a:endParaRPr lang="en-US" sz="1200" dirty="0"/>
          </a:p>
        </p:txBody>
      </p:sp>
      <p:sp>
        <p:nvSpPr>
          <p:cNvPr id="24024" name="Text 22"/>
          <p:cNvSpPr txBox="1"/>
          <p:nvPr/>
        </p:nvSpPr>
        <p:spPr>
          <a:xfrm>
            <a:off x="5138928" y="3639312"/>
            <a:ext cx="6302959" cy="384048"/>
          </a:xfrm>
          <a:prstGeom prst="rect">
            <a:avLst/>
          </a:prstGeom>
          <a:noFill/>
          <a:ln/>
        </p:spPr>
        <p:txBody>
          <a:bodyPr wrap="square" lIns="0" tIns="0" rIns="0" bIns="0" rtlCol="0" anchor="ctr"/>
          <a:lstStyle/>
          <a:p>
            <a:pPr indent="0" marL="0">
              <a:buNone/>
            </a:pPr>
            <a:r>
              <a:rPr lang="en-US" sz="1300" dirty="0">
                <a:solidFill>
                  <a:schemeClr val="bg1"/>
                </a:solidFill>
              </a:rPr>
              <a:t>the cache icons on /map – always lifted above your layers</a:t>
            </a:r>
            <a:endParaRPr lang="en-US" sz="1300" dirty="0"/>
          </a:p>
        </p:txBody>
      </p:sp>
      <p:sp>
        <p:nvSpPr>
          <p:cNvPr id="24025" name="Lag Forhåndsvisning"/>
          <p:cNvSpPr/>
          <p:nvPr/>
        </p:nvSpPr>
        <p:spPr>
          <a:xfrm>
            <a:off x="548640" y="4069080"/>
            <a:ext cx="11094415" cy="384048"/>
          </a:xfrm>
          <a:prstGeom prst="roundRect">
            <a:avLst>
              <a:gd name="adj" fmla="val 16667"/>
            </a:avLst>
          </a:prstGeom>
          <a:solidFill>
            <a:schemeClr val="accent3"/>
          </a:solidFill>
          <a:ln/>
        </p:spPr>
      </p:sp>
      <p:sp>
        <p:nvSpPr>
          <p:cNvPr id="24026" name="Text 24"/>
          <p:cNvSpPr txBox="1"/>
          <p:nvPr/>
        </p:nvSpPr>
        <p:spPr>
          <a:xfrm>
            <a:off x="749808" y="4069080"/>
            <a:ext cx="2240280" cy="384048"/>
          </a:xfrm>
          <a:prstGeom prst="rect">
            <a:avLst/>
          </a:prstGeom>
          <a:noFill/>
          <a:ln/>
        </p:spPr>
        <p:txBody>
          <a:bodyPr wrap="square" lIns="0" tIns="0" rIns="0" bIns="0" rtlCol="0" anchor="ctr"/>
          <a:lstStyle/>
          <a:p>
            <a:pPr indent="0" marL="0">
              <a:buNone/>
            </a:pPr>
            <a:r>
              <a:rPr lang="en-US" sz="1400" b="1" dirty="0">
                <a:solidFill>
                  <a:schemeClr val="bg1"/>
                </a:solidFill>
              </a:rPr>
              <a:t>Preview</a:t>
            </a:r>
            <a:endParaRPr lang="en-US" sz="1400" dirty="0"/>
          </a:p>
        </p:txBody>
      </p:sp>
      <p:sp>
        <p:nvSpPr>
          <p:cNvPr id="24027" name="Text 25"/>
          <p:cNvSpPr txBox="1"/>
          <p:nvPr/>
        </p:nvSpPr>
        <p:spPr>
          <a:xfrm>
            <a:off x="3264408" y="4069080"/>
            <a:ext cx="1783080" cy="384048"/>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z = bz + 3</a:t>
            </a:r>
            <a:endParaRPr lang="en-US" sz="1200" dirty="0"/>
          </a:p>
        </p:txBody>
      </p:sp>
      <p:sp>
        <p:nvSpPr>
          <p:cNvPr id="24028" name="Text 26"/>
          <p:cNvSpPr txBox="1"/>
          <p:nvPr/>
        </p:nvSpPr>
        <p:spPr>
          <a:xfrm>
            <a:off x="5138928" y="4069080"/>
            <a:ext cx="6302959" cy="384048"/>
          </a:xfrm>
          <a:prstGeom prst="rect">
            <a:avLst/>
          </a:prstGeom>
          <a:noFill/>
          <a:ln/>
        </p:spPr>
        <p:txBody>
          <a:bodyPr wrap="square" lIns="0" tIns="0" rIns="0" bIns="0" rtlCol="0" anchor="ctr"/>
          <a:lstStyle/>
          <a:p>
            <a:pPr indent="0" marL="0">
              <a:buNone/>
            </a:pPr>
            <a:r>
              <a:rPr lang="en-US" sz="1300" dirty="0">
                <a:solidFill>
                  <a:schemeClr val="bg1"/>
                </a:solidFill>
              </a:rPr>
              <a:t>the layer you are trying in the layer editor</a:t>
            </a:r>
            <a:endParaRPr lang="en-US" sz="1300" dirty="0"/>
          </a:p>
        </p:txBody>
      </p:sp>
      <p:sp>
        <p:nvSpPr>
          <p:cNvPr id="24029" name="Lag Dine overlegg"/>
          <p:cNvSpPr/>
          <p:nvPr/>
        </p:nvSpPr>
        <p:spPr>
          <a:xfrm>
            <a:off x="548640" y="4498848"/>
            <a:ext cx="11094415" cy="384048"/>
          </a:xfrm>
          <a:prstGeom prst="roundRect">
            <a:avLst>
              <a:gd name="adj" fmla="val 16667"/>
            </a:avLst>
          </a:prstGeom>
          <a:solidFill>
            <a:schemeClr val="accent1"/>
          </a:solidFill>
          <a:ln/>
        </p:spPr>
      </p:sp>
      <p:sp>
        <p:nvSpPr>
          <p:cNvPr id="24030" name="Text 28"/>
          <p:cNvSpPr txBox="1"/>
          <p:nvPr/>
        </p:nvSpPr>
        <p:spPr>
          <a:xfrm>
            <a:off x="749808" y="4498848"/>
            <a:ext cx="2240280" cy="384048"/>
          </a:xfrm>
          <a:prstGeom prst="rect">
            <a:avLst/>
          </a:prstGeom>
          <a:noFill/>
          <a:ln/>
        </p:spPr>
        <p:txBody>
          <a:bodyPr wrap="square" lIns="0" tIns="0" rIns="0" bIns="0" rtlCol="0" anchor="ctr"/>
          <a:lstStyle/>
          <a:p>
            <a:pPr indent="0" marL="0">
              <a:buNone/>
            </a:pPr>
            <a:r>
              <a:rPr lang="en-US" sz="1400" b="1" dirty="0">
                <a:solidFill>
                  <a:schemeClr val="bg1"/>
                </a:solidFill>
              </a:rPr>
              <a:t>Your overlays</a:t>
            </a:r>
            <a:endParaRPr lang="en-US" sz="1400" dirty="0"/>
          </a:p>
        </p:txBody>
      </p:sp>
      <p:sp>
        <p:nvSpPr>
          <p:cNvPr id="24031" name="Text 29"/>
          <p:cNvSpPr txBox="1"/>
          <p:nvPr/>
        </p:nvSpPr>
        <p:spPr>
          <a:xfrm>
            <a:off x="3264408" y="4498848"/>
            <a:ext cx="1783080" cy="384048"/>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z = bz + 2</a:t>
            </a:r>
            <a:endParaRPr lang="en-US" sz="1200" dirty="0"/>
          </a:p>
        </p:txBody>
      </p:sp>
      <p:sp>
        <p:nvSpPr>
          <p:cNvPr id="24032" name="Text 30"/>
          <p:cNvSpPr txBox="1"/>
          <p:nvPr/>
        </p:nvSpPr>
        <p:spPr>
          <a:xfrm>
            <a:off x="5138928" y="4498848"/>
            <a:ext cx="6302959" cy="384048"/>
          </a:xfrm>
          <a:prstGeom prst="rect">
            <a:avLst/>
          </a:prstGeom>
          <a:noFill/>
          <a:ln/>
        </p:spPr>
        <p:txBody>
          <a:bodyPr wrap="square" lIns="0" tIns="0" rIns="0" bIns="0" rtlCol="0" anchor="ctr"/>
          <a:lstStyle/>
          <a:p>
            <a:pPr indent="0" marL="0">
              <a:buNone/>
            </a:pPr>
            <a:r>
              <a:rPr lang="en-US" sz="1300" dirty="0">
                <a:solidFill>
                  <a:schemeClr val="bg1"/>
                </a:solidFill>
              </a:rPr>
              <a:t>hiking routes, property boundaries, hillshade – their own opacity slider</a:t>
            </a:r>
            <a:endParaRPr lang="en-US" sz="1300" dirty="0"/>
          </a:p>
        </p:txBody>
      </p:sp>
      <p:sp>
        <p:nvSpPr>
          <p:cNvPr id="24033" name="Lag Ditt bakgrunnskart"/>
          <p:cNvSpPr/>
          <p:nvPr/>
        </p:nvSpPr>
        <p:spPr>
          <a:xfrm>
            <a:off x="548640" y="4928616"/>
            <a:ext cx="11094415" cy="384048"/>
          </a:xfrm>
          <a:prstGeom prst="roundRect">
            <a:avLst>
              <a:gd name="adj" fmla="val 16667"/>
            </a:avLst>
          </a:prstGeom>
          <a:solidFill>
            <a:schemeClr val="tx2"/>
          </a:solidFill>
          <a:ln/>
        </p:spPr>
      </p:sp>
      <p:sp>
        <p:nvSpPr>
          <p:cNvPr id="24034" name="Text 32"/>
          <p:cNvSpPr txBox="1"/>
          <p:nvPr/>
        </p:nvSpPr>
        <p:spPr>
          <a:xfrm>
            <a:off x="749808" y="4928616"/>
            <a:ext cx="2240280" cy="384048"/>
          </a:xfrm>
          <a:prstGeom prst="rect">
            <a:avLst/>
          </a:prstGeom>
          <a:noFill/>
          <a:ln/>
        </p:spPr>
        <p:txBody>
          <a:bodyPr wrap="square" lIns="0" tIns="0" rIns="0" bIns="0" rtlCol="0" anchor="ctr"/>
          <a:lstStyle/>
          <a:p>
            <a:pPr indent="0" marL="0">
              <a:buNone/>
            </a:pPr>
            <a:r>
              <a:rPr lang="en-US" sz="1400" b="1" dirty="0">
                <a:solidFill>
                  <a:schemeClr val="bg1"/>
                </a:solidFill>
              </a:rPr>
              <a:t>Your background map</a:t>
            </a:r>
            <a:endParaRPr lang="en-US" sz="1400" dirty="0"/>
          </a:p>
        </p:txBody>
      </p:sp>
      <p:sp>
        <p:nvSpPr>
          <p:cNvPr id="24035" name="Text 33"/>
          <p:cNvSpPr txBox="1"/>
          <p:nvPr/>
        </p:nvSpPr>
        <p:spPr>
          <a:xfrm>
            <a:off x="3264408" y="4928616"/>
            <a:ext cx="1783080" cy="384048"/>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z = bz + 1</a:t>
            </a:r>
            <a:endParaRPr lang="en-US" sz="1200" dirty="0"/>
          </a:p>
        </p:txBody>
      </p:sp>
      <p:sp>
        <p:nvSpPr>
          <p:cNvPr id="24036" name="Text 34"/>
          <p:cNvSpPr txBox="1"/>
          <p:nvPr/>
        </p:nvSpPr>
        <p:spPr>
          <a:xfrm>
            <a:off x="5138928" y="4928616"/>
            <a:ext cx="6302959" cy="384048"/>
          </a:xfrm>
          <a:prstGeom prst="rect">
            <a:avLst/>
          </a:prstGeom>
          <a:noFill/>
          <a:ln/>
        </p:spPr>
        <p:txBody>
          <a:bodyPr wrap="square" lIns="0" tIns="0" rIns="0" bIns="0" rtlCol="0" anchor="ctr"/>
          <a:lstStyle/>
          <a:p>
            <a:pPr indent="0" marL="0">
              <a:buNone/>
            </a:pPr>
            <a:r>
              <a:rPr lang="en-US" sz="1300" dirty="0">
                <a:solidFill>
                  <a:schemeClr val="bg1"/>
                </a:solidFill>
              </a:rPr>
              <a:t>fully opaque – faded towards white with a colour filter, at most 50 %</a:t>
            </a:r>
            <a:endParaRPr lang="en-US" sz="1300" dirty="0"/>
          </a:p>
        </p:txBody>
      </p:sp>
      <p:sp>
        <p:nvSpPr>
          <p:cNvPr id="24037" name="Lag geocaching.com-kartet"/>
          <p:cNvSpPr/>
          <p:nvPr/>
        </p:nvSpPr>
        <p:spPr>
          <a:xfrm>
            <a:off x="548640" y="5358384"/>
            <a:ext cx="11094415" cy="384048"/>
          </a:xfrm>
          <a:prstGeom prst="roundRect">
            <a:avLst>
              <a:gd name="adj" fmla="val 16667"/>
            </a:avLst>
          </a:prstGeom>
          <a:solidFill>
            <a:schemeClr val="accent5"/>
          </a:solidFill>
          <a:ln/>
        </p:spPr>
      </p:sp>
      <p:sp>
        <p:nvSpPr>
          <p:cNvPr id="24038" name="Text 36"/>
          <p:cNvSpPr txBox="1"/>
          <p:nvPr/>
        </p:nvSpPr>
        <p:spPr>
          <a:xfrm>
            <a:off x="749808" y="5358384"/>
            <a:ext cx="2240280" cy="384048"/>
          </a:xfrm>
          <a:prstGeom prst="rect">
            <a:avLst/>
          </a:prstGeom>
          <a:noFill/>
          <a:ln/>
        </p:spPr>
        <p:txBody>
          <a:bodyPr wrap="square" lIns="0" tIns="0" rIns="0" bIns="0" rtlCol="0" anchor="ctr"/>
          <a:lstStyle/>
          <a:p>
            <a:pPr indent="0" marL="0">
              <a:buNone/>
            </a:pPr>
            <a:r>
              <a:rPr lang="en-US" sz="1400" b="1" dirty="0">
                <a:solidFill>
                  <a:schemeClr val="tx1"/>
                </a:solidFill>
              </a:rPr>
              <a:t>The geocaching.com map</a:t>
            </a:r>
            <a:endParaRPr lang="en-US" sz="1400" dirty="0"/>
          </a:p>
        </p:txBody>
      </p:sp>
      <p:sp>
        <p:nvSpPr>
          <p:cNvPr id="24039" name="Text 37"/>
          <p:cNvSpPr txBox="1"/>
          <p:nvPr/>
        </p:nvSpPr>
        <p:spPr>
          <a:xfrm>
            <a:off x="3264408" y="5358384"/>
            <a:ext cx="1783080" cy="38404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z = bz</a:t>
            </a:r>
            <a:endParaRPr lang="en-US" sz="1200" dirty="0"/>
          </a:p>
        </p:txBody>
      </p:sp>
      <p:sp>
        <p:nvSpPr>
          <p:cNvPr id="24040" name="Text 38"/>
          <p:cNvSpPr txBox="1"/>
          <p:nvPr/>
        </p:nvSpPr>
        <p:spPr>
          <a:xfrm>
            <a:off x="5138928" y="5358384"/>
            <a:ext cx="6302959" cy="384048"/>
          </a:xfrm>
          <a:prstGeom prst="rect">
            <a:avLst/>
          </a:prstGeom>
          <a:noFill/>
          <a:ln/>
        </p:spPr>
        <p:txBody>
          <a:bodyPr wrap="square" lIns="0" tIns="0" rIns="0" bIns="0" rtlCol="0" anchor="ctr"/>
          <a:lstStyle/>
          <a:p>
            <a:pPr indent="0" marL="0">
              <a:buNone/>
            </a:pPr>
            <a:r>
              <a:rPr lang="en-US" sz="1300" dirty="0">
                <a:solidFill>
                  <a:schemeClr val="tx1"/>
                </a:solidFill>
              </a:rPr>
              <a:t>the site's background – covered by your map, faded when it is chosen itself</a:t>
            </a:r>
            <a:endParaRPr lang="en-US" sz="1300" dirty="0"/>
          </a:p>
        </p:txBody>
      </p:sp>
      <p:sp>
        <p:nvSpPr>
          <p:cNvPr id="24041" name="Text 39"/>
          <p:cNvSpPr txBox="1"/>
          <p:nvPr/>
        </p:nvSpPr>
        <p:spPr>
          <a:xfrm>
            <a:off x="548640" y="5861304"/>
            <a:ext cx="11094415" cy="457200"/>
          </a:xfrm>
          <a:prstGeom prst="rect">
            <a:avLst/>
          </a:prstGeom>
          <a:noFill/>
          <a:ln/>
        </p:spPr>
        <p:txBody>
          <a:bodyPr wrap="square" lIns="0" tIns="0" rIns="0" bIns="0" rtlCol="0" anchor="t"/>
          <a:lstStyle/>
          <a:p>
            <a:pPr indent="0" marL="0">
              <a:buNone/>
            </a:pPr>
            <a:r>
              <a:rPr lang="en-US" sz="1150" dirty="0">
                <a:solidFill>
                  <a:schemeClr val="accent4"/>
                </a:solidFill>
              </a:rPr>
              <a:t>bz = the z-index of the site's background. On /play/map the site's background is a vector map (WebGL). On /map an invisible cache grid (UTFGrid) is loaded as well, used for the 161 m circles and for snapping the right-click popup to caches.</a:t>
            </a:r>
            <a:endParaRPr lang="en-US" sz="1150" dirty="0"/>
          </a:p>
        </p:txBody>
      </p:sp>
      <p:sp>
        <p:nvSpPr>
          <p:cNvPr id="24042"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25001" name=""/>
        <p:cNvGrpSpPr/>
        <p:nvPr/>
      </p:nvGrpSpPr>
      <p:grpSpPr>
        <a:xfrm>
          <a:off x="0" y="0"/>
          <a:ext cx="0" cy="0"/>
          <a:chOff x="0" y="0"/>
          <a:chExt cx="0" cy="0"/>
        </a:xfrm>
      </p:grpSpPr>
      <p:sp>
        <p:nvSpPr>
          <p:cNvPr id="2500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Under the hood</a:t>
            </a:r>
            <a:endParaRPr lang="en-US" sz="3600" dirty="0"/>
          </a:p>
        </p:txBody>
      </p:sp>
      <p:sp>
        <p:nvSpPr>
          <p:cNvPr id="25003" name="Ikon layers sirkel"/>
          <p:cNvSpPr/>
          <p:nvPr/>
        </p:nvSpPr>
        <p:spPr>
          <a:xfrm>
            <a:off x="548640" y="1591056"/>
            <a:ext cx="512064" cy="512064"/>
          </a:xfrm>
          <a:prstGeom prst="ellipse">
            <a:avLst/>
          </a:prstGeom>
          <a:solidFill>
            <a:schemeClr val="accent1"/>
          </a:solidFill>
          <a:ln/>
        </p:spPr>
      </p:sp>
      <p:pic>
        <p:nvPicPr>
          <p:cNvPr id="25004" name="Ikon layers" descr="layers">    </p:cNvPr>
          <p:cNvPicPr>
            <a:picLocks noChangeAspect="1"/>
          </p:cNvPicPr>
          <p:nvPr/>
        </p:nvPicPr>
        <p:blipFill>
          <a:blip r:embed="rId1"/>
          <a:stretch>
            <a:fillRect/>
          </a:stretch>
        </p:blipFill>
        <p:spPr>
          <a:xfrm>
            <a:off x="661294" y="1703710"/>
            <a:ext cx="286756" cy="286756"/>
          </a:xfrm>
          <a:prstGeom prst="rect">
            <a:avLst/>
          </a:prstGeom>
        </p:spPr>
      </p:pic>
      <p:sp>
        <p:nvSpPr>
          <p:cNvPr id="25005" name="Text 2"/>
          <p:cNvSpPr txBox="1"/>
          <p:nvPr/>
        </p:nvSpPr>
        <p:spPr>
          <a:xfrm>
            <a:off x="1261872" y="1517904"/>
            <a:ext cx="4590288" cy="12801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Never removes the site's layers</a:t>
            </a:r>
            <a:endParaRPr lang="en-US" sz="1700" dirty="0"/>
          </a:p>
          <a:p>
            <a:pPr indent="0" marL="0">
              <a:spcAft>
                <a:spcPts val="200"/>
              </a:spcAft>
              <a:buNone/>
            </a:pPr>
            <a:r>
              <a:rPr lang="en-US" sz="1400" dirty="0">
                <a:solidFill>
                  <a:schemeClr val="accent4"/>
                </a:solidFill>
              </a:rPr>
              <a:t>The script slots its own layers in between, sorted by z-index</a:t>
            </a:r>
            <a:endParaRPr lang="en-US" sz="1700" dirty="0"/>
          </a:p>
        </p:txBody>
      </p:sp>
      <p:sp>
        <p:nvSpPr>
          <p:cNvPr id="25006" name="Ikon eraser sirkel"/>
          <p:cNvSpPr/>
          <p:nvPr/>
        </p:nvSpPr>
        <p:spPr>
          <a:xfrm>
            <a:off x="548640" y="2916936"/>
            <a:ext cx="512064" cy="512064"/>
          </a:xfrm>
          <a:prstGeom prst="ellipse">
            <a:avLst/>
          </a:prstGeom>
          <a:solidFill>
            <a:schemeClr val="accent1"/>
          </a:solidFill>
          <a:ln/>
        </p:spPr>
      </p:sp>
      <p:pic>
        <p:nvPicPr>
          <p:cNvPr id="25007" name="Ikon eraser" descr="eraser">    </p:cNvPr>
          <p:cNvPicPr>
            <a:picLocks noChangeAspect="1"/>
          </p:cNvPicPr>
          <p:nvPr/>
        </p:nvPicPr>
        <p:blipFill>
          <a:blip r:embed="rId2"/>
          <a:stretch>
            <a:fillRect/>
          </a:stretch>
        </p:blipFill>
        <p:spPr>
          <a:xfrm>
            <a:off x="661294" y="3029590"/>
            <a:ext cx="286756" cy="286756"/>
          </a:xfrm>
          <a:prstGeom prst="rect">
            <a:avLst/>
          </a:prstGeom>
        </p:spPr>
      </p:pic>
      <p:sp>
        <p:nvSpPr>
          <p:cNvPr id="25008" name="Text 4"/>
          <p:cNvSpPr txBox="1"/>
          <p:nvPr/>
        </p:nvSpPr>
        <p:spPr>
          <a:xfrm>
            <a:off x="1261872" y="2843784"/>
            <a:ext cx="4590288" cy="12801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No seams between the tiles</a:t>
            </a:r>
            <a:endParaRPr lang="en-US" sz="1700" dirty="0"/>
          </a:p>
          <a:p>
            <a:pPr indent="0" marL="0">
              <a:spcAft>
                <a:spcPts val="200"/>
              </a:spcAft>
              <a:buNone/>
            </a:pPr>
            <a:r>
              <a:rPr lang="en-US" sz="1400" dirty="0">
                <a:solidFill>
                  <a:schemeClr val="accent4"/>
                </a:solidFill>
              </a:rPr>
              <a:t>Tiles are drawn 1 pixel larger, also at 110 and 125 % display scaling</a:t>
            </a:r>
            <a:endParaRPr lang="en-US" sz="1700" dirty="0"/>
          </a:p>
        </p:txBody>
      </p:sp>
      <p:sp>
        <p:nvSpPr>
          <p:cNvPr id="25009" name="Ikon ring sirkel"/>
          <p:cNvSpPr/>
          <p:nvPr/>
        </p:nvSpPr>
        <p:spPr>
          <a:xfrm>
            <a:off x="548640" y="4242816"/>
            <a:ext cx="512064" cy="512064"/>
          </a:xfrm>
          <a:prstGeom prst="ellipse">
            <a:avLst/>
          </a:prstGeom>
          <a:solidFill>
            <a:schemeClr val="accent1"/>
          </a:solidFill>
          <a:ln/>
        </p:spPr>
      </p:sp>
      <p:pic>
        <p:nvPicPr>
          <p:cNvPr id="25010" name="Ikon ring" descr="ring">    </p:cNvPr>
          <p:cNvPicPr>
            <a:picLocks noChangeAspect="1"/>
          </p:cNvPicPr>
          <p:nvPr/>
        </p:nvPicPr>
        <p:blipFill>
          <a:blip r:embed="rId3"/>
          <a:stretch>
            <a:fillRect/>
          </a:stretch>
        </p:blipFill>
        <p:spPr>
          <a:xfrm>
            <a:off x="661294" y="4355470"/>
            <a:ext cx="286756" cy="286756"/>
          </a:xfrm>
          <a:prstGeom prst="rect">
            <a:avLst/>
          </a:prstGeom>
        </p:spPr>
      </p:pic>
      <p:sp>
        <p:nvSpPr>
          <p:cNvPr id="25011" name="Text 6"/>
          <p:cNvSpPr txBox="1"/>
          <p:nvPr/>
        </p:nvSpPr>
        <p:spPr>
          <a:xfrm>
            <a:off x="1261872" y="4169664"/>
            <a:ext cx="4590288" cy="12801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Fading without show-through</a:t>
            </a:r>
            <a:endParaRPr lang="en-US" sz="1700" dirty="0"/>
          </a:p>
          <a:p>
            <a:pPr indent="0" marL="0">
              <a:spcAft>
                <a:spcPts val="200"/>
              </a:spcAft>
              <a:buNone/>
            </a:pPr>
            <a:r>
              <a:rPr lang="en-US" sz="1400" dirty="0">
                <a:solidFill>
                  <a:schemeClr val="accent4"/>
                </a:solidFill>
              </a:rPr>
              <a:t>A colour filter bleaches the map towards white – the site's map never shows through</a:t>
            </a:r>
            <a:endParaRPr lang="en-US" sz="1700" dirty="0"/>
          </a:p>
        </p:txBody>
      </p:sp>
      <p:sp>
        <p:nvSpPr>
          <p:cNvPr id="25012" name="Ikon locate sirkel"/>
          <p:cNvSpPr/>
          <p:nvPr/>
        </p:nvSpPr>
        <p:spPr>
          <a:xfrm>
            <a:off x="6355080" y="1591056"/>
            <a:ext cx="512064" cy="512064"/>
          </a:xfrm>
          <a:prstGeom prst="ellipse">
            <a:avLst/>
          </a:prstGeom>
          <a:solidFill>
            <a:schemeClr val="accent1"/>
          </a:solidFill>
          <a:ln/>
        </p:spPr>
      </p:sp>
      <p:pic>
        <p:nvPicPr>
          <p:cNvPr id="25013" name="Ikon locate" descr="locate">    </p:cNvPr>
          <p:cNvPicPr>
            <a:picLocks noChangeAspect="1"/>
          </p:cNvPicPr>
          <p:nvPr/>
        </p:nvPicPr>
        <p:blipFill>
          <a:blip r:embed="rId4"/>
          <a:stretch>
            <a:fillRect/>
          </a:stretch>
        </p:blipFill>
        <p:spPr>
          <a:xfrm>
            <a:off x="6467734" y="1703710"/>
            <a:ext cx="286756" cy="286756"/>
          </a:xfrm>
          <a:prstGeom prst="rect">
            <a:avLst/>
          </a:prstGeom>
        </p:spPr>
      </p:pic>
      <p:sp>
        <p:nvSpPr>
          <p:cNvPr id="25014" name="Text 8"/>
          <p:cNvSpPr txBox="1"/>
          <p:nvPr/>
        </p:nvSpPr>
        <p:spPr>
          <a:xfrm>
            <a:off x="7068312" y="1517904"/>
            <a:ext cx="4590288" cy="12801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Finds the map by itself</a:t>
            </a:r>
            <a:endParaRPr lang="en-US" sz="1700" dirty="0"/>
          </a:p>
          <a:p>
            <a:pPr indent="0" marL="0">
              <a:spcAft>
                <a:spcPts val="200"/>
              </a:spcAft>
              <a:buNone/>
            </a:pPr>
            <a:r>
              <a:rPr lang="en-US" sz="1400" dirty="0">
                <a:solidFill>
                  <a:schemeClr val="accent4"/>
                </a:solidFill>
              </a:rPr>
              <a:t>Catches Leaflet as the page loads, also on /play/map and the cache pages</a:t>
            </a:r>
            <a:endParaRPr lang="en-US" sz="1700" dirty="0"/>
          </a:p>
        </p:txBody>
      </p:sp>
      <p:sp>
        <p:nvSpPr>
          <p:cNvPr id="25015" name="Ikon check sirkel"/>
          <p:cNvSpPr/>
          <p:nvPr/>
        </p:nvSpPr>
        <p:spPr>
          <a:xfrm>
            <a:off x="6355080" y="2916936"/>
            <a:ext cx="512064" cy="512064"/>
          </a:xfrm>
          <a:prstGeom prst="ellipse">
            <a:avLst/>
          </a:prstGeom>
          <a:solidFill>
            <a:schemeClr val="accent1"/>
          </a:solidFill>
          <a:ln/>
        </p:spPr>
      </p:sp>
      <p:pic>
        <p:nvPicPr>
          <p:cNvPr id="25016" name="Ikon check" descr="check">    </p:cNvPr>
          <p:cNvPicPr>
            <a:picLocks noChangeAspect="1"/>
          </p:cNvPicPr>
          <p:nvPr/>
        </p:nvPicPr>
        <p:blipFill>
          <a:blip r:embed="rId5"/>
          <a:stretch>
            <a:fillRect/>
          </a:stretch>
        </p:blipFill>
        <p:spPr>
          <a:xfrm>
            <a:off x="6467734" y="3029590"/>
            <a:ext cx="286756" cy="286756"/>
          </a:xfrm>
          <a:prstGeom prst="rect">
            <a:avLst/>
          </a:prstGeom>
        </p:spPr>
      </p:pic>
      <p:sp>
        <p:nvSpPr>
          <p:cNvPr id="25017" name="Text 10"/>
          <p:cNvSpPr txBox="1"/>
          <p:nvPr/>
        </p:nvSpPr>
        <p:spPr>
          <a:xfrm>
            <a:off x="7068312" y="2843784"/>
            <a:ext cx="4590288" cy="12801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Leaves the form alone</a:t>
            </a:r>
            <a:endParaRPr lang="en-US" sz="1700" dirty="0"/>
          </a:p>
          <a:p>
            <a:pPr indent="0" marL="0">
              <a:spcAft>
                <a:spcPts val="200"/>
              </a:spcAft>
              <a:buNone/>
            </a:pPr>
            <a:r>
              <a:rPr lang="en-US" sz="1400" dirty="0">
                <a:solidFill>
                  <a:schemeClr val="accent4"/>
                </a:solidFill>
              </a:rPr>
              <a:t>No button can submit the page's ASP.NET form, so the page never reloads</a:t>
            </a:r>
            <a:endParaRPr lang="en-US" sz="1700" dirty="0"/>
          </a:p>
        </p:txBody>
      </p:sp>
      <p:sp>
        <p:nvSpPr>
          <p:cNvPr id="25018" name="Ikon search sirkel"/>
          <p:cNvSpPr/>
          <p:nvPr/>
        </p:nvSpPr>
        <p:spPr>
          <a:xfrm>
            <a:off x="6355080" y="4242816"/>
            <a:ext cx="512064" cy="512064"/>
          </a:xfrm>
          <a:prstGeom prst="ellipse">
            <a:avLst/>
          </a:prstGeom>
          <a:solidFill>
            <a:schemeClr val="accent1"/>
          </a:solidFill>
          <a:ln/>
        </p:spPr>
      </p:sp>
      <p:pic>
        <p:nvPicPr>
          <p:cNvPr id="25019" name="Ikon search" descr="search">    </p:cNvPr>
          <p:cNvPicPr>
            <a:picLocks noChangeAspect="1"/>
          </p:cNvPicPr>
          <p:nvPr/>
        </p:nvPicPr>
        <p:blipFill>
          <a:blip r:embed="rId6"/>
          <a:stretch>
            <a:fillRect/>
          </a:stretch>
        </p:blipFill>
        <p:spPr>
          <a:xfrm>
            <a:off x="6467734" y="4355470"/>
            <a:ext cx="286756" cy="286756"/>
          </a:xfrm>
          <a:prstGeom prst="rect">
            <a:avLst/>
          </a:prstGeom>
        </p:spPr>
      </p:pic>
      <p:sp>
        <p:nvSpPr>
          <p:cNvPr id="25020" name="Text 12"/>
          <p:cNvSpPr txBox="1"/>
          <p:nvPr/>
        </p:nvSpPr>
        <p:spPr>
          <a:xfrm>
            <a:off x="7068312" y="4169664"/>
            <a:ext cx="4590288" cy="12801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Built-in troubleshooting</a:t>
            </a:r>
            <a:endParaRPr lang="en-US" sz="1700" dirty="0"/>
          </a:p>
          <a:p>
            <a:pPr indent="0" marL="0">
              <a:spcAft>
                <a:spcPts val="200"/>
              </a:spcAft>
              <a:buNone/>
            </a:pPr>
            <a:r>
              <a:rPr lang="en-US" sz="1400" dirty="0">
                <a:solidFill>
                  <a:schemeClr val="accent4"/>
                </a:solidFill>
              </a:rPr>
              <a:t>gcctReport(), gcctCacheDebug(), gcctStageTest() and gcctSnapTest() in the console give short reports without personal data</a:t>
            </a:r>
            <a:endParaRPr lang="en-US" sz="1700" dirty="0"/>
          </a:p>
        </p:txBody>
      </p:sp>
      <p:sp>
        <p:nvSpPr>
          <p:cNvPr id="25021"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26001" name=""/>
        <p:cNvGrpSpPr/>
        <p:nvPr/>
      </p:nvGrpSpPr>
      <p:grpSpPr>
        <a:xfrm>
          <a:off x="0" y="0"/>
          <a:ext cx="0" cy="0"/>
          <a:chOff x="0" y="0"/>
          <a:chExt cx="0" cy="0"/>
        </a:xfrm>
      </p:grpSpPr>
      <p:sp>
        <p:nvSpPr>
          <p:cNvPr id="2600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Get started in three minutes</a:t>
            </a:r>
            <a:endParaRPr lang="en-US" sz="3600" dirty="0"/>
          </a:p>
        </p:txBody>
      </p:sp>
      <p:sp>
        <p:nvSpPr>
          <p:cNvPr id="26003" name="Steg 1"/>
          <p:cNvSpPr/>
          <p:nvPr/>
        </p:nvSpPr>
        <p:spPr>
          <a:xfrm>
            <a:off x="548640" y="1463040"/>
            <a:ext cx="731520" cy="731520"/>
          </a:xfrm>
          <a:prstGeom prst="ellipse">
            <a:avLst/>
          </a:prstGeom>
          <a:solidFill>
            <a:schemeClr val="accent1"/>
          </a:solidFill>
          <a:ln/>
        </p:spPr>
      </p:sp>
      <p:sp>
        <p:nvSpPr>
          <p:cNvPr id="26004" name="Text 2"/>
          <p:cNvSpPr txBox="1"/>
          <p:nvPr/>
        </p:nvSpPr>
        <p:spPr>
          <a:xfrm>
            <a:off x="548640" y="146304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26005" name="Text 3"/>
          <p:cNvSpPr txBox="1"/>
          <p:nvPr/>
        </p:nvSpPr>
        <p:spPr>
          <a:xfrm>
            <a:off x="548640" y="2377440"/>
            <a:ext cx="3301898" cy="146304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Install a userscript manager</a:t>
            </a:r>
            <a:endParaRPr lang="en-US" sz="1900" dirty="0"/>
          </a:p>
          <a:p>
            <a:pPr indent="0" marL="0">
              <a:spcAft>
                <a:spcPts val="400"/>
              </a:spcAft>
              <a:buNone/>
            </a:pPr>
            <a:r>
              <a:rPr lang="en-US" sz="1400" dirty="0">
                <a:solidFill>
                  <a:schemeClr val="accent4"/>
                </a:solidFill>
              </a:rPr>
              <a:t>Tampermonkey or Violentmonkey in Chrome, Edge, Firefox or Safari</a:t>
            </a:r>
            <a:endParaRPr lang="en-US" sz="1900" dirty="0"/>
          </a:p>
        </p:txBody>
      </p:sp>
      <p:sp>
        <p:nvSpPr>
          <p:cNvPr id="26006" name="Steg 2"/>
          <p:cNvSpPr/>
          <p:nvPr/>
        </p:nvSpPr>
        <p:spPr>
          <a:xfrm>
            <a:off x="4353458" y="1463040"/>
            <a:ext cx="731520" cy="731520"/>
          </a:xfrm>
          <a:prstGeom prst="ellipse">
            <a:avLst/>
          </a:prstGeom>
          <a:solidFill>
            <a:schemeClr val="accent1"/>
          </a:solidFill>
          <a:ln/>
        </p:spPr>
      </p:sp>
      <p:sp>
        <p:nvSpPr>
          <p:cNvPr id="26007" name="Text 5"/>
          <p:cNvSpPr txBox="1"/>
          <p:nvPr/>
        </p:nvSpPr>
        <p:spPr>
          <a:xfrm>
            <a:off x="4353458" y="146304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26008" name="Text 6"/>
          <p:cNvSpPr txBox="1"/>
          <p:nvPr/>
        </p:nvSpPr>
        <p:spPr>
          <a:xfrm>
            <a:off x="4353458" y="2377440"/>
            <a:ext cx="3301898" cy="146304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Add the script</a:t>
            </a:r>
            <a:endParaRPr lang="en-US" sz="1900" dirty="0"/>
          </a:p>
          <a:p>
            <a:pPr indent="0" marL="0">
              <a:spcAft>
                <a:spcPts val="400"/>
              </a:spcAft>
              <a:buNone/>
            </a:pPr>
            <a:r>
              <a:rPr lang="en-US" sz="1400" dirty="0">
                <a:solidFill>
                  <a:schemeClr val="accent4"/>
                </a:solidFill>
              </a:rPr>
              <a:t>Open geocaching-custom-tiles.user.js and save it in the manager</a:t>
            </a:r>
            <a:endParaRPr lang="en-US" sz="1900" dirty="0"/>
          </a:p>
        </p:txBody>
      </p:sp>
      <p:sp>
        <p:nvSpPr>
          <p:cNvPr id="26009" name="Steg 3"/>
          <p:cNvSpPr/>
          <p:nvPr/>
        </p:nvSpPr>
        <p:spPr>
          <a:xfrm>
            <a:off x="8158277" y="1463040"/>
            <a:ext cx="731520" cy="731520"/>
          </a:xfrm>
          <a:prstGeom prst="ellipse">
            <a:avLst/>
          </a:prstGeom>
          <a:solidFill>
            <a:schemeClr val="accent1"/>
          </a:solidFill>
          <a:ln/>
        </p:spPr>
      </p:sp>
      <p:sp>
        <p:nvSpPr>
          <p:cNvPr id="26010" name="Text 8"/>
          <p:cNvSpPr txBox="1"/>
          <p:nvPr/>
        </p:nvSpPr>
        <p:spPr>
          <a:xfrm>
            <a:off x="8158277" y="146304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26011" name="Text 9"/>
          <p:cNvSpPr txBox="1"/>
          <p:nvPr/>
        </p:nvSpPr>
        <p:spPr>
          <a:xfrm>
            <a:off x="8158277" y="2377440"/>
            <a:ext cx="3301898" cy="146304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Open a map</a:t>
            </a:r>
            <a:endParaRPr lang="en-US" sz="1900" dirty="0"/>
          </a:p>
          <a:p>
            <a:pPr indent="0" marL="0">
              <a:spcAft>
                <a:spcPts val="400"/>
              </a:spcAft>
              <a:buNone/>
            </a:pPr>
            <a:r>
              <a:rPr lang="en-US" sz="1400" dirty="0">
                <a:solidFill>
                  <a:schemeClr val="accent4"/>
                </a:solidFill>
              </a:rPr>
              <a:t>geocaching.com/map or /play/map – the toolbar appears on the right</a:t>
            </a:r>
            <a:endParaRPr lang="en-US" sz="1900" dirty="0"/>
          </a:p>
        </p:txBody>
      </p:sp>
      <p:sp>
        <p:nvSpPr>
          <p:cNvPr id="26012" name="Personvern"/>
          <p:cNvSpPr/>
          <p:nvPr/>
        </p:nvSpPr>
        <p:spPr>
          <a:xfrm>
            <a:off x="548640" y="3977640"/>
            <a:ext cx="11094415" cy="1783080"/>
          </a:xfrm>
          <a:prstGeom prst="roundRect">
            <a:avLst>
              <a:gd name="adj" fmla="val 6154"/>
            </a:avLst>
          </a:prstGeom>
          <a:solidFill>
            <a:schemeClr val="bg2"/>
          </a:solidFill>
          <a:ln/>
        </p:spPr>
      </p:sp>
      <p:sp>
        <p:nvSpPr>
          <p:cNvPr id="26013" name="Ikon check sirkel"/>
          <p:cNvSpPr/>
          <p:nvPr/>
        </p:nvSpPr>
        <p:spPr>
          <a:xfrm>
            <a:off x="868680" y="4251960"/>
            <a:ext cx="640080" cy="640080"/>
          </a:xfrm>
          <a:prstGeom prst="ellipse">
            <a:avLst/>
          </a:prstGeom>
          <a:solidFill>
            <a:schemeClr val="accent1"/>
          </a:solidFill>
          <a:ln/>
        </p:spPr>
      </p:sp>
      <p:pic>
        <p:nvPicPr>
          <p:cNvPr id="26014" name="Ikon check" descr="check">    </p:cNvPr>
          <p:cNvPicPr>
            <a:picLocks noChangeAspect="1"/>
          </p:cNvPicPr>
          <p:nvPr/>
        </p:nvPicPr>
        <p:blipFill>
          <a:blip r:embed="rId1"/>
          <a:stretch>
            <a:fillRect/>
          </a:stretch>
        </p:blipFill>
        <p:spPr>
          <a:xfrm>
            <a:off x="1009498" y="4392778"/>
            <a:ext cx="358445" cy="358445"/>
          </a:xfrm>
          <a:prstGeom prst="rect">
            <a:avLst/>
          </a:prstGeom>
        </p:spPr>
      </p:pic>
      <p:sp>
        <p:nvSpPr>
          <p:cNvPr id="26015" name="Text 12"/>
          <p:cNvSpPr txBox="1"/>
          <p:nvPr/>
        </p:nvSpPr>
        <p:spPr>
          <a:xfrm>
            <a:off x="1737360" y="4206240"/>
            <a:ext cx="9585655" cy="141732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Privacy</a:t>
            </a:r>
            <a:endParaRPr lang="en-US" sz="1900" dirty="0"/>
          </a:p>
          <a:p>
            <a:pPr indent="0" marL="0">
              <a:spcAft>
                <a:spcPts val="400"/>
              </a:spcAft>
              <a:buNone/>
            </a:pPr>
            <a:r>
              <a:rPr lang="en-US" sz="1500" dirty="0">
                <a:solidFill>
                  <a:schemeClr val="tx1"/>
                </a:solidFill>
              </a:rPr>
              <a:t>The script collects and sends no personal data and has no server of its own. It only contacts the map servers you switch on, Kartverket and Photon when you search, and geocaching.com's own cache search and cache pages when the 161 m circles are on. Your location is only requested when you ask for it. All settings are stored in the browser.</a:t>
            </a:r>
            <a:endParaRPr lang="en-US" sz="1900" dirty="0"/>
          </a:p>
        </p:txBody>
      </p:sp>
      <p:sp>
        <p:nvSpPr>
          <p:cNvPr id="26016"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27001" name=""/>
        <p:cNvGrpSpPr/>
        <p:nvPr/>
      </p:nvGrpSpPr>
      <p:grpSpPr>
        <a:xfrm>
          <a:off x="0" y="0"/>
          <a:ext cx="0" cy="0"/>
          <a:chOff x="0" y="0"/>
          <a:chExt cx="0" cy="0"/>
        </a:xfrm>
      </p:grpSpPr>
      <p:sp>
        <p:nvSpPr>
          <p:cNvPr id="27002" name="Text 0"/>
          <p:cNvSpPr/>
          <p:nvPr>
            <p:ph idx="100" type="title" hasCustomPrompt="1"/>
          </p:nvPr>
        </p:nvSpPr>
        <p:spPr>
          <a:xfrm>
            <a:off x="548640" y="1828800"/>
            <a:ext cx="6035040" cy="1737360"/>
          </a:xfrm>
          <a:prstGeom prst="rect">
            <a:avLst/>
          </a:prstGeom>
          <a:noFill/>
          <a:ln/>
        </p:spPr>
        <p:txBody>
          <a:bodyPr wrap="square" lIns="0" tIns="0" rIns="0" bIns="0" rtlCol="0" anchor="b"/>
          <a:lstStyle/>
          <a:p>
            <a:pPr algn="l" indent="0" marL="0">
              <a:buNone/>
            </a:pPr>
            <a:r>
              <a:rPr lang="en-US" sz="4400" b="1" dirty="0">
                <a:solidFill>
                  <a:schemeClr val="bg1"/>
                </a:solidFill>
              </a:rPr>
              <a:t>Better maps for</a:t>
            </a:r>
            <a:endParaRPr lang="en-US" sz="4400" dirty="0"/>
          </a:p>
          <a:p>
            <a:pPr algn="l" indent="0" marL="0">
              <a:buNone/>
            </a:pPr>
            <a:r>
              <a:rPr lang="en-US" sz="4400" b="1" dirty="0">
                <a:solidFill>
                  <a:schemeClr val="bg1"/>
                </a:solidFill>
              </a:rPr>
              <a:t>better trips</a:t>
            </a:r>
            <a:endParaRPr lang="en-US" sz="4400" dirty="0"/>
          </a:p>
        </p:txBody>
      </p:sp>
      <p:sp>
        <p:nvSpPr>
          <p:cNvPr id="27003" name="Text 0"/>
          <p:cNvSpPr/>
          <p:nvPr>
            <p:ph idx="101" type="body" hasCustomPrompt="1"/>
          </p:nvPr>
        </p:nvSpPr>
        <p:spPr>
          <a:xfrm>
            <a:off x="548640" y="3703320"/>
            <a:ext cx="5852160" cy="1188720"/>
          </a:xfrm>
          <a:prstGeom prst="rect">
            <a:avLst/>
          </a:prstGeom>
          <a:noFill/>
          <a:ln/>
        </p:spPr>
        <p:txBody>
          <a:bodyPr wrap="square" lIns="0" tIns="0" rIns="0" bIns="0" rtlCol="0" anchor="t"/>
          <a:lstStyle/>
          <a:p>
            <a:pPr algn="l" indent="0" marL="0">
              <a:buNone/>
            </a:pPr>
            <a:r>
              <a:rPr lang="en-US" sz="1800" dirty="0">
                <a:solidFill>
                  <a:schemeClr val="accent5"/>
                </a:solidFill>
              </a:rPr>
              <a:t>User guides in English and Norwegian are included. Use gcctReport() in the browser console if something doesn't work.</a:t>
            </a:r>
            <a:endParaRPr lang="en-US" sz="1800" dirty="0"/>
          </a:p>
        </p:txBody>
      </p:sp>
      <p:pic>
        <p:nvPicPr>
          <p:cNvPr id="27004" name="Høyreklikkboblen" descr="The right-click popup">    </p:cNvPr>
          <p:cNvPicPr>
            <a:picLocks noChangeAspect="1"/>
          </p:cNvPicPr>
          <p:nvPr/>
        </p:nvPicPr>
        <p:blipFill>
          <a:blip r:embed="rId1"/>
          <a:stretch>
            <a:fillRect/>
          </a:stretch>
        </p:blipFill>
        <p:spPr>
          <a:xfrm>
            <a:off x="6705295" y="1371600"/>
            <a:ext cx="4754880" cy="2300748"/>
          </a:xfrm>
          <a:prstGeom prst="rect">
            <a:avLst/>
          </a:prstGeom>
          <a:effectLst>
            <a:outerShdw sx="100000" sy="100000" kx="0" ky="0" algn="bl" rotWithShape="0" blurRad="127000" dist="38100" dir="5400000">
              <a:srgbClr val="000000">
                <a:alpha val="18000"/>
              </a:srgbClr>
            </a:outerShdw>
          </a:effectLst>
        </p:spPr>
      </p:pic>
      <p:pic>
        <p:nvPicPr>
          <p:cNvPr id="27005" name="Bekreftelsesdialog" descr="Confirmation dialog">    </p:cNvPr>
          <p:cNvPicPr>
            <a:picLocks noChangeAspect="1"/>
          </p:cNvPicPr>
          <p:nvPr/>
        </p:nvPicPr>
        <p:blipFill>
          <a:blip r:embed="rId2"/>
          <a:stretch>
            <a:fillRect/>
          </a:stretch>
        </p:blipFill>
        <p:spPr>
          <a:xfrm>
            <a:off x="6796735" y="4083828"/>
            <a:ext cx="4023360" cy="1973362"/>
          </a:xfrm>
          <a:prstGeom prst="rect">
            <a:avLst/>
          </a:prstGeom>
          <a:effectLst>
            <a:outerShdw sx="100000" sy="100000" kx="0" ky="0" algn="bl" rotWithShape="0" blurRad="127000" dist="38100" dir="5400000">
              <a:srgbClr val="000000">
                <a:alpha val="18000"/>
              </a:srgbClr>
            </a:outerShdw>
          </a:effectLst>
        </p:spPr>
      </p:pic>
    </p:spTree>
  </p:cSld>
  <p:clrMapOvr>
    <a:masterClrMapping/>
  </p:clrMapOvr>
</p:sld>
</file>

<file path=ppt/theme/theme1.xml><?xml version="1.0" encoding="utf-8"?>
<a:theme xmlns:a="http://schemas.openxmlformats.org/drawingml/2006/main" name="Geocaching Kartlag">
  <a:themeElements>
    <a:clrScheme name="Geocaching Kartlag">
      <a:dk1>
        <a:srgbClr val="1B2A24"/>
      </a:dk1>
      <a:lt1>
        <a:srgbClr val="FFFFFF"/>
      </a:lt1>
      <a:dk2>
        <a:srgbClr val="163A2B"/>
      </a:dk2>
      <a:lt2>
        <a:srgbClr val="EEF3EF"/>
      </a:lt2>
      <a:accent1>
        <a:srgbClr val="1F7A34"/>
      </a:accent1>
      <a:accent2>
        <a:srgbClr val="E6007E"/>
      </a:accent2>
      <a:accent3>
        <a:srgbClr val="0969DA"/>
      </a:accent3>
      <a:accent4>
        <a:srgbClr val="6B7F75"/>
      </a:accent4>
      <a:accent5>
        <a:srgbClr val="BFD8C4"/>
      </a:accent5>
      <a:accent6>
        <a:srgbClr val="F2B705"/>
      </a:accent6>
      <a:hlink>
        <a:srgbClr val="0969DA"/>
      </a:hlink>
      <a:folHlink>
        <a:srgbClr val="6639BA"/>
      </a:folHlink>
    </a:clrScheme>
    <a:fontScheme name="Geocaching Kartla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Geocaching Map – Custom Tile Layers</dc:title>
  <dc:subject>PptxGenJS Presentation</dc:subject>
  <dc:creator>Knut Olav Sunde</dc:creator>
  <cp:lastModifiedBy>Knut Olav Sunde</cp:lastModifiedBy>
  <cp:revision>1</cp:revision>
  <dcterms:created xsi:type="dcterms:W3CDTF">2026-10-28T13:01:33Z</dcterms:created>
  <dcterms:modified xsi:type="dcterms:W3CDTF">2026-10-28T13:01:33Z</dcterms:modified>
</cp:coreProperties>
</file>