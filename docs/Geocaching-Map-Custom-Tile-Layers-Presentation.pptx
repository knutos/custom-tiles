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e6b812b-acaf-113f-24ad-7a419274845b}">
          <p14:sldIdLst>
            <p14:sldId id="256"/>
            <p14:sldId id="257"/>
          </p14:sldIdLst>
        </p14:section>
        <p14:section name="Features" id="{3743858a-4bb4-c939-6804-160e307438d9}">
          <p14:sldIdLst>
            <p14:sldId id="258"/>
            <p14:sldId id="259"/>
            <p14:sldId id="260"/>
            <p14:sldId id="261"/>
            <p14:sldId id="262"/>
            <p14:sldId id="263"/>
            <p14:sldId id="264"/>
            <p14:sldId id="265"/>
            <p14:sldId id="266"/>
            <p14:sldId id="267"/>
          </p14:sldIdLst>
        </p14:section>
        <p14:section name="Technical" id="{f8c5d5f8-8e3f-c649-5a8c-29c17fe17a44}">
          <p14:sldIdLst>
            <p14:sldId id="268"/>
            <p14:sldId id="269"/>
            <p14:sldId id="270"/>
          </p14:sldIdLst>
        </p14:section>
        <p14:section name="Wrap-up" id="{afed6d62-b64d-a125-86f6-a06338bad58f}">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This userscript turns the geocaching.com maps into a flexible map workbench: your own background maps and overlays, place search, coordinates, measuring, projecting and 161 m circles – gathered in one toolbar.</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Six main areas. The site's own zoom, location and map buttons are folded into the same toolbar, so there are no duplicate buttons.</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The toolbar can sit on the right (default), left, top or bottom, in one or two rows. Choose in Settings, or drag it by its handle to another edge. It keeps clear of the site's search panel and moves below buttons such as “Create Route” when needed. The layer panel and the dialogs open beside the toolbar, and the site's own zoom buttons are always hidden.</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The chosen map is marked in blue, and the tabs show where the background map and the overlays in use are. Change the order by dragging the handle on the left of the row, or with the arrow keys. The background map is always drawn fully opaque, so the geocaching.com map never shows through. The cache icons are always on top.</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The layer editor recognises the address and fetches the list of layers from WMS and WMTS services. Only services in Web Mercator can be shown, as the geocaching.com map uses that projection.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Use the arrow keys and Enter to pick one. The map zooms to a level that suits the hit: county, municipality, town or address.</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The coordinates under the mouse are also shown at the bottom right. Click the display to switch format; the choice is remembered.</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The popup snaps when you right-click within about 12 pixels of the cache – the size of the icon. Right-click further away and you get the clicked spot as before.</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or Project places the point with a pin, a line and a label with bearing and distance. Cancel removes the preview.</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The route window opens with the route button in the toolbar. The preview shows exactly what the GPX file contains: name in the GPS, description, coordinates and legs. Caches get Garmin's Geocache symbol (Geocache Found when found), pins the blue pin.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The circles show from zoom level 15. The cache types, the exact coordinates and your solved coordinates come from geocaching.com's own cache search. Physical stages are read from the list of additional waypoints on the cache page – only those the owner has made visible. Blue mark with a question mark and a green tick: a solved cache you have found. Small blue dot: physical stage. Small green dot: final location. Your own caches, which the cache search leaves out, are read from the cache pages; there the site's icon and popup are kept, but the hover text becomes “Final location”.</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161 m is the minimum distance between caches in the guidelines. On the old map the script finds the positions from a hidden grid the site loads; on the new maps the exact positions are used.</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The browser draws Leaflet's controls on top, then the popups, markers and drawings, and the map tiles at the bottom. Among the tiles the script sorts by z-index: the site's background at the bottom, then your background map, the overlays and the preview, and on top the site's other tiles – on the old map those are the cache icons. The site's background is found from the site's layer switcher, otherwise as the lowest tile layer. The dialogs sit outside the map, attached to the page, so the side panel doesn't cover them.</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The script starts before the page and catches Leaflet the moment the page defines it. Its own errors never reach the site's code.</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The script needs no special permissions (@grant none). The settings are shared between the map pages and the cache pages.</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Thank you for your attention. Questions?</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v1.51.9</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slideLayout" Target="../slideLayouts/slideLayout3.xml"/><Relationship Id="rId1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Your own maps and handy tools right in the geocaching.com maps</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Userscript · version 1.51.9 · English and Norwegian</a:t>
            </a:r>
            <a:endParaRPr lang="en-US" sz="1400" dirty="0"/>
          </a:p>
        </p:txBody>
      </p:sp>
      <p:pic>
        <p:nvPicPr>
          <p:cNvPr id="11005" name="Kartlagpanelet" descr="The layer panel">    </p:cNvPr>
          <p:cNvPicPr>
            <a:picLocks noChangeAspect="1"/>
          </p:cNvPicPr>
          <p:nvPr/>
        </p:nvPicPr>
        <p:blipFill>
          <a:blip r:embed="rId1"/>
          <a:stretch>
            <a:fillRect/>
          </a:stretch>
        </p:blipFill>
        <p:spPr>
          <a:xfrm>
            <a:off x="8682150" y="548640"/>
            <a:ext cx="2595145"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Everything you need on the map, in one toolbar</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Any map</a:t>
            </a:r>
            <a:endParaRPr lang="en-US" sz="1900" dirty="0"/>
          </a:p>
          <a:p>
            <a:pPr indent="0" marL="0">
              <a:spcAft>
                <a:spcPts val="400"/>
              </a:spcAft>
              <a:buNone/>
            </a:pPr>
            <a:r>
              <a:rPr lang="en-US" sz="1400" dirty="0">
                <a:solidFill>
                  <a:schemeClr val="accent4"/>
                </a:solidFill>
              </a:rPr>
              <a:t>Kartverket, OpenStreetMap, aerial photos – or your own XYZ, WMTS, WMS and ArcGIS services</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Place search</a:t>
            </a:r>
            <a:endParaRPr lang="en-US" sz="1900" dirty="0"/>
          </a:p>
          <a:p>
            <a:pPr indent="0" marL="0">
              <a:spcAft>
                <a:spcPts val="400"/>
              </a:spcAft>
              <a:buNone/>
            </a:pPr>
            <a:r>
              <a:rPr lang="en-US" sz="1400" dirty="0">
                <a:solidFill>
                  <a:schemeClr val="accent4"/>
                </a:solidFill>
              </a:rPr>
              <a:t>Place names and addresses from Kartverket, places abroad and coordinates – in one list</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Coordinates and projecting</a:t>
            </a:r>
            <a:endParaRPr lang="en-US" sz="1900" dirty="0"/>
          </a:p>
          <a:p>
            <a:pPr indent="0" marL="0">
              <a:spcAft>
                <a:spcPts val="400"/>
              </a:spcAft>
              <a:buNone/>
            </a:pPr>
            <a:r>
              <a:rPr lang="en-US" sz="1400" dirty="0">
                <a:solidFill>
                  <a:schemeClr val="accent4"/>
                </a:solidFill>
              </a:rPr>
              <a:t>DMM, DD, DMS and UTM (32, 33, 35), projecting, and measuring distance and bearing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 circles</a:t>
            </a:r>
            <a:endParaRPr lang="en-US" sz="1900" dirty="0"/>
          </a:p>
          <a:p>
            <a:pPr indent="0" marL="0">
              <a:spcAft>
                <a:spcPts val="400"/>
              </a:spcAft>
              <a:buNone/>
            </a:pPr>
            <a:r>
              <a:rPr lang="en-US" sz="1400" dirty="0">
                <a:solidFill>
                  <a:schemeClr val="accent4"/>
                </a:solidFill>
              </a:rPr>
              <a:t>Around traditional and solved caches and visible physical stages – with clickable marks</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Home, location, Street View</a:t>
            </a:r>
            <a:endParaRPr lang="en-US" sz="1900" dirty="0"/>
          </a:p>
          <a:p>
            <a:pPr indent="0" marL="0">
              <a:spcAft>
                <a:spcPts val="400"/>
              </a:spcAft>
              <a:buNone/>
            </a:pPr>
            <a:r>
              <a:rPr lang="en-US" sz="1400" dirty="0">
                <a:solidFill>
                  <a:schemeClr val="accent4"/>
                </a:solidFill>
              </a:rPr>
              <a:t>Go home or to your location, and open Street View from the right-click menu</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New: routes for your GPS</a:t>
            </a:r>
            <a:endParaRPr lang="en-US" sz="1900" dirty="0"/>
          </a:p>
          <a:p>
            <a:pPr indent="0" marL="0">
              <a:spcAft>
                <a:spcPts val="400"/>
              </a:spcAft>
              <a:buNone/>
            </a:pPr>
            <a:r>
              <a:rPr lang="en-US" sz="1400" dirty="0">
                <a:solidFill>
                  <a:schemeClr val="accent4"/>
                </a:solidFill>
              </a:rPr>
              <a:t>Pick caches and pins from a list or on the map, preview and download as a GPX route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One toolbar instead of many buttons</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The toolbar">    </p:cNvPr>
          <p:cNvPicPr>
            <a:picLocks noChangeAspect="1"/>
          </p:cNvPicPr>
          <p:nvPr/>
        </p:nvPicPr>
        <p:blipFill>
          <a:blip r:embed="rId1"/>
          <a:stretch>
            <a:fillRect/>
          </a:stretch>
        </p:blipFill>
        <p:spPr>
          <a:xfrm>
            <a:off x="1106004" y="1572768"/>
            <a:ext cx="348312" cy="4443984"/>
          </a:xfrm>
          <a:prstGeom prst="rect">
            <a:avLst/>
          </a:prstGeom>
        </p:spPr>
      </p:pic>
      <p:sp>
        <p:nvSpPr>
          <p:cNvPr id="13005" name="Ikon layers sirkel"/>
          <p:cNvSpPr/>
          <p:nvPr/>
        </p:nvSpPr>
        <p:spPr>
          <a:xfrm>
            <a:off x="2514600" y="145389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66550"/>
            <a:ext cx="286756" cy="286756"/>
          </a:xfrm>
          <a:prstGeom prst="rect">
            <a:avLst/>
          </a:prstGeom>
        </p:spPr>
      </p:pic>
      <p:sp>
        <p:nvSpPr>
          <p:cNvPr id="13007" name="Text 3"/>
          <p:cNvSpPr txBox="1"/>
          <p:nvPr/>
        </p:nvSpPr>
        <p:spPr>
          <a:xfrm>
            <a:off x="3227832" y="138074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Map layers</a:t>
            </a:r>
            <a:endParaRPr lang="en-US" sz="1700" dirty="0"/>
          </a:p>
          <a:p>
            <a:pPr indent="0" marL="0">
              <a:spcAft>
                <a:spcPts val="200"/>
              </a:spcAft>
              <a:buNone/>
            </a:pPr>
            <a:r>
              <a:rPr lang="en-US" sz="1400" dirty="0">
                <a:solidFill>
                  <a:schemeClr val="accent4"/>
                </a:solidFill>
              </a:rPr>
              <a:t>Choose background map and overlays</a:t>
            </a:r>
            <a:endParaRPr lang="en-US" sz="1700" dirty="0"/>
          </a:p>
        </p:txBody>
      </p:sp>
      <p:sp>
        <p:nvSpPr>
          <p:cNvPr id="13008" name="Ikon search sirkel"/>
          <p:cNvSpPr/>
          <p:nvPr/>
        </p:nvSpPr>
        <p:spPr>
          <a:xfrm>
            <a:off x="2514600" y="216712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279782"/>
            <a:ext cx="286756" cy="286756"/>
          </a:xfrm>
          <a:prstGeom prst="rect">
            <a:avLst/>
          </a:prstGeom>
        </p:spPr>
      </p:pic>
      <p:sp>
        <p:nvSpPr>
          <p:cNvPr id="13010" name="Text 5"/>
          <p:cNvSpPr txBox="1"/>
          <p:nvPr/>
        </p:nvSpPr>
        <p:spPr>
          <a:xfrm>
            <a:off x="3227832" y="209397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Find a place</a:t>
            </a:r>
            <a:endParaRPr lang="en-US" sz="1700" dirty="0"/>
          </a:p>
          <a:p>
            <a:pPr indent="0" marL="0">
              <a:spcAft>
                <a:spcPts val="200"/>
              </a:spcAft>
              <a:buNone/>
            </a:pPr>
            <a:r>
              <a:rPr lang="en-US" sz="1400" dirty="0">
                <a:solidFill>
                  <a:schemeClr val="accent4"/>
                </a:solidFill>
              </a:rPr>
              <a:t>Shortcut: press / on the map</a:t>
            </a:r>
            <a:endParaRPr lang="en-US" sz="1700" dirty="0"/>
          </a:p>
        </p:txBody>
      </p:sp>
      <p:sp>
        <p:nvSpPr>
          <p:cNvPr id="13011" name="Ikon ruler sirkel"/>
          <p:cNvSpPr/>
          <p:nvPr/>
        </p:nvSpPr>
        <p:spPr>
          <a:xfrm>
            <a:off x="2514600" y="28803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993014"/>
            <a:ext cx="286756" cy="286756"/>
          </a:xfrm>
          <a:prstGeom prst="rect">
            <a:avLst/>
          </a:prstGeom>
        </p:spPr>
      </p:pic>
      <p:sp>
        <p:nvSpPr>
          <p:cNvPr id="13013" name="Text 7"/>
          <p:cNvSpPr txBox="1"/>
          <p:nvPr/>
        </p:nvSpPr>
        <p:spPr>
          <a:xfrm>
            <a:off x="3227832" y="2807208"/>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Measure</a:t>
            </a:r>
            <a:endParaRPr lang="en-US" sz="1700" dirty="0"/>
          </a:p>
          <a:p>
            <a:pPr indent="0" marL="0">
              <a:spcAft>
                <a:spcPts val="200"/>
              </a:spcAft>
              <a:buNone/>
            </a:pPr>
            <a:r>
              <a:rPr lang="en-US" sz="1400" dirty="0">
                <a:solidFill>
                  <a:schemeClr val="accent4"/>
                </a:solidFill>
              </a:rPr>
              <a:t>Distance and bearing between points</a:t>
            </a:r>
            <a:endParaRPr lang="en-US" sz="1700" dirty="0"/>
          </a:p>
        </p:txBody>
      </p:sp>
      <p:sp>
        <p:nvSpPr>
          <p:cNvPr id="13014" name="Ikon route sirkel"/>
          <p:cNvSpPr/>
          <p:nvPr/>
        </p:nvSpPr>
        <p:spPr>
          <a:xfrm>
            <a:off x="2514600" y="3593592"/>
            <a:ext cx="512064" cy="512064"/>
          </a:xfrm>
          <a:prstGeom prst="ellipse">
            <a:avLst/>
          </a:prstGeom>
          <a:solidFill>
            <a:schemeClr val="accent1"/>
          </a:solidFill>
          <a:ln/>
        </p:spPr>
      </p:sp>
      <p:pic>
        <p:nvPicPr>
          <p:cNvPr id="13015" name="Ikon route" descr="route">    </p:cNvPr>
          <p:cNvPicPr>
            <a:picLocks noChangeAspect="1"/>
          </p:cNvPicPr>
          <p:nvPr/>
        </p:nvPicPr>
        <p:blipFill>
          <a:blip r:embed="rId5"/>
          <a:stretch>
            <a:fillRect/>
          </a:stretch>
        </p:blipFill>
        <p:spPr>
          <a:xfrm>
            <a:off x="2627254" y="3706246"/>
            <a:ext cx="286756" cy="286756"/>
          </a:xfrm>
          <a:prstGeom prst="rect">
            <a:avLst/>
          </a:prstGeom>
        </p:spPr>
      </p:pic>
      <p:sp>
        <p:nvSpPr>
          <p:cNvPr id="13016" name="Text 9"/>
          <p:cNvSpPr txBox="1"/>
          <p:nvPr/>
        </p:nvSpPr>
        <p:spPr>
          <a:xfrm>
            <a:off x="3227832" y="3520440"/>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Route</a:t>
            </a:r>
            <a:endParaRPr lang="en-US" sz="1700" dirty="0"/>
          </a:p>
          <a:p>
            <a:pPr indent="0" marL="0">
              <a:spcAft>
                <a:spcPts val="200"/>
              </a:spcAft>
              <a:buNone/>
            </a:pPr>
            <a:r>
              <a:rPr lang="en-US" sz="1400" dirty="0">
                <a:solidFill>
                  <a:schemeClr val="accent4"/>
                </a:solidFill>
              </a:rPr>
              <a:t>Build a route and download it as GPX</a:t>
            </a:r>
            <a:endParaRPr lang="en-US" sz="1700" dirty="0"/>
          </a:p>
        </p:txBody>
      </p:sp>
      <p:sp>
        <p:nvSpPr>
          <p:cNvPr id="13017" name="Ikon circles sirkel"/>
          <p:cNvSpPr/>
          <p:nvPr/>
        </p:nvSpPr>
        <p:spPr>
          <a:xfrm>
            <a:off x="2514600" y="4306824"/>
            <a:ext cx="512064" cy="512064"/>
          </a:xfrm>
          <a:prstGeom prst="ellipse">
            <a:avLst/>
          </a:prstGeom>
          <a:solidFill>
            <a:schemeClr val="accent1"/>
          </a:solidFill>
          <a:ln/>
        </p:spPr>
      </p:sp>
      <p:pic>
        <p:nvPicPr>
          <p:cNvPr id="13018" name="Ikon circles" descr="circles">    </p:cNvPr>
          <p:cNvPicPr>
            <a:picLocks noChangeAspect="1"/>
          </p:cNvPicPr>
          <p:nvPr/>
        </p:nvPicPr>
        <p:blipFill>
          <a:blip r:embed="rId6"/>
          <a:stretch>
            <a:fillRect/>
          </a:stretch>
        </p:blipFill>
        <p:spPr>
          <a:xfrm>
            <a:off x="2627254" y="4419478"/>
            <a:ext cx="286756" cy="286756"/>
          </a:xfrm>
          <a:prstGeom prst="rect">
            <a:avLst/>
          </a:prstGeom>
        </p:spPr>
      </p:pic>
      <p:sp>
        <p:nvSpPr>
          <p:cNvPr id="13019" name="Text 11"/>
          <p:cNvSpPr txBox="1"/>
          <p:nvPr/>
        </p:nvSpPr>
        <p:spPr>
          <a:xfrm>
            <a:off x="3227832" y="4233672"/>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 circles</a:t>
            </a:r>
            <a:endParaRPr lang="en-US" sz="1700" dirty="0"/>
          </a:p>
          <a:p>
            <a:pPr indent="0" marL="0">
              <a:spcAft>
                <a:spcPts val="200"/>
              </a:spcAft>
              <a:buNone/>
            </a:pPr>
            <a:r>
              <a:rPr lang="en-US" sz="1400" dirty="0">
                <a:solidFill>
                  <a:schemeClr val="accent4"/>
                </a:solidFill>
              </a:rPr>
              <a:t>Where something is placed – from zoom 15</a:t>
            </a:r>
            <a:endParaRPr lang="en-US" sz="1700" dirty="0"/>
          </a:p>
        </p:txBody>
      </p:sp>
      <p:sp>
        <p:nvSpPr>
          <p:cNvPr id="13020" name="Ikon solved sirkel"/>
          <p:cNvSpPr/>
          <p:nvPr/>
        </p:nvSpPr>
        <p:spPr>
          <a:xfrm>
            <a:off x="2514600" y="5020056"/>
            <a:ext cx="512064" cy="512064"/>
          </a:xfrm>
          <a:prstGeom prst="ellipse">
            <a:avLst/>
          </a:prstGeom>
          <a:solidFill>
            <a:schemeClr val="accent1"/>
          </a:solidFill>
          <a:ln/>
        </p:spPr>
      </p:sp>
      <p:pic>
        <p:nvPicPr>
          <p:cNvPr id="13021" name="Ikon solved" descr="solved">    </p:cNvPr>
          <p:cNvPicPr>
            <a:picLocks noChangeAspect="1"/>
          </p:cNvPicPr>
          <p:nvPr/>
        </p:nvPicPr>
        <p:blipFill>
          <a:blip r:embed="rId7"/>
          <a:stretch>
            <a:fillRect/>
          </a:stretch>
        </p:blipFill>
        <p:spPr>
          <a:xfrm>
            <a:off x="2627254" y="5132710"/>
            <a:ext cx="286756" cy="286756"/>
          </a:xfrm>
          <a:prstGeom prst="rect">
            <a:avLst/>
          </a:prstGeom>
        </p:spPr>
      </p:pic>
      <p:sp>
        <p:nvSpPr>
          <p:cNvPr id="13022" name="Text 13"/>
          <p:cNvSpPr txBox="1"/>
          <p:nvPr/>
        </p:nvSpPr>
        <p:spPr>
          <a:xfrm>
            <a:off x="3227832" y="494690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Marks</a:t>
            </a:r>
            <a:endParaRPr lang="en-US" sz="1700" dirty="0"/>
          </a:p>
          <a:p>
            <a:pPr indent="0" marL="0">
              <a:spcAft>
                <a:spcPts val="200"/>
              </a:spcAft>
              <a:buNone/>
            </a:pPr>
            <a:r>
              <a:rPr lang="en-US" sz="1400" dirty="0">
                <a:solidFill>
                  <a:schemeClr val="accent4"/>
                </a:solidFill>
              </a:rPr>
              <a:t>Solved caches, also without circles</a:t>
            </a:r>
            <a:endParaRPr lang="en-US" sz="1700" dirty="0"/>
          </a:p>
        </p:txBody>
      </p:sp>
      <p:sp>
        <p:nvSpPr>
          <p:cNvPr id="13023" name="Ikon heart sirkel"/>
          <p:cNvSpPr/>
          <p:nvPr/>
        </p:nvSpPr>
        <p:spPr>
          <a:xfrm>
            <a:off x="2514600" y="5733288"/>
            <a:ext cx="512064" cy="512064"/>
          </a:xfrm>
          <a:prstGeom prst="ellipse">
            <a:avLst/>
          </a:prstGeom>
          <a:solidFill>
            <a:schemeClr val="accent1"/>
          </a:solidFill>
          <a:ln/>
        </p:spPr>
      </p:sp>
      <p:pic>
        <p:nvPicPr>
          <p:cNvPr id="13024" name="Ikon heart" descr="heart">    </p:cNvPr>
          <p:cNvPicPr>
            <a:picLocks noChangeAspect="1"/>
          </p:cNvPicPr>
          <p:nvPr/>
        </p:nvPicPr>
        <p:blipFill>
          <a:blip r:embed="rId8"/>
          <a:stretch>
            <a:fillRect/>
          </a:stretch>
        </p:blipFill>
        <p:spPr>
          <a:xfrm>
            <a:off x="2627254" y="5845942"/>
            <a:ext cx="286756" cy="286756"/>
          </a:xfrm>
          <a:prstGeom prst="rect">
            <a:avLst/>
          </a:prstGeom>
        </p:spPr>
      </p:pic>
      <p:sp>
        <p:nvSpPr>
          <p:cNvPr id="13025" name="Text 15"/>
          <p:cNvSpPr txBox="1"/>
          <p:nvPr/>
        </p:nvSpPr>
        <p:spPr>
          <a:xfrm>
            <a:off x="3227832" y="566013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Favourite points</a:t>
            </a:r>
            <a:endParaRPr lang="en-US" sz="1700" dirty="0"/>
          </a:p>
          <a:p>
            <a:pPr indent="0" marL="0">
              <a:spcAft>
                <a:spcPts val="200"/>
              </a:spcAft>
              <a:buNone/>
            </a:pPr>
            <a:r>
              <a:rPr lang="en-US" sz="1400" dirty="0">
                <a:solidFill>
                  <a:schemeClr val="accent4"/>
                </a:solidFill>
              </a:rPr>
              <a:t>♥ and the count above the caches – on/off</a:t>
            </a:r>
            <a:endParaRPr lang="en-US" sz="1700" dirty="0"/>
          </a:p>
        </p:txBody>
      </p:sp>
      <p:sp>
        <p:nvSpPr>
          <p:cNvPr id="13026" name="Ikon dt sirkel"/>
          <p:cNvSpPr/>
          <p:nvPr/>
        </p:nvSpPr>
        <p:spPr>
          <a:xfrm>
            <a:off x="7086600" y="1453896"/>
            <a:ext cx="512064" cy="512064"/>
          </a:xfrm>
          <a:prstGeom prst="ellipse">
            <a:avLst/>
          </a:prstGeom>
          <a:solidFill>
            <a:schemeClr val="accent1"/>
          </a:solidFill>
          <a:ln/>
        </p:spPr>
      </p:sp>
      <p:pic>
        <p:nvPicPr>
          <p:cNvPr id="13027" name="Ikon dt" descr="dt">    </p:cNvPr>
          <p:cNvPicPr>
            <a:picLocks noChangeAspect="1"/>
          </p:cNvPicPr>
          <p:nvPr/>
        </p:nvPicPr>
        <p:blipFill>
          <a:blip r:embed="rId9"/>
          <a:stretch>
            <a:fillRect/>
          </a:stretch>
        </p:blipFill>
        <p:spPr>
          <a:xfrm>
            <a:off x="7199254" y="1566550"/>
            <a:ext cx="286756" cy="286756"/>
          </a:xfrm>
          <a:prstGeom prst="rect">
            <a:avLst/>
          </a:prstGeom>
        </p:spPr>
      </p:pic>
      <p:sp>
        <p:nvSpPr>
          <p:cNvPr id="13028" name="Text 17"/>
          <p:cNvSpPr txBox="1"/>
          <p:nvPr/>
        </p:nvSpPr>
        <p:spPr>
          <a:xfrm>
            <a:off x="7799832" y="138074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Difficulty/terrain below the caches – on/off</a:t>
            </a:r>
            <a:endParaRPr lang="en-US" sz="1700" dirty="0"/>
          </a:p>
        </p:txBody>
      </p:sp>
      <p:sp>
        <p:nvSpPr>
          <p:cNvPr id="13029" name="Ikon eyeoff sirkel"/>
          <p:cNvSpPr/>
          <p:nvPr/>
        </p:nvSpPr>
        <p:spPr>
          <a:xfrm>
            <a:off x="7086600" y="2167128"/>
            <a:ext cx="512064" cy="512064"/>
          </a:xfrm>
          <a:prstGeom prst="ellipse">
            <a:avLst/>
          </a:prstGeom>
          <a:solidFill>
            <a:schemeClr val="accent1"/>
          </a:solidFill>
          <a:ln/>
        </p:spPr>
      </p:sp>
      <p:pic>
        <p:nvPicPr>
          <p:cNvPr id="13030" name="Ikon eyeoff" descr="eyeoff">    </p:cNvPr>
          <p:cNvPicPr>
            <a:picLocks noChangeAspect="1"/>
          </p:cNvPicPr>
          <p:nvPr/>
        </p:nvPicPr>
        <p:blipFill>
          <a:blip r:embed="rId10"/>
          <a:stretch>
            <a:fillRect/>
          </a:stretch>
        </p:blipFill>
        <p:spPr>
          <a:xfrm>
            <a:off x="7199254" y="2279782"/>
            <a:ext cx="286756" cy="286756"/>
          </a:xfrm>
          <a:prstGeom prst="rect">
            <a:avLst/>
          </a:prstGeom>
        </p:spPr>
      </p:pic>
      <p:sp>
        <p:nvSpPr>
          <p:cNvPr id="13031" name="Text 19"/>
          <p:cNvSpPr txBox="1"/>
          <p:nvPr/>
        </p:nvSpPr>
        <p:spPr>
          <a:xfrm>
            <a:off x="7799832" y="2093976"/>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Hide geocaches</a:t>
            </a:r>
            <a:endParaRPr lang="en-US" sz="1700" dirty="0"/>
          </a:p>
          <a:p>
            <a:pPr indent="0" marL="0">
              <a:spcAft>
                <a:spcPts val="200"/>
              </a:spcAft>
              <a:buNone/>
            </a:pPr>
            <a:r>
              <a:rPr lang="en-US" sz="1400" dirty="0">
                <a:solidFill>
                  <a:schemeClr val="accent4"/>
                </a:solidFill>
              </a:rPr>
              <a:t>A clean map – click again to show them</a:t>
            </a:r>
            <a:endParaRPr lang="en-US" sz="1700" dirty="0"/>
          </a:p>
        </p:txBody>
      </p:sp>
      <p:sp>
        <p:nvSpPr>
          <p:cNvPr id="13032" name="Ikon locate sirkel"/>
          <p:cNvSpPr/>
          <p:nvPr/>
        </p:nvSpPr>
        <p:spPr>
          <a:xfrm>
            <a:off x="7086600" y="2880360"/>
            <a:ext cx="512064" cy="512064"/>
          </a:xfrm>
          <a:prstGeom prst="ellipse">
            <a:avLst/>
          </a:prstGeom>
          <a:solidFill>
            <a:schemeClr val="accent1"/>
          </a:solidFill>
          <a:ln/>
        </p:spPr>
      </p:sp>
      <p:pic>
        <p:nvPicPr>
          <p:cNvPr id="13033" name="Ikon locate" descr="locate">    </p:cNvPr>
          <p:cNvPicPr>
            <a:picLocks noChangeAspect="1"/>
          </p:cNvPicPr>
          <p:nvPr/>
        </p:nvPicPr>
        <p:blipFill>
          <a:blip r:embed="rId11"/>
          <a:stretch>
            <a:fillRect/>
          </a:stretch>
        </p:blipFill>
        <p:spPr>
          <a:xfrm>
            <a:off x="7199254" y="2993014"/>
            <a:ext cx="286756" cy="286756"/>
          </a:xfrm>
          <a:prstGeom prst="rect">
            <a:avLst/>
          </a:prstGeom>
        </p:spPr>
      </p:pic>
      <p:sp>
        <p:nvSpPr>
          <p:cNvPr id="13034" name="Text 21"/>
          <p:cNvSpPr txBox="1"/>
          <p:nvPr/>
        </p:nvSpPr>
        <p:spPr>
          <a:xfrm>
            <a:off x="7799832" y="2807208"/>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My location</a:t>
            </a:r>
            <a:endParaRPr lang="en-US" sz="1700" dirty="0"/>
          </a:p>
          <a:p>
            <a:pPr indent="0" marL="0">
              <a:spcAft>
                <a:spcPts val="200"/>
              </a:spcAft>
              <a:buNone/>
            </a:pPr>
            <a:r>
              <a:rPr lang="en-US" sz="1400" dirty="0">
                <a:solidFill>
                  <a:schemeClr val="accent4"/>
                </a:solidFill>
              </a:rPr>
              <a:t>With an accuracy circle</a:t>
            </a:r>
            <a:endParaRPr lang="en-US" sz="1700" dirty="0"/>
          </a:p>
        </p:txBody>
      </p:sp>
      <p:sp>
        <p:nvSpPr>
          <p:cNvPr id="13035" name="Ikon home sirkel"/>
          <p:cNvSpPr/>
          <p:nvPr/>
        </p:nvSpPr>
        <p:spPr>
          <a:xfrm>
            <a:off x="7086600" y="3593592"/>
            <a:ext cx="512064" cy="512064"/>
          </a:xfrm>
          <a:prstGeom prst="ellipse">
            <a:avLst/>
          </a:prstGeom>
          <a:solidFill>
            <a:schemeClr val="accent1"/>
          </a:solidFill>
          <a:ln/>
        </p:spPr>
      </p:sp>
      <p:pic>
        <p:nvPicPr>
          <p:cNvPr id="13036" name="Ikon home" descr="home">    </p:cNvPr>
          <p:cNvPicPr>
            <a:picLocks noChangeAspect="1"/>
          </p:cNvPicPr>
          <p:nvPr/>
        </p:nvPicPr>
        <p:blipFill>
          <a:blip r:embed="rId12"/>
          <a:stretch>
            <a:fillRect/>
          </a:stretch>
        </p:blipFill>
        <p:spPr>
          <a:xfrm>
            <a:off x="7199254" y="3706246"/>
            <a:ext cx="286756" cy="286756"/>
          </a:xfrm>
          <a:prstGeom prst="rect">
            <a:avLst/>
          </a:prstGeom>
        </p:spPr>
      </p:pic>
      <p:sp>
        <p:nvSpPr>
          <p:cNvPr id="13037" name="Text 23"/>
          <p:cNvSpPr txBox="1"/>
          <p:nvPr/>
        </p:nvSpPr>
        <p:spPr>
          <a:xfrm>
            <a:off x="7799832" y="3520440"/>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Home</a:t>
            </a:r>
            <a:endParaRPr lang="en-US" sz="1700" dirty="0"/>
          </a:p>
          <a:p>
            <a:pPr indent="0" marL="0">
              <a:spcAft>
                <a:spcPts val="200"/>
              </a:spcAft>
              <a:buNone/>
            </a:pPr>
            <a:r>
              <a:rPr lang="en-US" sz="1400" dirty="0">
                <a:solidFill>
                  <a:schemeClr val="accent4"/>
                </a:solidFill>
              </a:rPr>
              <a:t>Right-click to change the address</a:t>
            </a:r>
            <a:endParaRPr lang="en-US" sz="1700" dirty="0"/>
          </a:p>
        </p:txBody>
      </p:sp>
      <p:sp>
        <p:nvSpPr>
          <p:cNvPr id="13038" name="Ikon expand sirkel"/>
          <p:cNvSpPr/>
          <p:nvPr/>
        </p:nvSpPr>
        <p:spPr>
          <a:xfrm>
            <a:off x="7086600" y="4306824"/>
            <a:ext cx="512064" cy="512064"/>
          </a:xfrm>
          <a:prstGeom prst="ellipse">
            <a:avLst/>
          </a:prstGeom>
          <a:solidFill>
            <a:schemeClr val="accent1"/>
          </a:solidFill>
          <a:ln/>
        </p:spPr>
      </p:sp>
      <p:pic>
        <p:nvPicPr>
          <p:cNvPr id="13039" name="Ikon expand" descr="expand">    </p:cNvPr>
          <p:cNvPicPr>
            <a:picLocks noChangeAspect="1"/>
          </p:cNvPicPr>
          <p:nvPr/>
        </p:nvPicPr>
        <p:blipFill>
          <a:blip r:embed="rId13"/>
          <a:stretch>
            <a:fillRect/>
          </a:stretch>
        </p:blipFill>
        <p:spPr>
          <a:xfrm>
            <a:off x="7199254" y="4419478"/>
            <a:ext cx="286756" cy="286756"/>
          </a:xfrm>
          <a:prstGeom prst="rect">
            <a:avLst/>
          </a:prstGeom>
        </p:spPr>
      </p:pic>
      <p:sp>
        <p:nvSpPr>
          <p:cNvPr id="13040" name="Text 25"/>
          <p:cNvSpPr txBox="1"/>
          <p:nvPr/>
        </p:nvSpPr>
        <p:spPr>
          <a:xfrm>
            <a:off x="7799832" y="4233672"/>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Fullscreen</a:t>
            </a:r>
            <a:endParaRPr lang="en-US" sz="1700" dirty="0"/>
          </a:p>
          <a:p>
            <a:pPr indent="0" marL="0">
              <a:spcAft>
                <a:spcPts val="200"/>
              </a:spcAft>
              <a:buNone/>
            </a:pPr>
            <a:r>
              <a:rPr lang="en-US" sz="1400" dirty="0">
                <a:solidFill>
                  <a:schemeClr val="accent4"/>
                </a:solidFill>
              </a:rPr>
              <a:t>The map fills the whole screen</a:t>
            </a:r>
            <a:endParaRPr lang="en-US" sz="1700" dirty="0"/>
          </a:p>
        </p:txBody>
      </p:sp>
      <p:sp>
        <p:nvSpPr>
          <p:cNvPr id="13041" name="Ikon eraser sirkel"/>
          <p:cNvSpPr/>
          <p:nvPr/>
        </p:nvSpPr>
        <p:spPr>
          <a:xfrm>
            <a:off x="7086600" y="5020056"/>
            <a:ext cx="512064" cy="512064"/>
          </a:xfrm>
          <a:prstGeom prst="ellipse">
            <a:avLst/>
          </a:prstGeom>
          <a:solidFill>
            <a:schemeClr val="accent1"/>
          </a:solidFill>
          <a:ln/>
        </p:spPr>
      </p:sp>
      <p:pic>
        <p:nvPicPr>
          <p:cNvPr id="13042" name="Ikon eraser" descr="eraser">    </p:cNvPr>
          <p:cNvPicPr>
            <a:picLocks noChangeAspect="1"/>
          </p:cNvPicPr>
          <p:nvPr/>
        </p:nvPicPr>
        <p:blipFill>
          <a:blip r:embed="rId14"/>
          <a:stretch>
            <a:fillRect/>
          </a:stretch>
        </p:blipFill>
        <p:spPr>
          <a:xfrm>
            <a:off x="7199254" y="5132710"/>
            <a:ext cx="286756" cy="286756"/>
          </a:xfrm>
          <a:prstGeom prst="rect">
            <a:avLst/>
          </a:prstGeom>
        </p:spPr>
      </p:pic>
      <p:sp>
        <p:nvSpPr>
          <p:cNvPr id="13043" name="Text 27"/>
          <p:cNvSpPr txBox="1"/>
          <p:nvPr/>
        </p:nvSpPr>
        <p:spPr>
          <a:xfrm>
            <a:off x="7799832" y="494690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Clear drawings</a:t>
            </a:r>
            <a:endParaRPr lang="en-US" sz="1700" dirty="0"/>
          </a:p>
          <a:p>
            <a:pPr indent="0" marL="0">
              <a:spcAft>
                <a:spcPts val="200"/>
              </a:spcAft>
              <a:buNone/>
            </a:pPr>
            <a:r>
              <a:rPr lang="en-US" sz="1400" dirty="0">
                <a:solidFill>
                  <a:schemeClr val="accent4"/>
                </a:solidFill>
              </a:rPr>
              <a:t>Marks, measurements and circles</a:t>
            </a:r>
            <a:endParaRPr lang="en-US" sz="1700" dirty="0"/>
          </a:p>
        </p:txBody>
      </p:sp>
      <p:sp>
        <p:nvSpPr>
          <p:cNvPr id="13044" name="Ikon gear sirkel"/>
          <p:cNvSpPr/>
          <p:nvPr/>
        </p:nvSpPr>
        <p:spPr>
          <a:xfrm>
            <a:off x="7086600" y="5733288"/>
            <a:ext cx="512064" cy="512064"/>
          </a:xfrm>
          <a:prstGeom prst="ellipse">
            <a:avLst/>
          </a:prstGeom>
          <a:solidFill>
            <a:schemeClr val="accent1"/>
          </a:solidFill>
          <a:ln/>
        </p:spPr>
      </p:sp>
      <p:pic>
        <p:nvPicPr>
          <p:cNvPr id="13045" name="Ikon gear" descr="gear">    </p:cNvPr>
          <p:cNvPicPr>
            <a:picLocks noChangeAspect="1"/>
          </p:cNvPicPr>
          <p:nvPr/>
        </p:nvPicPr>
        <p:blipFill>
          <a:blip r:embed="rId15"/>
          <a:stretch>
            <a:fillRect/>
          </a:stretch>
        </p:blipFill>
        <p:spPr>
          <a:xfrm>
            <a:off x="7199254" y="5845942"/>
            <a:ext cx="286756" cy="286756"/>
          </a:xfrm>
          <a:prstGeom prst="rect">
            <a:avLst/>
          </a:prstGeom>
        </p:spPr>
      </p:pic>
      <p:sp>
        <p:nvSpPr>
          <p:cNvPr id="13046" name="Text 29"/>
          <p:cNvSpPr txBox="1"/>
          <p:nvPr/>
        </p:nvSpPr>
        <p:spPr>
          <a:xfrm>
            <a:off x="7799832" y="5660136"/>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Settings</a:t>
            </a:r>
            <a:endParaRPr lang="en-US" sz="1700" dirty="0"/>
          </a:p>
          <a:p>
            <a:pPr indent="0" marL="0">
              <a:spcAft>
                <a:spcPts val="200"/>
              </a:spcAft>
              <a:buNone/>
            </a:pPr>
            <a:r>
              <a:rPr lang="en-US" sz="1400" dirty="0">
                <a:solidFill>
                  <a:schemeClr val="accent4"/>
                </a:solidFill>
              </a:rPr>
              <a:t>Position, language and the site's buttons</a:t>
            </a:r>
            <a:endParaRPr lang="en-US" sz="1700" dirty="0"/>
          </a:p>
        </p:txBody>
      </p:sp>
      <p:sp>
        <p:nvSpPr>
          <p:cNvPr id="1304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Choose maps and overlays</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The layer panel">    </p:cNvPr>
          <p:cNvPicPr>
            <a:picLocks noChangeAspect="1"/>
          </p:cNvPicPr>
          <p:nvPr/>
        </p:nvPicPr>
        <p:blipFill>
          <a:blip r:embed="rId1"/>
          <a:stretch>
            <a:fillRect/>
          </a:stretch>
        </p:blipFill>
        <p:spPr>
          <a:xfrm>
            <a:off x="8599496" y="1527048"/>
            <a:ext cx="2063758"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Three tabs</a:t>
            </a:r>
            <a:endParaRPr lang="en-US" sz="1700" dirty="0"/>
          </a:p>
          <a:p>
            <a:pPr indent="0" marL="0">
              <a:spcAft>
                <a:spcPts val="200"/>
              </a:spcAft>
              <a:buNone/>
            </a:pPr>
            <a:r>
              <a:rPr lang="en-US" sz="1400" dirty="0">
                <a:solidFill>
                  <a:schemeClr val="accent4"/>
                </a:solidFill>
              </a:rPr>
              <a:t>Geocaching.com's own maps, background maps and overlays – each on its own, so the list stays short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Background and overlays</a:t>
            </a:r>
            <a:endParaRPr lang="en-US" sz="1700" dirty="0"/>
          </a:p>
          <a:p>
            <a:pPr indent="0" marL="0">
              <a:spcAft>
                <a:spcPts val="200"/>
              </a:spcAft>
              <a:buNone/>
            </a:pPr>
            <a:r>
              <a:rPr lang="en-US" sz="1400" dirty="0">
                <a:solidFill>
                  <a:schemeClr val="accent4"/>
                </a:solidFill>
              </a:rPr>
              <a:t>Kartverket, OpenTopoMap, OpenStreetMap and Esri – plus your own. As many overlays as you like</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Fading towards white</a:t>
            </a:r>
            <a:endParaRPr lang="en-US" sz="1700" dirty="0"/>
          </a:p>
          <a:p>
            <a:pPr indent="0" marL="0">
              <a:spcAft>
                <a:spcPts val="200"/>
              </a:spcAft>
              <a:buNone/>
            </a:pPr>
            <a:r>
              <a:rPr lang="en-US" sz="1400" dirty="0">
                <a:solidFill>
                  <a:schemeClr val="accent4"/>
                </a:solidFill>
              </a:rPr>
              <a:t>The background can be faded by up to 50 %, so the caches stand out</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Your order</a:t>
            </a:r>
            <a:endParaRPr lang="en-US" sz="1700" dirty="0"/>
          </a:p>
          <a:p>
            <a:pPr indent="0" marL="0">
              <a:spcAft>
                <a:spcPts val="200"/>
              </a:spcAft>
              <a:buNone/>
            </a:pPr>
            <a:r>
              <a:rPr lang="en-US" sz="1400" dirty="0">
                <a:solidFill>
                  <a:schemeClr val="accent4"/>
                </a:solidFill>
              </a:rPr>
              <a:t>Drag the maps up and down. The overlay at the top of the list is drawn on top</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Tidy the list</a:t>
            </a:r>
            <a:endParaRPr lang="en-US" sz="1700" dirty="0"/>
          </a:p>
          <a:p>
            <a:pPr indent="0" marL="0">
              <a:spcAft>
                <a:spcPts val="200"/>
              </a:spcAft>
              <a:buNone/>
            </a:pPr>
            <a:r>
              <a:rPr lang="en-US" sz="1400" dirty="0">
                <a:solidFill>
                  <a:schemeClr val="accent4"/>
                </a:solidFill>
              </a:rPr>
              <a:t>Remove maps you don't use – also geocaching.com's own – and bring them back whenever you like</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Add your own maps</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The layer editor">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Paste almost any map link and press Detect:</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Tile addresses with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The list of layers is fetched automatically</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Pick one or more layers</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Addresses ending in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Preview on the map before you save</a:t>
            </a:r>
            <a:endParaRPr lang="en-US" sz="1600" dirty="0"/>
          </a:p>
          <a:p>
            <a:pPr marL="228600" indent="-228600">
              <a:spcAft>
                <a:spcPts val="600"/>
              </a:spcAft>
              <a:buSzPct val="100000"/>
              <a:buChar char="•"/>
            </a:pPr>
            <a:r>
              <a:rPr lang="en-US" sz="1600" dirty="0">
                <a:solidFill>
                  <a:schemeClr val="tx1"/>
                </a:solidFill>
              </a:rPr>
              <a:t>Import and export your layers as a file</a:t>
            </a:r>
            <a:endParaRPr lang="en-US" sz="1600" dirty="0"/>
          </a:p>
          <a:p>
            <a:pPr marL="228600" indent="-228600">
              <a:spcAft>
                <a:spcPts val="600"/>
              </a:spcAft>
              <a:buSzPct val="100000"/>
              <a:buChar char="•"/>
            </a:pPr>
            <a:r>
              <a:rPr lang="en-US" sz="1600" dirty="0">
                <a:solidFill>
                  <a:schemeClr val="tx1"/>
                </a:solidFill>
              </a:rPr>
              <a:t>A single map tile from the developer tools is enough</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Find places, addresses and coordinates</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Find a place">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One combined list</a:t>
            </a:r>
            <a:endParaRPr lang="en-US" sz="1700" dirty="0"/>
          </a:p>
          <a:p>
            <a:pPr indent="0" marL="0">
              <a:spcAft>
                <a:spcPts val="200"/>
              </a:spcAft>
              <a:buNone/>
            </a:pPr>
            <a:r>
              <a:rPr lang="en-US" sz="1400" dirty="0">
                <a:solidFill>
                  <a:schemeClr val="accent4"/>
                </a:solidFill>
              </a:rPr>
              <a:t>Hits appear as you type, best match first – whatever the source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Places, addresses and abroad</a:t>
            </a:r>
            <a:endParaRPr lang="en-US" sz="1700" dirty="0"/>
          </a:p>
          <a:p>
            <a:pPr indent="0" marL="0">
              <a:spcAft>
                <a:spcPts val="200"/>
              </a:spcAft>
              <a:buNone/>
            </a:pPr>
            <a:r>
              <a:rPr lang="en-US" sz="1400" dirty="0">
                <a:solidFill>
                  <a:schemeClr val="accent4"/>
                </a:solidFill>
              </a:rPr>
              <a:t>Kartverket's place names and addresses, and places abroad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Coordinates</a:t>
            </a:r>
            <a:endParaRPr lang="en-US" sz="1700" dirty="0"/>
          </a:p>
          <a:p>
            <a:pPr indent="0" marL="0">
              <a:spcAft>
                <a:spcPts val="200"/>
              </a:spcAft>
              <a:buNone/>
            </a:pPr>
            <a:r>
              <a:rPr lang="en-US" sz="1400" dirty="0">
                <a:solidFill>
                  <a:schemeClr val="accent4"/>
                </a:solidFill>
              </a:rPr>
              <a:t>Type DMM, DD, DMS or UTM – the script recognises them</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Home address</a:t>
            </a:r>
            <a:endParaRPr lang="en-US" sz="1700" dirty="0"/>
          </a:p>
          <a:p>
            <a:pPr indent="0" marL="0">
              <a:spcAft>
                <a:spcPts val="200"/>
              </a:spcAft>
              <a:buNone/>
            </a:pPr>
            <a:r>
              <a:rPr lang="en-US" sz="1400" dirty="0">
                <a:solidFill>
                  <a:schemeClr val="accent4"/>
                </a:solidFill>
              </a:rPr>
              <a:t>The same search box is used to save your home address</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Coordinates in every format</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The right-click popup">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Right-click the map: one coordinate line that opens in DMM. Click the line to switch format, and copy with one click. The Google Street View button opens Street View at the spot. The zoom level is at the bottom – type a number to zoom.</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Example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and 35 with a fixed zone, as Norwegian maps use. Accurate to about a millimetre (Krüger series).</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Right-click a cache – straight to its coordinates</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The popup snapped to a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Snaps to the cache</a:t>
            </a:r>
            <a:endParaRPr lang="en-US" sz="1700" dirty="0"/>
          </a:p>
          <a:p>
            <a:pPr indent="0" marL="0">
              <a:spcAft>
                <a:spcPts val="200"/>
              </a:spcAft>
              <a:buNone/>
            </a:pPr>
            <a:r>
              <a:rPr lang="en-US" sz="1400" dirty="0">
                <a:solidFill>
                  <a:schemeClr val="accent4"/>
                </a:solidFill>
              </a:rPr>
              <a:t>Right-click on or right next to a geocache, and the popup uses the cache's coordinates</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 code, name and ♥</a:t>
            </a:r>
            <a:endParaRPr lang="en-US" sz="1700" dirty="0"/>
          </a:p>
          <a:p>
            <a:pPr indent="0" marL="0">
              <a:spcAft>
                <a:spcPts val="200"/>
              </a:spcAft>
              <a:buNone/>
            </a:pPr>
            <a:r>
              <a:rPr lang="en-US" sz="1400" dirty="0">
                <a:solidFill>
                  <a:schemeClr val="accent4"/>
                </a:solidFill>
              </a:rPr>
              <a:t>Favourite points are shown; click the GC code to open the cache page</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 tools come along</a:t>
            </a:r>
            <a:endParaRPr lang="en-US" sz="1700" dirty="0"/>
          </a:p>
          <a:p>
            <a:pPr indent="0" marL="0">
              <a:spcAft>
                <a:spcPts val="200"/>
              </a:spcAft>
              <a:buNone/>
            </a:pPr>
            <a:r>
              <a:rPr lang="en-US" sz="1400" dirty="0">
                <a:solidFill>
                  <a:schemeClr val="accent4"/>
                </a:solidFill>
              </a:rPr>
              <a:t>Pin, projecting, measuring and the 161 m circle start from the cache</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Use the clicked spot</a:t>
            </a:r>
            <a:endParaRPr lang="en-US" sz="1700" dirty="0"/>
          </a:p>
          <a:p>
            <a:pPr indent="0" marL="0">
              <a:spcAft>
                <a:spcPts val="200"/>
              </a:spcAft>
              <a:buNone/>
            </a:pPr>
            <a:r>
              <a:rPr lang="en-US" sz="1400" dirty="0">
                <a:solidFill>
                  <a:schemeClr val="accent4"/>
                </a:solidFill>
              </a:rPr>
              <a:t>One click switches to the exact spot you clicked</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Exact coordinates from geocaching.com's cache search – also on the old map. Only before the search has answered is the position worked out from the icon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Project waypoints and measure distances</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The projection dialog">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Project from a point</a:t>
            </a:r>
            <a:endParaRPr lang="en-US" sz="1700" dirty="0"/>
          </a:p>
          <a:p>
            <a:pPr indent="0" marL="0">
              <a:spcAft>
                <a:spcPts val="200"/>
              </a:spcAft>
              <a:buNone/>
            </a:pPr>
            <a:r>
              <a:rPr lang="en-US" sz="1400" dirty="0">
                <a:solidFill>
                  <a:schemeClr val="accent4"/>
                </a:solidFill>
              </a:rPr>
              <a:t>The start point is filled in for you. Type bearing and distance in m, km or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See the result at once</a:t>
            </a:r>
            <a:endParaRPr lang="en-US" sz="1700" dirty="0"/>
          </a:p>
          <a:p>
            <a:pPr indent="0" marL="0">
              <a:spcAft>
                <a:spcPts val="200"/>
              </a:spcAft>
              <a:buNone/>
            </a:pPr>
            <a:r>
              <a:rPr lang="en-US" sz="1400" dirty="0">
                <a:solidFill>
                  <a:schemeClr val="accent4"/>
                </a:solidFill>
              </a:rPr>
              <a:t>The waypoint shows as you type, with a dashed line on the map and a copy button</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Measure distance and bearing</a:t>
            </a:r>
            <a:endParaRPr lang="en-US" sz="1700" dirty="0"/>
          </a:p>
          <a:p>
            <a:pPr indent="0" marL="0">
              <a:spcAft>
                <a:spcPts val="200"/>
              </a:spcAft>
              <a:buNone/>
            </a:pPr>
            <a:r>
              <a:rPr lang="en-US" sz="1400" dirty="0">
                <a:solidFill>
                  <a:schemeClr val="accent4"/>
                </a:solidFill>
              </a:rPr>
              <a:t>Click points on the map – total length and the last leg are shown</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Good enough for geocaching</a:t>
            </a:r>
            <a:endParaRPr lang="en-US" sz="1700" dirty="0"/>
          </a:p>
          <a:p>
            <a:pPr indent="0" marL="0">
              <a:spcAft>
                <a:spcPts val="200"/>
              </a:spcAft>
              <a:buNone/>
            </a:pPr>
            <a:r>
              <a:rPr lang="en-US" sz="1400" dirty="0">
                <a:solidFill>
                  <a:schemeClr val="accent4"/>
                </a:solidFill>
              </a:rPr>
              <a:t>The error is well below a metre at ordinary distances</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New: build a route and take it with you on your GPS</a:t>
            </a:r>
            <a:endParaRPr lang="en-US" sz="3600" dirty="0"/>
          </a:p>
        </p:txBody>
      </p:sp>
      <p:sp>
        <p:nvSpPr>
          <p:cNvPr id="20003" name="Rutevinduet bakgrunn"/>
          <p:cNvSpPr/>
          <p:nvPr/>
        </p:nvSpPr>
        <p:spPr>
          <a:xfrm>
            <a:off x="7071055" y="1325880"/>
            <a:ext cx="4572000" cy="4983480"/>
          </a:xfrm>
          <a:prstGeom prst="roundRect">
            <a:avLst>
              <a:gd name="adj" fmla="val 2400"/>
            </a:avLst>
          </a:prstGeom>
          <a:solidFill>
            <a:schemeClr val="bg2"/>
          </a:solidFill>
          <a:ln/>
        </p:spPr>
      </p:sp>
      <p:pic>
        <p:nvPicPr>
          <p:cNvPr id="20004" name="Rutevinduet" descr="The route window">    </p:cNvPr>
          <p:cNvPicPr>
            <a:picLocks noChangeAspect="1"/>
          </p:cNvPicPr>
          <p:nvPr/>
        </p:nvPicPr>
        <p:blipFill>
          <a:blip r:embed="rId1"/>
          <a:stretch>
            <a:fillRect/>
          </a:stretch>
        </p:blipFill>
        <p:spPr>
          <a:xfrm>
            <a:off x="7448245" y="1527048"/>
            <a:ext cx="3817620" cy="4581144"/>
          </a:xfrm>
          <a:prstGeom prst="rect">
            <a:avLst/>
          </a:prstGeom>
        </p:spPr>
      </p:pic>
      <p:sp>
        <p:nvSpPr>
          <p:cNvPr id="20005" name="Ikon search sirkel"/>
          <p:cNvSpPr/>
          <p:nvPr/>
        </p:nvSpPr>
        <p:spPr>
          <a:xfrm>
            <a:off x="548640" y="1499616"/>
            <a:ext cx="512064" cy="512064"/>
          </a:xfrm>
          <a:prstGeom prst="ellipse">
            <a:avLst/>
          </a:prstGeom>
          <a:solidFill>
            <a:schemeClr val="accent1"/>
          </a:solidFill>
          <a:ln/>
        </p:spPr>
      </p:sp>
      <p:pic>
        <p:nvPicPr>
          <p:cNvPr id="20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Searchable list</a:t>
            </a:r>
            <a:endParaRPr lang="en-US" sz="1700" dirty="0"/>
          </a:p>
          <a:p>
            <a:pPr indent="0" marL="0">
              <a:spcAft>
                <a:spcPts val="200"/>
              </a:spcAft>
              <a:buNone/>
            </a:pPr>
            <a:r>
              <a:rPr lang="en-US" sz="1400" dirty="0">
                <a:solidFill>
                  <a:schemeClr val="accent4"/>
                </a:solidFill>
              </a:rPr>
              <a:t>Nearby geocaches and pins – and any GC code worldwide</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Pick on the map</a:t>
            </a:r>
            <a:endParaRPr lang="en-US" sz="1700" dirty="0"/>
          </a:p>
          <a:p>
            <a:pPr indent="0" marL="0">
              <a:spcAft>
                <a:spcPts val="200"/>
              </a:spcAft>
              <a:buNone/>
            </a:pPr>
            <a:r>
              <a:rPr lang="en-US" sz="1400" dirty="0">
                <a:solidFill>
                  <a:schemeClr val="accent4"/>
                </a:solidFill>
              </a:rPr>
              <a:t>Click caches and pins while the route window is open, or use the right-click popup</a:t>
            </a:r>
            <a:endParaRPr lang="en-US" sz="1700" dirty="0"/>
          </a:p>
        </p:txBody>
      </p:sp>
      <p:sp>
        <p:nvSpPr>
          <p:cNvPr id="20011" name="Ikon route sirkel"/>
          <p:cNvSpPr/>
          <p:nvPr/>
        </p:nvSpPr>
        <p:spPr>
          <a:xfrm>
            <a:off x="548640" y="3877056"/>
            <a:ext cx="512064" cy="512064"/>
          </a:xfrm>
          <a:prstGeom prst="ellipse">
            <a:avLst/>
          </a:prstGeom>
          <a:solidFill>
            <a:schemeClr val="accent1"/>
          </a:solidFill>
          <a:ln/>
        </p:spPr>
      </p:sp>
      <p:pic>
        <p:nvPicPr>
          <p:cNvPr id="20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Order and round trip</a:t>
            </a:r>
            <a:endParaRPr lang="en-US" sz="1700" dirty="0"/>
          </a:p>
          <a:p>
            <a:pPr indent="0" marL="0">
              <a:spcAft>
                <a:spcPts val="200"/>
              </a:spcAft>
              <a:buNone/>
            </a:pPr>
            <a:r>
              <a:rPr lang="en-US" sz="1400" dirty="0">
                <a:solidFill>
                  <a:schemeClr val="accent4"/>
                </a:solidFill>
              </a:rPr>
              <a:t>Move stops, sort by nearest, see every leg – and end at the start</a:t>
            </a:r>
            <a:endParaRPr lang="en-US" sz="1700" dirty="0"/>
          </a:p>
        </p:txBody>
      </p:sp>
      <p:sp>
        <p:nvSpPr>
          <p:cNvPr id="20014" name="Ikon download sirkel"/>
          <p:cNvSpPr/>
          <p:nvPr/>
        </p:nvSpPr>
        <p:spPr>
          <a:xfrm>
            <a:off x="548640" y="5065776"/>
            <a:ext cx="512064" cy="512064"/>
          </a:xfrm>
          <a:prstGeom prst="ellipse">
            <a:avLst/>
          </a:prstGeom>
          <a:solidFill>
            <a:schemeClr val="accent1"/>
          </a:solidFill>
          <a:ln/>
        </p:spPr>
      </p:sp>
      <p:pic>
        <p:nvPicPr>
          <p:cNvPr id="20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Preview and download</a:t>
            </a:r>
            <a:endParaRPr lang="en-US" sz="1700" dirty="0"/>
          </a:p>
          <a:p>
            <a:pPr indent="0" marL="0">
              <a:spcAft>
                <a:spcPts val="200"/>
              </a:spcAft>
              <a:buNone/>
            </a:pPr>
            <a:r>
              <a:rPr lang="en-US" sz="1400" dirty="0">
                <a:solidFill>
                  <a:schemeClr val="accent4"/>
                </a:solidFill>
              </a:rPr>
              <a:t>GPX with Garmin symbols – optionally with full cache data (paperless caches)</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 circles where something is placed</a:t>
            </a:r>
            <a:endParaRPr lang="en-US" sz="3600" dirty="0"/>
          </a:p>
        </p:txBody>
      </p:sp>
      <p:sp>
        <p:nvSpPr>
          <p:cNvPr id="21003" name="Ikon circles sirkel"/>
          <p:cNvSpPr/>
          <p:nvPr/>
        </p:nvSpPr>
        <p:spPr>
          <a:xfrm>
            <a:off x="548640" y="1499616"/>
            <a:ext cx="512064" cy="512064"/>
          </a:xfrm>
          <a:prstGeom prst="ellipse">
            <a:avLst/>
          </a:prstGeom>
          <a:solidFill>
            <a:schemeClr val="accent1"/>
          </a:solidFill>
          <a:ln/>
        </p:spPr>
      </p:sp>
      <p:pic>
        <p:nvPicPr>
          <p:cNvPr id="21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1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Traditional caches</a:t>
            </a:r>
            <a:endParaRPr lang="en-US" sz="1700" dirty="0"/>
          </a:p>
          <a:p>
            <a:pPr indent="0" marL="0">
              <a:spcAft>
                <a:spcPts val="200"/>
              </a:spcAft>
              <a:buNone/>
            </a:pPr>
            <a:r>
              <a:rPr lang="en-US" sz="1400" dirty="0">
                <a:solidFill>
                  <a:schemeClr val="accent4"/>
                </a:solidFill>
              </a:rPr>
              <a:t>At their exact posted coordinates</a:t>
            </a:r>
            <a:endParaRPr lang="en-US" sz="1700" dirty="0"/>
          </a:p>
        </p:txBody>
      </p:sp>
      <p:sp>
        <p:nvSpPr>
          <p:cNvPr id="21006" name="Ikon check sirkel"/>
          <p:cNvSpPr/>
          <p:nvPr/>
        </p:nvSpPr>
        <p:spPr>
          <a:xfrm>
            <a:off x="548640" y="2642616"/>
            <a:ext cx="512064" cy="512064"/>
          </a:xfrm>
          <a:prstGeom prst="ellipse">
            <a:avLst/>
          </a:prstGeom>
          <a:solidFill>
            <a:schemeClr val="accent1"/>
          </a:solidFill>
          <a:ln/>
        </p:spPr>
      </p:sp>
      <p:pic>
        <p:nvPicPr>
          <p:cNvPr id="21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1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Solved caches</a:t>
            </a:r>
            <a:endParaRPr lang="en-US" sz="1700" dirty="0"/>
          </a:p>
          <a:p>
            <a:pPr indent="0" marL="0">
              <a:spcAft>
                <a:spcPts val="200"/>
              </a:spcAft>
              <a:buNone/>
            </a:pPr>
            <a:r>
              <a:rPr lang="en-US" sz="1400" dirty="0">
                <a:solidFill>
                  <a:schemeClr val="accent4"/>
                </a:solidFill>
              </a:rPr>
              <a:t>At your corrected coordinates – also when the icon has moved back after a find</a:t>
            </a:r>
            <a:endParaRPr lang="en-US" sz="1700" dirty="0"/>
          </a:p>
        </p:txBody>
      </p:sp>
      <p:sp>
        <p:nvSpPr>
          <p:cNvPr id="21009" name="Ikon pin sirkel"/>
          <p:cNvSpPr/>
          <p:nvPr/>
        </p:nvSpPr>
        <p:spPr>
          <a:xfrm>
            <a:off x="548640" y="3785616"/>
            <a:ext cx="512064" cy="512064"/>
          </a:xfrm>
          <a:prstGeom prst="ellipse">
            <a:avLst/>
          </a:prstGeom>
          <a:solidFill>
            <a:schemeClr val="accent1"/>
          </a:solidFill>
          <a:ln/>
        </p:spPr>
      </p:sp>
      <p:pic>
        <p:nvPicPr>
          <p:cNvPr id="21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1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Physical stages and finals</a:t>
            </a:r>
            <a:endParaRPr lang="en-US" sz="1700" dirty="0"/>
          </a:p>
          <a:p>
            <a:pPr indent="0" marL="0">
              <a:spcAft>
                <a:spcPts val="200"/>
              </a:spcAft>
              <a:buNone/>
            </a:pPr>
            <a:r>
              <a:rPr lang="en-US" sz="1400" dirty="0">
                <a:solidFill>
                  <a:schemeClr val="accent4"/>
                </a:solidFill>
              </a:rPr>
              <a:t>Visible stages of multis, mysteries, Wherigos and letterboxes, read from the cache page</a:t>
            </a:r>
            <a:endParaRPr lang="en-US" sz="1700" dirty="0"/>
          </a:p>
        </p:txBody>
      </p:sp>
      <p:sp>
        <p:nvSpPr>
          <p:cNvPr id="21012" name="Ikon ring sirkel"/>
          <p:cNvSpPr/>
          <p:nvPr/>
        </p:nvSpPr>
        <p:spPr>
          <a:xfrm>
            <a:off x="548640" y="4928616"/>
            <a:ext cx="512064" cy="512064"/>
          </a:xfrm>
          <a:prstGeom prst="ellipse">
            <a:avLst/>
          </a:prstGeom>
          <a:solidFill>
            <a:schemeClr val="accent1"/>
          </a:solidFill>
          <a:ln/>
        </p:spPr>
      </p:sp>
      <p:pic>
        <p:nvPicPr>
          <p:cNvPr id="21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1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Single circle</a:t>
            </a:r>
            <a:endParaRPr lang="en-US" sz="1700" dirty="0"/>
          </a:p>
          <a:p>
            <a:pPr indent="0" marL="0">
              <a:spcAft>
                <a:spcPts val="200"/>
              </a:spcAft>
              <a:buNone/>
            </a:pPr>
            <a:r>
              <a:rPr lang="en-US" sz="1400" dirty="0">
                <a:solidFill>
                  <a:schemeClr val="accent4"/>
                </a:solidFill>
              </a:rPr>
              <a:t>Right-click anywhere and choose 161 m circle</a:t>
            </a:r>
            <a:endParaRPr lang="en-US" sz="1700" dirty="0"/>
          </a:p>
        </p:txBody>
      </p:sp>
      <p:sp>
        <p:nvSpPr>
          <p:cNvPr id="21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1016" name="Merke ved en løst cache" descr="Mark at a solved cache">    </p:cNvPr>
          <p:cNvPicPr>
            <a:picLocks noChangeAspect="1"/>
          </p:cNvPicPr>
          <p:nvPr/>
        </p:nvPicPr>
        <p:blipFill>
          <a:blip r:embed="rId5"/>
          <a:stretch>
            <a:fillRect/>
          </a:stretch>
        </p:blipFill>
        <p:spPr>
          <a:xfrm>
            <a:off x="8058607" y="1664208"/>
            <a:ext cx="3328416" cy="2432304"/>
          </a:xfrm>
          <a:prstGeom prst="rect">
            <a:avLst/>
          </a:prstGeom>
        </p:spPr>
      </p:pic>
      <p:sp>
        <p:nvSpPr>
          <p:cNvPr id="21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Where no cache icon shows the spot, a clickable mark sits in the middle of the circle. Hovering over a solved cache shows “Final location”; right-click gives the exact coordinates.</a:t>
            </a:r>
            <a:endParaRPr lang="en-US" sz="1500" dirty="0"/>
          </a:p>
        </p:txBody>
      </p:sp>
      <p:sp>
        <p:nvSpPr>
          <p:cNvPr id="21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 circles, cache pages and home</a:t>
            </a:r>
            <a:endParaRPr lang="en-US" sz="3600" dirty="0"/>
          </a:p>
        </p:txBody>
      </p:sp>
      <p:sp>
        <p:nvSpPr>
          <p:cNvPr id="22003" name="Kort 161 m-sirkler"/>
          <p:cNvSpPr/>
          <p:nvPr/>
        </p:nvSpPr>
        <p:spPr>
          <a:xfrm>
            <a:off x="548640" y="1508760"/>
            <a:ext cx="3484778" cy="4206240"/>
          </a:xfrm>
          <a:prstGeom prst="roundRect">
            <a:avLst>
              <a:gd name="adj" fmla="val 3149"/>
            </a:avLst>
          </a:prstGeom>
          <a:solidFill>
            <a:schemeClr val="bg2"/>
          </a:solidFill>
          <a:ln/>
        </p:spPr>
      </p:sp>
      <p:sp>
        <p:nvSpPr>
          <p:cNvPr id="22004" name="Ikon circles sirkel"/>
          <p:cNvSpPr/>
          <p:nvPr/>
        </p:nvSpPr>
        <p:spPr>
          <a:xfrm>
            <a:off x="914400" y="1920240"/>
            <a:ext cx="822960" cy="822960"/>
          </a:xfrm>
          <a:prstGeom prst="ellipse">
            <a:avLst/>
          </a:prstGeom>
          <a:solidFill>
            <a:schemeClr val="accent1"/>
          </a:solidFill>
          <a:ln/>
        </p:spPr>
      </p:sp>
      <p:pic>
        <p:nvPicPr>
          <p:cNvPr id="22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2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 circles</a:t>
            </a:r>
            <a:endParaRPr lang="en-US" sz="2200" dirty="0"/>
          </a:p>
        </p:txBody>
      </p:sp>
      <p:sp>
        <p:nvSpPr>
          <p:cNvPr id="22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Where something is placed – see the previous slide</a:t>
            </a:r>
            <a:endParaRPr lang="en-US" sz="1700" dirty="0"/>
          </a:p>
          <a:p>
            <a:pPr marL="228600" indent="-228600">
              <a:spcAft>
                <a:spcPts val="800"/>
              </a:spcAft>
              <a:buSzPct val="100000"/>
              <a:buChar char="•"/>
            </a:pPr>
            <a:r>
              <a:rPr lang="en-US" sz="1700" dirty="0">
                <a:solidFill>
                  <a:schemeClr val="tx1"/>
                </a:solidFill>
              </a:rPr>
              <a:t>Shown from zoom level 15</a:t>
            </a:r>
            <a:endParaRPr lang="en-US" sz="1700" dirty="0"/>
          </a:p>
          <a:p>
            <a:pPr marL="228600" indent="-228600">
              <a:spcAft>
                <a:spcPts val="800"/>
              </a:spcAft>
              <a:buSzPct val="100000"/>
              <a:buChar char="•"/>
            </a:pPr>
            <a:r>
              <a:rPr lang="en-US" sz="1700" dirty="0">
                <a:solidFill>
                  <a:schemeClr val="tx1"/>
                </a:solidFill>
              </a:rPr>
              <a:t>Follow the map and never block clicks</a:t>
            </a:r>
            <a:endParaRPr lang="en-US" sz="1700" dirty="0"/>
          </a:p>
          <a:p>
            <a:pPr marL="228600" indent="-228600">
              <a:spcAft>
                <a:spcPts val="800"/>
              </a:spcAft>
              <a:buSzPct val="100000"/>
              <a:buChar char="•"/>
            </a:pPr>
            <a:r>
              <a:rPr lang="en-US" sz="1700" dirty="0">
                <a:solidFill>
                  <a:schemeClr val="tx1"/>
                </a:solidFill>
              </a:rPr>
              <a:t>Single circle: right-click</a:t>
            </a:r>
            <a:endParaRPr lang="en-US" sz="1700" dirty="0"/>
          </a:p>
        </p:txBody>
      </p:sp>
      <p:sp>
        <p:nvSpPr>
          <p:cNvPr id="22008" name="Kort Cachesider"/>
          <p:cNvSpPr/>
          <p:nvPr/>
        </p:nvSpPr>
        <p:spPr>
          <a:xfrm>
            <a:off x="4353458" y="1508760"/>
            <a:ext cx="3484778" cy="4206240"/>
          </a:xfrm>
          <a:prstGeom prst="roundRect">
            <a:avLst>
              <a:gd name="adj" fmla="val 3149"/>
            </a:avLst>
          </a:prstGeom>
          <a:solidFill>
            <a:schemeClr val="bg2"/>
          </a:solidFill>
          <a:ln/>
        </p:spPr>
      </p:sp>
      <p:sp>
        <p:nvSpPr>
          <p:cNvPr id="22009" name="Ikon layers sirkel"/>
          <p:cNvSpPr/>
          <p:nvPr/>
        </p:nvSpPr>
        <p:spPr>
          <a:xfrm>
            <a:off x="4719218" y="1920240"/>
            <a:ext cx="822960" cy="822960"/>
          </a:xfrm>
          <a:prstGeom prst="ellipse">
            <a:avLst/>
          </a:prstGeom>
          <a:solidFill>
            <a:schemeClr val="accent1"/>
          </a:solidFill>
          <a:ln/>
        </p:spPr>
      </p:sp>
      <p:pic>
        <p:nvPicPr>
          <p:cNvPr id="22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2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 pages</a:t>
            </a:r>
            <a:endParaRPr lang="en-US" sz="2200" dirty="0"/>
          </a:p>
        </p:txBody>
      </p:sp>
      <p:sp>
        <p:nvSpPr>
          <p:cNvPr id="22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The small map shows your chosen map</a:t>
            </a:r>
            <a:endParaRPr lang="en-US" sz="1700" dirty="0"/>
          </a:p>
          <a:p>
            <a:pPr marL="228600" indent="-228600">
              <a:spcAft>
                <a:spcPts val="800"/>
              </a:spcAft>
              <a:buSzPct val="100000"/>
              <a:buChar char="•"/>
            </a:pPr>
            <a:r>
              <a:rPr lang="en-US" sz="1700" dirty="0">
                <a:solidFill>
                  <a:schemeClr val="tx1"/>
                </a:solidFill>
              </a:rPr>
              <a:t>Same fading and overlays</a:t>
            </a:r>
            <a:endParaRPr lang="en-US" sz="1700" dirty="0"/>
          </a:p>
          <a:p>
            <a:pPr marL="228600" indent="-228600">
              <a:spcAft>
                <a:spcPts val="800"/>
              </a:spcAft>
              <a:buSzPct val="100000"/>
              <a:buChar char="•"/>
            </a:pPr>
            <a:r>
              <a:rPr lang="en-US" sz="1700" dirty="0">
                <a:solidFill>
                  <a:schemeClr val="tx1"/>
                </a:solidFill>
              </a:rPr>
              <a:t>Keeps the site's view</a:t>
            </a:r>
            <a:endParaRPr lang="en-US" sz="1700" dirty="0"/>
          </a:p>
          <a:p>
            <a:pPr marL="228600" indent="-228600">
              <a:spcAft>
                <a:spcPts val="800"/>
              </a:spcAft>
              <a:buSzPct val="100000"/>
              <a:buChar char="•"/>
            </a:pPr>
            <a:r>
              <a:rPr lang="en-US" sz="1700" dirty="0">
                <a:solidFill>
                  <a:schemeClr val="tx1"/>
                </a:solidFill>
              </a:rPr>
              <a:t>Never changes your choice</a:t>
            </a:r>
            <a:endParaRPr lang="en-US" sz="1700" dirty="0"/>
          </a:p>
        </p:txBody>
      </p:sp>
      <p:sp>
        <p:nvSpPr>
          <p:cNvPr id="22013" name="Kort Hjem"/>
          <p:cNvSpPr/>
          <p:nvPr/>
        </p:nvSpPr>
        <p:spPr>
          <a:xfrm>
            <a:off x="8158277" y="1508760"/>
            <a:ext cx="3484778" cy="4206240"/>
          </a:xfrm>
          <a:prstGeom prst="roundRect">
            <a:avLst>
              <a:gd name="adj" fmla="val 3149"/>
            </a:avLst>
          </a:prstGeom>
          <a:solidFill>
            <a:schemeClr val="bg2"/>
          </a:solidFill>
          <a:ln/>
        </p:spPr>
      </p:sp>
      <p:sp>
        <p:nvSpPr>
          <p:cNvPr id="22014" name="Ikon home sirkel"/>
          <p:cNvSpPr/>
          <p:nvPr/>
        </p:nvSpPr>
        <p:spPr>
          <a:xfrm>
            <a:off x="8524037" y="1920240"/>
            <a:ext cx="822960" cy="822960"/>
          </a:xfrm>
          <a:prstGeom prst="ellipse">
            <a:avLst/>
          </a:prstGeom>
          <a:solidFill>
            <a:schemeClr val="accent1"/>
          </a:solidFill>
          <a:ln/>
        </p:spPr>
      </p:sp>
      <p:pic>
        <p:nvPicPr>
          <p:cNvPr id="22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2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Home</a:t>
            </a:r>
            <a:endParaRPr lang="en-US" sz="2200" dirty="0"/>
          </a:p>
        </p:txBody>
      </p:sp>
      <p:sp>
        <p:nvSpPr>
          <p:cNvPr id="22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One click takes you home</a:t>
            </a:r>
            <a:endParaRPr lang="en-US" sz="1700" dirty="0"/>
          </a:p>
          <a:p>
            <a:pPr marL="228600" indent="-228600">
              <a:spcAft>
                <a:spcPts val="800"/>
              </a:spcAft>
              <a:buSzPct val="100000"/>
              <a:buChar char="•"/>
            </a:pPr>
            <a:r>
              <a:rPr lang="en-US" sz="1700" dirty="0">
                <a:solidFill>
                  <a:schemeClr val="tx1"/>
                </a:solidFill>
              </a:rPr>
              <a:t>The first time you look up the address</a:t>
            </a:r>
            <a:endParaRPr lang="en-US" sz="1700" dirty="0"/>
          </a:p>
          <a:p>
            <a:pPr marL="228600" indent="-228600">
              <a:spcAft>
                <a:spcPts val="800"/>
              </a:spcAft>
              <a:buSzPct val="100000"/>
              <a:buChar char="•"/>
            </a:pPr>
            <a:r>
              <a:rPr lang="en-US" sz="1700" dirty="0">
                <a:solidFill>
                  <a:schemeClr val="tx1"/>
                </a:solidFill>
              </a:rPr>
              <a:t>Stored only in your browser</a:t>
            </a:r>
            <a:endParaRPr lang="en-US" sz="1700" dirty="0"/>
          </a:p>
        </p:txBody>
      </p:sp>
      <p:sp>
        <p:nvSpPr>
          <p:cNvPr id="22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How the map layers are stacked</a:t>
            </a:r>
            <a:endParaRPr lang="en-US" sz="3600" dirty="0"/>
          </a:p>
        </p:txBody>
      </p:sp>
      <p:sp>
        <p:nvSpPr>
          <p:cNvPr id="23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ABOVE THE MAP TILES</a:t>
            </a:r>
            <a:endParaRPr lang="en-US" sz="1100" dirty="0"/>
          </a:p>
        </p:txBody>
      </p:sp>
      <p:sp>
        <p:nvSpPr>
          <p:cNvPr id="23004" name="Lag Kontroller"/>
          <p:cNvSpPr/>
          <p:nvPr/>
        </p:nvSpPr>
        <p:spPr>
          <a:xfrm>
            <a:off x="548640" y="1517904"/>
            <a:ext cx="11094415" cy="384048"/>
          </a:xfrm>
          <a:prstGeom prst="roundRect">
            <a:avLst>
              <a:gd name="adj" fmla="val 16667"/>
            </a:avLst>
          </a:prstGeom>
          <a:solidFill>
            <a:schemeClr val="bg2"/>
          </a:solidFill>
          <a:ln/>
        </p:spPr>
      </p:sp>
      <p:sp>
        <p:nvSpPr>
          <p:cNvPr id="23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Controls</a:t>
            </a:r>
            <a:endParaRPr lang="en-US" sz="1400" dirty="0"/>
          </a:p>
        </p:txBody>
      </p:sp>
      <p:sp>
        <p:nvSpPr>
          <p:cNvPr id="23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controls · 1000</a:t>
            </a:r>
            <a:endParaRPr lang="en-US" sz="1200" dirty="0"/>
          </a:p>
        </p:txBody>
      </p:sp>
      <p:sp>
        <p:nvSpPr>
          <p:cNvPr id="23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toolbar, the layer panel, the coordinate display and the credits</a:t>
            </a:r>
            <a:endParaRPr lang="en-US" sz="1300" dirty="0"/>
          </a:p>
        </p:txBody>
      </p:sp>
      <p:sp>
        <p:nvSpPr>
          <p:cNvPr id="23008" name="Lag Bobler"/>
          <p:cNvSpPr/>
          <p:nvPr/>
        </p:nvSpPr>
        <p:spPr>
          <a:xfrm>
            <a:off x="548640" y="1947672"/>
            <a:ext cx="11094415" cy="384048"/>
          </a:xfrm>
          <a:prstGeom prst="roundRect">
            <a:avLst>
              <a:gd name="adj" fmla="val 16667"/>
            </a:avLst>
          </a:prstGeom>
          <a:solidFill>
            <a:schemeClr val="bg2"/>
          </a:solidFill>
          <a:ln/>
        </p:spPr>
      </p:sp>
      <p:sp>
        <p:nvSpPr>
          <p:cNvPr id="23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Popups</a:t>
            </a:r>
            <a:endParaRPr lang="en-US" sz="1400" dirty="0"/>
          </a:p>
        </p:txBody>
      </p:sp>
      <p:sp>
        <p:nvSpPr>
          <p:cNvPr id="23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3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right-click popup and other map popups</a:t>
            </a:r>
            <a:endParaRPr lang="en-US" sz="1300" dirty="0"/>
          </a:p>
        </p:txBody>
      </p:sp>
      <p:sp>
        <p:nvSpPr>
          <p:cNvPr id="23012" name="Lag Markører"/>
          <p:cNvSpPr/>
          <p:nvPr/>
        </p:nvSpPr>
        <p:spPr>
          <a:xfrm>
            <a:off x="548640" y="2377440"/>
            <a:ext cx="11094415" cy="384048"/>
          </a:xfrm>
          <a:prstGeom prst="roundRect">
            <a:avLst>
              <a:gd name="adj" fmla="val 16667"/>
            </a:avLst>
          </a:prstGeom>
          <a:solidFill>
            <a:schemeClr val="bg2"/>
          </a:solidFill>
          <a:ln/>
        </p:spPr>
      </p:sp>
      <p:sp>
        <p:nvSpPr>
          <p:cNvPr id="23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Markers</a:t>
            </a:r>
            <a:endParaRPr lang="en-US" sz="1400" dirty="0"/>
          </a:p>
        </p:txBody>
      </p:sp>
      <p:sp>
        <p:nvSpPr>
          <p:cNvPr id="23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3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cache icons on /play/map, pins, labels and your location</a:t>
            </a:r>
            <a:endParaRPr lang="en-US" sz="1300" dirty="0"/>
          </a:p>
        </p:txBody>
      </p:sp>
      <p:sp>
        <p:nvSpPr>
          <p:cNvPr id="23016" name="Lag Tegninger"/>
          <p:cNvSpPr/>
          <p:nvPr/>
        </p:nvSpPr>
        <p:spPr>
          <a:xfrm>
            <a:off x="548640" y="2807208"/>
            <a:ext cx="11094415" cy="384048"/>
          </a:xfrm>
          <a:prstGeom prst="roundRect">
            <a:avLst>
              <a:gd name="adj" fmla="val 16667"/>
            </a:avLst>
          </a:prstGeom>
          <a:solidFill>
            <a:schemeClr val="bg2"/>
          </a:solidFill>
          <a:ln/>
        </p:spPr>
      </p:sp>
      <p:sp>
        <p:nvSpPr>
          <p:cNvPr id="23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Drawings</a:t>
            </a:r>
            <a:endParaRPr lang="en-US" sz="1400" dirty="0"/>
          </a:p>
        </p:txBody>
      </p:sp>
      <p:sp>
        <p:nvSpPr>
          <p:cNvPr id="23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3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 circles, measuring lines, projection lines and the accuracy circle</a:t>
            </a:r>
            <a:endParaRPr lang="en-US" sz="1300" dirty="0"/>
          </a:p>
        </p:txBody>
      </p:sp>
      <p:sp>
        <p:nvSpPr>
          <p:cNvPr id="23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THE MAP TILES (TILEPANE · 200) – SORTED BY Z-INDEX</a:t>
            </a:r>
            <a:endParaRPr lang="en-US" sz="1100" dirty="0"/>
          </a:p>
        </p:txBody>
      </p:sp>
      <p:sp>
        <p:nvSpPr>
          <p:cNvPr id="23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3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The site's other tiles</a:t>
            </a:r>
            <a:endParaRPr lang="en-US" sz="1400" dirty="0"/>
          </a:p>
        </p:txBody>
      </p:sp>
      <p:sp>
        <p:nvSpPr>
          <p:cNvPr id="23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3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the cache icons on /map – always lifted above your layers</a:t>
            </a:r>
            <a:endParaRPr lang="en-US" sz="1300" dirty="0"/>
          </a:p>
        </p:txBody>
      </p:sp>
      <p:sp>
        <p:nvSpPr>
          <p:cNvPr id="23025" name="Lag Forhåndsvisning"/>
          <p:cNvSpPr/>
          <p:nvPr/>
        </p:nvSpPr>
        <p:spPr>
          <a:xfrm>
            <a:off x="548640" y="4069080"/>
            <a:ext cx="11094415" cy="384048"/>
          </a:xfrm>
          <a:prstGeom prst="roundRect">
            <a:avLst>
              <a:gd name="adj" fmla="val 16667"/>
            </a:avLst>
          </a:prstGeom>
          <a:solidFill>
            <a:schemeClr val="accent3"/>
          </a:solidFill>
          <a:ln/>
        </p:spPr>
      </p:sp>
      <p:sp>
        <p:nvSpPr>
          <p:cNvPr id="23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Preview</a:t>
            </a:r>
            <a:endParaRPr lang="en-US" sz="1400" dirty="0"/>
          </a:p>
        </p:txBody>
      </p:sp>
      <p:sp>
        <p:nvSpPr>
          <p:cNvPr id="23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3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the layer you are trying in the layer editor</a:t>
            </a:r>
            <a:endParaRPr lang="en-US" sz="1300" dirty="0"/>
          </a:p>
        </p:txBody>
      </p:sp>
      <p:sp>
        <p:nvSpPr>
          <p:cNvPr id="23029" name="Lag Dine overlegg"/>
          <p:cNvSpPr/>
          <p:nvPr/>
        </p:nvSpPr>
        <p:spPr>
          <a:xfrm>
            <a:off x="548640" y="4498848"/>
            <a:ext cx="11094415" cy="384048"/>
          </a:xfrm>
          <a:prstGeom prst="roundRect">
            <a:avLst>
              <a:gd name="adj" fmla="val 16667"/>
            </a:avLst>
          </a:prstGeom>
          <a:solidFill>
            <a:schemeClr val="accent1"/>
          </a:solidFill>
          <a:ln/>
        </p:spPr>
      </p:sp>
      <p:sp>
        <p:nvSpPr>
          <p:cNvPr id="23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Your overlays</a:t>
            </a:r>
            <a:endParaRPr lang="en-US" sz="1400" dirty="0"/>
          </a:p>
        </p:txBody>
      </p:sp>
      <p:sp>
        <p:nvSpPr>
          <p:cNvPr id="23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3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hiking routes, property boundaries, hillshade – their own opacity slider</a:t>
            </a:r>
            <a:endParaRPr lang="en-US" sz="1300" dirty="0"/>
          </a:p>
        </p:txBody>
      </p:sp>
      <p:sp>
        <p:nvSpPr>
          <p:cNvPr id="23033" name="Lag Ditt bakgrunnskart"/>
          <p:cNvSpPr/>
          <p:nvPr/>
        </p:nvSpPr>
        <p:spPr>
          <a:xfrm>
            <a:off x="548640" y="4928616"/>
            <a:ext cx="11094415" cy="384048"/>
          </a:xfrm>
          <a:prstGeom prst="roundRect">
            <a:avLst>
              <a:gd name="adj" fmla="val 16667"/>
            </a:avLst>
          </a:prstGeom>
          <a:solidFill>
            <a:schemeClr val="tx2"/>
          </a:solidFill>
          <a:ln/>
        </p:spPr>
      </p:sp>
      <p:sp>
        <p:nvSpPr>
          <p:cNvPr id="23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Your background map</a:t>
            </a:r>
            <a:endParaRPr lang="en-US" sz="1400" dirty="0"/>
          </a:p>
        </p:txBody>
      </p:sp>
      <p:sp>
        <p:nvSpPr>
          <p:cNvPr id="23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3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fully opaque – faded towards white with a colour filter, at most 50 %</a:t>
            </a:r>
            <a:endParaRPr lang="en-US" sz="1300" dirty="0"/>
          </a:p>
        </p:txBody>
      </p:sp>
      <p:sp>
        <p:nvSpPr>
          <p:cNvPr id="23037" name="Lag geocaching.com-kartet"/>
          <p:cNvSpPr/>
          <p:nvPr/>
        </p:nvSpPr>
        <p:spPr>
          <a:xfrm>
            <a:off x="548640" y="5358384"/>
            <a:ext cx="11094415" cy="384048"/>
          </a:xfrm>
          <a:prstGeom prst="roundRect">
            <a:avLst>
              <a:gd name="adj" fmla="val 16667"/>
            </a:avLst>
          </a:prstGeom>
          <a:solidFill>
            <a:schemeClr val="accent5"/>
          </a:solidFill>
          <a:ln/>
        </p:spPr>
      </p:sp>
      <p:sp>
        <p:nvSpPr>
          <p:cNvPr id="23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The geocaching.com map</a:t>
            </a:r>
            <a:endParaRPr lang="en-US" sz="1400" dirty="0"/>
          </a:p>
        </p:txBody>
      </p:sp>
      <p:sp>
        <p:nvSpPr>
          <p:cNvPr id="23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3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site's background – covered by your map, faded when it is chosen itself</a:t>
            </a:r>
            <a:endParaRPr lang="en-US" sz="1300" dirty="0"/>
          </a:p>
        </p:txBody>
      </p:sp>
      <p:sp>
        <p:nvSpPr>
          <p:cNvPr id="23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the z-index of the site's background. On /play/map the site's background is a vector map (WebGL). On /map an invisible cache grid (UTFGrid) is loaded as well, used for the 161 m circles and for snapping the right-click popup to caches.</a:t>
            </a:r>
            <a:endParaRPr lang="en-US" sz="1150" dirty="0"/>
          </a:p>
        </p:txBody>
      </p:sp>
      <p:sp>
        <p:nvSpPr>
          <p:cNvPr id="23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the hood</a:t>
            </a:r>
            <a:endParaRPr lang="en-US" sz="3600" dirty="0"/>
          </a:p>
        </p:txBody>
      </p:sp>
      <p:sp>
        <p:nvSpPr>
          <p:cNvPr id="24003" name="Ikon layers sirkel"/>
          <p:cNvSpPr/>
          <p:nvPr/>
        </p:nvSpPr>
        <p:spPr>
          <a:xfrm>
            <a:off x="548640" y="1591056"/>
            <a:ext cx="512064" cy="512064"/>
          </a:xfrm>
          <a:prstGeom prst="ellipse">
            <a:avLst/>
          </a:prstGeom>
          <a:solidFill>
            <a:schemeClr val="accent1"/>
          </a:solidFill>
          <a:ln/>
        </p:spPr>
      </p:sp>
      <p:pic>
        <p:nvPicPr>
          <p:cNvPr id="24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4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Never removes the site's layers</a:t>
            </a:r>
            <a:endParaRPr lang="en-US" sz="1700" dirty="0"/>
          </a:p>
          <a:p>
            <a:pPr indent="0" marL="0">
              <a:spcAft>
                <a:spcPts val="200"/>
              </a:spcAft>
              <a:buNone/>
            </a:pPr>
            <a:r>
              <a:rPr lang="en-US" sz="1400" dirty="0">
                <a:solidFill>
                  <a:schemeClr val="accent4"/>
                </a:solidFill>
              </a:rPr>
              <a:t>The script slots its own layers in between, sorted by z-index</a:t>
            </a:r>
            <a:endParaRPr lang="en-US" sz="1700" dirty="0"/>
          </a:p>
        </p:txBody>
      </p:sp>
      <p:sp>
        <p:nvSpPr>
          <p:cNvPr id="24006" name="Ikon eraser sirkel"/>
          <p:cNvSpPr/>
          <p:nvPr/>
        </p:nvSpPr>
        <p:spPr>
          <a:xfrm>
            <a:off x="548640" y="2916936"/>
            <a:ext cx="512064" cy="512064"/>
          </a:xfrm>
          <a:prstGeom prst="ellipse">
            <a:avLst/>
          </a:prstGeom>
          <a:solidFill>
            <a:schemeClr val="accent1"/>
          </a:solidFill>
          <a:ln/>
        </p:spPr>
      </p:sp>
      <p:pic>
        <p:nvPicPr>
          <p:cNvPr id="24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4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No seams between the tiles</a:t>
            </a:r>
            <a:endParaRPr lang="en-US" sz="1700" dirty="0"/>
          </a:p>
          <a:p>
            <a:pPr indent="0" marL="0">
              <a:spcAft>
                <a:spcPts val="200"/>
              </a:spcAft>
              <a:buNone/>
            </a:pPr>
            <a:r>
              <a:rPr lang="en-US" sz="1400" dirty="0">
                <a:solidFill>
                  <a:schemeClr val="accent4"/>
                </a:solidFill>
              </a:rPr>
              <a:t>Tiles are drawn 1 pixel larger, also at 110 and 125 % display scaling</a:t>
            </a:r>
            <a:endParaRPr lang="en-US" sz="1700" dirty="0"/>
          </a:p>
        </p:txBody>
      </p:sp>
      <p:sp>
        <p:nvSpPr>
          <p:cNvPr id="24009" name="Ikon ring sirkel"/>
          <p:cNvSpPr/>
          <p:nvPr/>
        </p:nvSpPr>
        <p:spPr>
          <a:xfrm>
            <a:off x="548640" y="4242816"/>
            <a:ext cx="512064" cy="512064"/>
          </a:xfrm>
          <a:prstGeom prst="ellipse">
            <a:avLst/>
          </a:prstGeom>
          <a:solidFill>
            <a:schemeClr val="accent1"/>
          </a:solidFill>
          <a:ln/>
        </p:spPr>
      </p:sp>
      <p:pic>
        <p:nvPicPr>
          <p:cNvPr id="24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4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Fading without show-through</a:t>
            </a:r>
            <a:endParaRPr lang="en-US" sz="1700" dirty="0"/>
          </a:p>
          <a:p>
            <a:pPr indent="0" marL="0">
              <a:spcAft>
                <a:spcPts val="200"/>
              </a:spcAft>
              <a:buNone/>
            </a:pPr>
            <a:r>
              <a:rPr lang="en-US" sz="1400" dirty="0">
                <a:solidFill>
                  <a:schemeClr val="accent4"/>
                </a:solidFill>
              </a:rPr>
              <a:t>A colour filter bleaches the map towards white – the site's map never shows through</a:t>
            </a:r>
            <a:endParaRPr lang="en-US" sz="1700" dirty="0"/>
          </a:p>
        </p:txBody>
      </p:sp>
      <p:sp>
        <p:nvSpPr>
          <p:cNvPr id="24012" name="Ikon locate sirkel"/>
          <p:cNvSpPr/>
          <p:nvPr/>
        </p:nvSpPr>
        <p:spPr>
          <a:xfrm>
            <a:off x="6355080" y="1591056"/>
            <a:ext cx="512064" cy="512064"/>
          </a:xfrm>
          <a:prstGeom prst="ellipse">
            <a:avLst/>
          </a:prstGeom>
          <a:solidFill>
            <a:schemeClr val="accent1"/>
          </a:solidFill>
          <a:ln/>
        </p:spPr>
      </p:sp>
      <p:pic>
        <p:nvPicPr>
          <p:cNvPr id="24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4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Finds the map by itself</a:t>
            </a:r>
            <a:endParaRPr lang="en-US" sz="1700" dirty="0"/>
          </a:p>
          <a:p>
            <a:pPr indent="0" marL="0">
              <a:spcAft>
                <a:spcPts val="200"/>
              </a:spcAft>
              <a:buNone/>
            </a:pPr>
            <a:r>
              <a:rPr lang="en-US" sz="1400" dirty="0">
                <a:solidFill>
                  <a:schemeClr val="accent4"/>
                </a:solidFill>
              </a:rPr>
              <a:t>Catches Leaflet as the page loads, also on /play/map and the cache pages</a:t>
            </a:r>
            <a:endParaRPr lang="en-US" sz="1700" dirty="0"/>
          </a:p>
        </p:txBody>
      </p:sp>
      <p:sp>
        <p:nvSpPr>
          <p:cNvPr id="24015" name="Ikon check sirkel"/>
          <p:cNvSpPr/>
          <p:nvPr/>
        </p:nvSpPr>
        <p:spPr>
          <a:xfrm>
            <a:off x="6355080" y="2916936"/>
            <a:ext cx="512064" cy="512064"/>
          </a:xfrm>
          <a:prstGeom prst="ellipse">
            <a:avLst/>
          </a:prstGeom>
          <a:solidFill>
            <a:schemeClr val="accent1"/>
          </a:solidFill>
          <a:ln/>
        </p:spPr>
      </p:sp>
      <p:pic>
        <p:nvPicPr>
          <p:cNvPr id="24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4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Leaves the form alone</a:t>
            </a:r>
            <a:endParaRPr lang="en-US" sz="1700" dirty="0"/>
          </a:p>
          <a:p>
            <a:pPr indent="0" marL="0">
              <a:spcAft>
                <a:spcPts val="200"/>
              </a:spcAft>
              <a:buNone/>
            </a:pPr>
            <a:r>
              <a:rPr lang="en-US" sz="1400" dirty="0">
                <a:solidFill>
                  <a:schemeClr val="accent4"/>
                </a:solidFill>
              </a:rPr>
              <a:t>No button can submit the page's ASP.NET form, so the page never reloads</a:t>
            </a:r>
            <a:endParaRPr lang="en-US" sz="1700" dirty="0"/>
          </a:p>
        </p:txBody>
      </p:sp>
      <p:sp>
        <p:nvSpPr>
          <p:cNvPr id="24018" name="Ikon search sirkel"/>
          <p:cNvSpPr/>
          <p:nvPr/>
        </p:nvSpPr>
        <p:spPr>
          <a:xfrm>
            <a:off x="6355080" y="4242816"/>
            <a:ext cx="512064" cy="512064"/>
          </a:xfrm>
          <a:prstGeom prst="ellipse">
            <a:avLst/>
          </a:prstGeom>
          <a:solidFill>
            <a:schemeClr val="accent1"/>
          </a:solidFill>
          <a:ln/>
        </p:spPr>
      </p:sp>
      <p:pic>
        <p:nvPicPr>
          <p:cNvPr id="24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4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Built-in troubleshooting</a:t>
            </a:r>
            <a:endParaRPr lang="en-US" sz="1700" dirty="0"/>
          </a:p>
          <a:p>
            <a:pPr indent="0" marL="0">
              <a:spcAft>
                <a:spcPts val="200"/>
              </a:spcAft>
              <a:buNone/>
            </a:pPr>
            <a:r>
              <a:rPr lang="en-US" sz="1400" dirty="0">
                <a:solidFill>
                  <a:schemeClr val="accent4"/>
                </a:solidFill>
              </a:rPr>
              <a:t>gcctReport(), gcctCacheDebug(), gcctStageTest() and gcctSnapTest() in the console give short reports without personal data</a:t>
            </a:r>
            <a:endParaRPr lang="en-US" sz="1700" dirty="0"/>
          </a:p>
        </p:txBody>
      </p:sp>
      <p:sp>
        <p:nvSpPr>
          <p:cNvPr id="24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Get started in three minutes</a:t>
            </a:r>
            <a:endParaRPr lang="en-US" sz="3600" dirty="0"/>
          </a:p>
        </p:txBody>
      </p:sp>
      <p:sp>
        <p:nvSpPr>
          <p:cNvPr id="25003" name="Steg 1"/>
          <p:cNvSpPr/>
          <p:nvPr/>
        </p:nvSpPr>
        <p:spPr>
          <a:xfrm>
            <a:off x="548640" y="1463040"/>
            <a:ext cx="731520" cy="731520"/>
          </a:xfrm>
          <a:prstGeom prst="ellipse">
            <a:avLst/>
          </a:prstGeom>
          <a:solidFill>
            <a:schemeClr val="accent1"/>
          </a:solidFill>
          <a:ln/>
        </p:spPr>
      </p:sp>
      <p:sp>
        <p:nvSpPr>
          <p:cNvPr id="25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5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 a userscript manager</a:t>
            </a:r>
            <a:endParaRPr lang="en-US" sz="1900" dirty="0"/>
          </a:p>
          <a:p>
            <a:pPr indent="0" marL="0">
              <a:spcAft>
                <a:spcPts val="400"/>
              </a:spcAft>
              <a:buNone/>
            </a:pPr>
            <a:r>
              <a:rPr lang="en-US" sz="1400" dirty="0">
                <a:solidFill>
                  <a:schemeClr val="accent4"/>
                </a:solidFill>
              </a:rPr>
              <a:t>Tampermonkey or Violentmonkey in Chrome, Edge, Firefox or Safari</a:t>
            </a:r>
            <a:endParaRPr lang="en-US" sz="1900" dirty="0"/>
          </a:p>
        </p:txBody>
      </p:sp>
      <p:sp>
        <p:nvSpPr>
          <p:cNvPr id="25006" name="Steg 2"/>
          <p:cNvSpPr/>
          <p:nvPr/>
        </p:nvSpPr>
        <p:spPr>
          <a:xfrm>
            <a:off x="4353458" y="1463040"/>
            <a:ext cx="731520" cy="731520"/>
          </a:xfrm>
          <a:prstGeom prst="ellipse">
            <a:avLst/>
          </a:prstGeom>
          <a:solidFill>
            <a:schemeClr val="accent1"/>
          </a:solidFill>
          <a:ln/>
        </p:spPr>
      </p:sp>
      <p:sp>
        <p:nvSpPr>
          <p:cNvPr id="25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5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Add the script</a:t>
            </a:r>
            <a:endParaRPr lang="en-US" sz="1900" dirty="0"/>
          </a:p>
          <a:p>
            <a:pPr indent="0" marL="0">
              <a:spcAft>
                <a:spcPts val="400"/>
              </a:spcAft>
              <a:buNone/>
            </a:pPr>
            <a:r>
              <a:rPr lang="en-US" sz="1400" dirty="0">
                <a:solidFill>
                  <a:schemeClr val="accent4"/>
                </a:solidFill>
              </a:rPr>
              <a:t>Open geocaching-custom-tiles.user.js and save it in the manager</a:t>
            </a:r>
            <a:endParaRPr lang="en-US" sz="1900" dirty="0"/>
          </a:p>
        </p:txBody>
      </p:sp>
      <p:sp>
        <p:nvSpPr>
          <p:cNvPr id="25009" name="Steg 3"/>
          <p:cNvSpPr/>
          <p:nvPr/>
        </p:nvSpPr>
        <p:spPr>
          <a:xfrm>
            <a:off x="8158277" y="1463040"/>
            <a:ext cx="731520" cy="731520"/>
          </a:xfrm>
          <a:prstGeom prst="ellipse">
            <a:avLst/>
          </a:prstGeom>
          <a:solidFill>
            <a:schemeClr val="accent1"/>
          </a:solidFill>
          <a:ln/>
        </p:spPr>
      </p:sp>
      <p:sp>
        <p:nvSpPr>
          <p:cNvPr id="25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5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Open a map</a:t>
            </a:r>
            <a:endParaRPr lang="en-US" sz="1900" dirty="0"/>
          </a:p>
          <a:p>
            <a:pPr indent="0" marL="0">
              <a:spcAft>
                <a:spcPts val="400"/>
              </a:spcAft>
              <a:buNone/>
            </a:pPr>
            <a:r>
              <a:rPr lang="en-US" sz="1400" dirty="0">
                <a:solidFill>
                  <a:schemeClr val="accent4"/>
                </a:solidFill>
              </a:rPr>
              <a:t>geocaching.com/map or /play/map – the toolbar appears on the right</a:t>
            </a:r>
            <a:endParaRPr lang="en-US" sz="1900" dirty="0"/>
          </a:p>
        </p:txBody>
      </p:sp>
      <p:sp>
        <p:nvSpPr>
          <p:cNvPr id="25012" name="Personvern"/>
          <p:cNvSpPr/>
          <p:nvPr/>
        </p:nvSpPr>
        <p:spPr>
          <a:xfrm>
            <a:off x="548640" y="3977640"/>
            <a:ext cx="11094415" cy="1783080"/>
          </a:xfrm>
          <a:prstGeom prst="roundRect">
            <a:avLst>
              <a:gd name="adj" fmla="val 6154"/>
            </a:avLst>
          </a:prstGeom>
          <a:solidFill>
            <a:schemeClr val="bg2"/>
          </a:solidFill>
          <a:ln/>
        </p:spPr>
      </p:sp>
      <p:sp>
        <p:nvSpPr>
          <p:cNvPr id="25013" name="Ikon check sirkel"/>
          <p:cNvSpPr/>
          <p:nvPr/>
        </p:nvSpPr>
        <p:spPr>
          <a:xfrm>
            <a:off x="868680" y="4251960"/>
            <a:ext cx="640080" cy="640080"/>
          </a:xfrm>
          <a:prstGeom prst="ellipse">
            <a:avLst/>
          </a:prstGeom>
          <a:solidFill>
            <a:schemeClr val="accent1"/>
          </a:solidFill>
          <a:ln/>
        </p:spPr>
      </p:sp>
      <p:pic>
        <p:nvPicPr>
          <p:cNvPr id="25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5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Privacy</a:t>
            </a:r>
            <a:endParaRPr lang="en-US" sz="1900" dirty="0"/>
          </a:p>
          <a:p>
            <a:pPr indent="0" marL="0">
              <a:spcAft>
                <a:spcPts val="400"/>
              </a:spcAft>
              <a:buNone/>
            </a:pPr>
            <a:r>
              <a:rPr lang="en-US" sz="1500" dirty="0">
                <a:solidFill>
                  <a:schemeClr val="tx1"/>
                </a:solidFill>
              </a:rPr>
              <a:t>The script collects and sends no personal data and has no server of its own. It only contacts the map servers you switch on, Kartverket and Photon when you search, and geocaching.com's own cache search and cache pages when the 161 m circles are on. Your location is only requested when you ask for it. All settings are stored in the browser.</a:t>
            </a:r>
            <a:endParaRPr lang="en-US" sz="1900" dirty="0"/>
          </a:p>
        </p:txBody>
      </p:sp>
      <p:sp>
        <p:nvSpPr>
          <p:cNvPr id="25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Better maps for</a:t>
            </a:r>
            <a:endParaRPr lang="en-US" sz="4400" dirty="0"/>
          </a:p>
          <a:p>
            <a:pPr algn="l" indent="0" marL="0">
              <a:buNone/>
            </a:pPr>
            <a:r>
              <a:rPr lang="en-US" sz="4400" b="1" dirty="0">
                <a:solidFill>
                  <a:schemeClr val="bg1"/>
                </a:solidFill>
              </a:rPr>
              <a:t>better trips</a:t>
            </a:r>
            <a:endParaRPr lang="en-US" sz="4400" dirty="0"/>
          </a:p>
        </p:txBody>
      </p:sp>
      <p:sp>
        <p:nvSpPr>
          <p:cNvPr id="26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User guides in English and Norwegian are included. Use gcctReport() in the browser console if something doesn't work.</a:t>
            </a:r>
            <a:endParaRPr lang="en-US" sz="1800" dirty="0"/>
          </a:p>
        </p:txBody>
      </p:sp>
      <p:pic>
        <p:nvPicPr>
          <p:cNvPr id="26004" name="Høyreklikkboblen" descr="The right-click popup">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6005" name="Bekreftelsesdialog" descr="Confirmation 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2026-10-28T11:45:19Z</dcterms:created>
  <dcterms:modified xsi:type="dcterms:W3CDTF">2026-10-28T11:45:19Z</dcterms:modified>
</cp:coreProperties>
</file>